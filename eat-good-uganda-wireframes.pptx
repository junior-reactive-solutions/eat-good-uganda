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image" Target="../media/image-3-12.png"/><Relationship Id="rId13" Type="http://schemas.openxmlformats.org/officeDocument/2006/relationships/image" Target="../media/image-3-13.png"/><Relationship Id="rId14" Type="http://schemas.openxmlformats.org/officeDocument/2006/relationships/image" Target="../media/image-3-14.png"/><Relationship Id="rId15" Type="http://schemas.openxmlformats.org/officeDocument/2006/relationships/image" Target="../media/image-3-15.png"/><Relationship Id="rId16" Type="http://schemas.openxmlformats.org/officeDocument/2006/relationships/image" Target="../media/image-3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image" Target="../media/image-4-12.png"/><Relationship Id="rId13" Type="http://schemas.openxmlformats.org/officeDocument/2006/relationships/image" Target="../media/image-4-13.png"/><Relationship Id="rId14" Type="http://schemas.openxmlformats.org/officeDocument/2006/relationships/image" Target="../media/image-4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46085" y="2943225"/>
            <a:ext cx="4395829" cy="254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 GOOD UGANDA · WIREFRAMES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432573" y="3463925"/>
            <a:ext cx="7422855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good </a:t>
            </a:r>
            <a:pPr algn="ctr" indent="0" marL="0">
              <a:lnSpc>
                <a:spcPct val="90000"/>
              </a:lnSpc>
              <a:buNone/>
            </a:pPr>
            <a:r>
              <a:rPr lang="en-US" sz="15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4131320" y="5407025"/>
            <a:ext cx="10025360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0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bakery commerce — discovery, ordering, ops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661025" y="6607175"/>
            <a:ext cx="101223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699125" y="7064375"/>
            <a:ext cx="1012229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168555" y="6607175"/>
            <a:ext cx="174198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206655" y="7064375"/>
            <a:ext cx="174198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directions each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405839" y="6607175"/>
            <a:ext cx="128716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9443939" y="7064375"/>
            <a:ext cx="1287164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wireframes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1188303" y="6607175"/>
            <a:ext cx="14386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36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v0.1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226403" y="7064375"/>
            <a:ext cx="1438673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9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low-fi sketch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01872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4018728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surfaces, three directions per surface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6011227" y="850900"/>
            <a:ext cx="15909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MAY 2026 · v0.1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62000" y="2108200"/>
            <a:ext cx="3108920" cy="36195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9650" y="2393950"/>
            <a:ext cx="269202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1009650" y="3270250"/>
            <a:ext cx="2692029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landing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9650" y="3658791"/>
            <a:ext cx="2692029" cy="236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discovery, geolocation sort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009650" y="4749800"/>
            <a:ext cx="261362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1" name="Text 9"/>
          <p:cNvSpPr/>
          <p:nvPr/>
        </p:nvSpPr>
        <p:spPr>
          <a:xfrm>
            <a:off x="1009650" y="48704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list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009650" y="508000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Map-led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009650" y="52895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Neighborhood + hero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175720" y="2108200"/>
            <a:ext cx="3108920" cy="36195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23370" y="2393950"/>
            <a:ext cx="269202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16" name="Text 14"/>
          <p:cNvSpPr/>
          <p:nvPr/>
        </p:nvSpPr>
        <p:spPr>
          <a:xfrm>
            <a:off x="4423370" y="3270250"/>
            <a:ext cx="2692029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detail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423370" y="3658791"/>
            <a:ext cx="2692029" cy="236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Menu, variants, ratings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423370" y="4749800"/>
            <a:ext cx="261362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9" name="Text 17"/>
          <p:cNvSpPr/>
          <p:nvPr/>
        </p:nvSpPr>
        <p:spPr>
          <a:xfrm>
            <a:off x="4423370" y="48704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Hero + sticky tabs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23370" y="508000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 grid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423370" y="52895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 + rail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7589441" y="2108200"/>
            <a:ext cx="3109020" cy="36195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37091" y="2393950"/>
            <a:ext cx="269213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7837091" y="3270250"/>
            <a:ext cx="2692131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837091" y="3658791"/>
            <a:ext cx="2692131" cy="236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Cart, payment, confirmation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837091" y="4749800"/>
            <a:ext cx="261372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7" name="Text 25"/>
          <p:cNvSpPr/>
          <p:nvPr/>
        </p:nvSpPr>
        <p:spPr>
          <a:xfrm>
            <a:off x="7837091" y="487045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Single-page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837091" y="508000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Stepped flow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37091" y="528955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Confirmation / track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11003261" y="2108200"/>
            <a:ext cx="3108920" cy="36195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250911" y="2393950"/>
            <a:ext cx="2692029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6000" dirty="0"/>
          </a:p>
        </p:txBody>
      </p:sp>
      <p:sp>
        <p:nvSpPr>
          <p:cNvPr id="32" name="Text 30"/>
          <p:cNvSpPr/>
          <p:nvPr/>
        </p:nvSpPr>
        <p:spPr>
          <a:xfrm>
            <a:off x="11250911" y="3270250"/>
            <a:ext cx="2692029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1250911" y="3658791"/>
            <a:ext cx="2692029" cy="236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Orders, sales, kitchen ops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1250911" y="4749800"/>
            <a:ext cx="261362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5" name="Text 33"/>
          <p:cNvSpPr/>
          <p:nvPr/>
        </p:nvSpPr>
        <p:spPr>
          <a:xfrm>
            <a:off x="11250911" y="48704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11250911" y="508000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Analytics-led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11250911" y="5289550"/>
            <a:ext cx="269202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kanban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14416980" y="2108200"/>
            <a:ext cx="3109020" cy="3619500"/>
          </a:xfrm>
          <a:prstGeom prst="roundRect">
            <a:avLst>
              <a:gd name="adj" fmla="val 3064"/>
            </a:avLst>
          </a:prstGeom>
          <a:solidFill>
            <a:srgbClr val="FFFFFF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64630" y="2393950"/>
            <a:ext cx="2692131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60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6000" dirty="0"/>
          </a:p>
        </p:txBody>
      </p:sp>
      <p:sp>
        <p:nvSpPr>
          <p:cNvPr id="40" name="Text 38"/>
          <p:cNvSpPr/>
          <p:nvPr/>
        </p:nvSpPr>
        <p:spPr>
          <a:xfrm>
            <a:off x="14664630" y="3270250"/>
            <a:ext cx="2692131" cy="3123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4664630" y="3658791"/>
            <a:ext cx="2692131" cy="236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metrics, approvals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14664630" y="4749800"/>
            <a:ext cx="261372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43" name="Text 41"/>
          <p:cNvSpPr/>
          <p:nvPr/>
        </p:nvSpPr>
        <p:spPr>
          <a:xfrm>
            <a:off x="14664630" y="487045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14664630" y="508000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audit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14664630" y="5289550"/>
            <a:ext cx="2692131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</a:t>
            </a:r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Directory + map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388699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landing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3886999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discovery · geolocation-sorted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405398" y="850900"/>
            <a:ext cx="21968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3 DIRECTIONS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73637" y="1841500"/>
            <a:ext cx="2244427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Classic list, distance-sorted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1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909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0" name="Text 8"/>
          <p:cNvSpPr/>
          <p:nvPr/>
        </p:nvSpPr>
        <p:spPr>
          <a:xfrm>
            <a:off x="39052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911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924300" y="2680196"/>
            <a:ext cx="1649413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Hello, Amina 👋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3924300" y="2834978"/>
            <a:ext cx="1267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Kololo, Kampala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153720" y="2852837"/>
            <a:ext cx="41999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25" dirty="0"/>
          </a:p>
        </p:txBody>
      </p:sp>
      <p:sp>
        <p:nvSpPr>
          <p:cNvPr id="15" name="Shape 13"/>
          <p:cNvSpPr/>
          <p:nvPr/>
        </p:nvSpPr>
        <p:spPr>
          <a:xfrm>
            <a:off x="6375400" y="2675831"/>
            <a:ext cx="330200" cy="3302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50000" y="2688531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960" dirty="0"/>
          </a:p>
        </p:txBody>
      </p:sp>
      <p:sp>
        <p:nvSpPr>
          <p:cNvPr id="17" name="Shape 15"/>
          <p:cNvSpPr/>
          <p:nvPr/>
        </p:nvSpPr>
        <p:spPr>
          <a:xfrm>
            <a:off x="3924300" y="3082230"/>
            <a:ext cx="2781300" cy="342900"/>
          </a:xfrm>
          <a:prstGeom prst="roundRect">
            <a:avLst>
              <a:gd name="adj" fmla="val 16667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032250" y="3170337"/>
            <a:ext cx="25935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72558" y="3176290"/>
            <a:ext cx="187265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bread, cakes, bakeries…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3924300" y="3558480"/>
            <a:ext cx="340816" cy="196850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25900" y="3583881"/>
            <a:ext cx="21381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4322266" y="3558480"/>
            <a:ext cx="533698" cy="1968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23867" y="3583881"/>
            <a:ext cx="4066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975" dirty="0"/>
          </a:p>
        </p:txBody>
      </p:sp>
      <p:sp>
        <p:nvSpPr>
          <p:cNvPr id="24" name="Shape 22"/>
          <p:cNvSpPr/>
          <p:nvPr/>
        </p:nvSpPr>
        <p:spPr>
          <a:xfrm>
            <a:off x="4913114" y="3558480"/>
            <a:ext cx="554236" cy="1968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14714" y="3583881"/>
            <a:ext cx="42723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Cakes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5524500" y="3558480"/>
            <a:ext cx="554137" cy="1968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26100" y="3583881"/>
            <a:ext cx="4271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135787" y="3558480"/>
            <a:ext cx="609302" cy="1968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37387" y="3583881"/>
            <a:ext cx="482302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</a:t>
            </a:r>
            <a:endParaRPr lang="en-US" sz="975" dirty="0"/>
          </a:p>
        </p:txBody>
      </p:sp>
      <p:sp>
        <p:nvSpPr>
          <p:cNvPr id="30" name="Text 28"/>
          <p:cNvSpPr/>
          <p:nvPr/>
        </p:nvSpPr>
        <p:spPr>
          <a:xfrm>
            <a:off x="3924300" y="3907731"/>
            <a:ext cx="1304627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Bakeries near you</a:t>
            </a:r>
            <a:endParaRPr lang="en-US" sz="1200" dirty="0"/>
          </a:p>
        </p:txBody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24300" y="4079181"/>
            <a:ext cx="1228427" cy="57150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6133604" y="3931543"/>
            <a:ext cx="64819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Distance ▾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3924300" y="4155381"/>
            <a:ext cx="2781300" cy="755650"/>
          </a:xfrm>
          <a:prstGeom prst="roundRect">
            <a:avLst>
              <a:gd name="adj" fmla="val 10084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06850" y="4237931"/>
            <a:ext cx="590550" cy="590550"/>
          </a:xfrm>
          <a:prstGeom prst="roundRect">
            <a:avLst>
              <a:gd name="adj" fmla="val 6452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3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550" y="4250631"/>
            <a:ext cx="565150" cy="565150"/>
          </a:xfrm>
          <a:prstGeom prst="rect">
            <a:avLst/>
          </a:prstGeom>
        </p:spPr>
      </p:pic>
      <p:sp>
        <p:nvSpPr>
          <p:cNvPr id="36" name="Shape 32"/>
          <p:cNvSpPr/>
          <p:nvPr/>
        </p:nvSpPr>
        <p:spPr>
          <a:xfrm>
            <a:off x="4121051" y="4460181"/>
            <a:ext cx="362049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37" name="Text 33"/>
          <p:cNvSpPr/>
          <p:nvPr/>
        </p:nvSpPr>
        <p:spPr>
          <a:xfrm>
            <a:off x="4140101" y="4479231"/>
            <a:ext cx="323949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38" name="Text 34"/>
          <p:cNvSpPr/>
          <p:nvPr/>
        </p:nvSpPr>
        <p:spPr>
          <a:xfrm>
            <a:off x="4692650" y="4237931"/>
            <a:ext cx="20066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 Bakery</a:t>
            </a:r>
            <a:endParaRPr lang="en-US" sz="1050" dirty="0"/>
          </a:p>
        </p:txBody>
      </p:sp>
      <p:sp>
        <p:nvSpPr>
          <p:cNvPr id="39" name="Text 35"/>
          <p:cNvSpPr/>
          <p:nvPr/>
        </p:nvSpPr>
        <p:spPr>
          <a:xfrm>
            <a:off x="4692650" y="44256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40" name="Text 36"/>
          <p:cNvSpPr/>
          <p:nvPr/>
        </p:nvSpPr>
        <p:spPr>
          <a:xfrm>
            <a:off x="4791075" y="44256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41" name="Text 37"/>
          <p:cNvSpPr/>
          <p:nvPr/>
        </p:nvSpPr>
        <p:spPr>
          <a:xfrm>
            <a:off x="4889500" y="44256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42" name="Text 38"/>
          <p:cNvSpPr/>
          <p:nvPr/>
        </p:nvSpPr>
        <p:spPr>
          <a:xfrm>
            <a:off x="4987925" y="44256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43" name="Text 39"/>
          <p:cNvSpPr/>
          <p:nvPr/>
        </p:nvSpPr>
        <p:spPr>
          <a:xfrm>
            <a:off x="5086350" y="44256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44" name="Text 40"/>
          <p:cNvSpPr/>
          <p:nvPr/>
        </p:nvSpPr>
        <p:spPr>
          <a:xfrm>
            <a:off x="5222875" y="4423668"/>
            <a:ext cx="2218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25" dirty="0"/>
          </a:p>
        </p:txBody>
      </p:sp>
      <p:sp>
        <p:nvSpPr>
          <p:cNvPr id="45" name="Text 41"/>
          <p:cNvSpPr/>
          <p:nvPr/>
        </p:nvSpPr>
        <p:spPr>
          <a:xfrm>
            <a:off x="4692650" y="46975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📍0.8 km</a:t>
            </a:r>
            <a:endParaRPr lang="en-US" sz="825" dirty="0"/>
          </a:p>
        </p:txBody>
      </p:sp>
      <p:sp>
        <p:nvSpPr>
          <p:cNvPr id="46" name="Text 42"/>
          <p:cNvSpPr/>
          <p:nvPr/>
        </p:nvSpPr>
        <p:spPr>
          <a:xfrm>
            <a:off x="5256411" y="46975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🛵20 min</a:t>
            </a:r>
            <a:endParaRPr lang="en-US" sz="825" dirty="0"/>
          </a:p>
        </p:txBody>
      </p:sp>
      <p:sp>
        <p:nvSpPr>
          <p:cNvPr id="47" name="Shape 43"/>
          <p:cNvSpPr/>
          <p:nvPr/>
        </p:nvSpPr>
        <p:spPr>
          <a:xfrm>
            <a:off x="3924300" y="5006280"/>
            <a:ext cx="2781300" cy="755650"/>
          </a:xfrm>
          <a:prstGeom prst="roundRect">
            <a:avLst>
              <a:gd name="adj" fmla="val 10084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006850" y="5088831"/>
            <a:ext cx="590550" cy="590550"/>
          </a:xfrm>
          <a:prstGeom prst="roundRect">
            <a:avLst>
              <a:gd name="adj" fmla="val 6452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9550" y="5101530"/>
            <a:ext cx="565150" cy="565150"/>
          </a:xfrm>
          <a:prstGeom prst="rect">
            <a:avLst/>
          </a:prstGeom>
        </p:spPr>
      </p:pic>
      <p:sp>
        <p:nvSpPr>
          <p:cNvPr id="50" name="Shape 45"/>
          <p:cNvSpPr/>
          <p:nvPr/>
        </p:nvSpPr>
        <p:spPr>
          <a:xfrm>
            <a:off x="4121051" y="5311080"/>
            <a:ext cx="362049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51" name="Text 46"/>
          <p:cNvSpPr/>
          <p:nvPr/>
        </p:nvSpPr>
        <p:spPr>
          <a:xfrm>
            <a:off x="4140101" y="5330130"/>
            <a:ext cx="323949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52" name="Text 47"/>
          <p:cNvSpPr/>
          <p:nvPr/>
        </p:nvSpPr>
        <p:spPr>
          <a:xfrm>
            <a:off x="4692650" y="5088831"/>
            <a:ext cx="20066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Kololo Hot Loaf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4692650" y="5276552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54" name="Text 49"/>
          <p:cNvSpPr/>
          <p:nvPr/>
        </p:nvSpPr>
        <p:spPr>
          <a:xfrm>
            <a:off x="4791075" y="5276552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55" name="Text 50"/>
          <p:cNvSpPr/>
          <p:nvPr/>
        </p:nvSpPr>
        <p:spPr>
          <a:xfrm>
            <a:off x="4889500" y="5276552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56" name="Text 51"/>
          <p:cNvSpPr/>
          <p:nvPr/>
        </p:nvSpPr>
        <p:spPr>
          <a:xfrm>
            <a:off x="4987925" y="5276552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57" name="Text 52"/>
          <p:cNvSpPr/>
          <p:nvPr/>
        </p:nvSpPr>
        <p:spPr>
          <a:xfrm>
            <a:off x="5086350" y="5276552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58" name="Text 53"/>
          <p:cNvSpPr/>
          <p:nvPr/>
        </p:nvSpPr>
        <p:spPr>
          <a:xfrm>
            <a:off x="5222875" y="5274568"/>
            <a:ext cx="2218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825" dirty="0"/>
          </a:p>
        </p:txBody>
      </p:sp>
      <p:sp>
        <p:nvSpPr>
          <p:cNvPr id="59" name="Text 54"/>
          <p:cNvSpPr/>
          <p:nvPr/>
        </p:nvSpPr>
        <p:spPr>
          <a:xfrm>
            <a:off x="4692650" y="55484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📍1.4 km</a:t>
            </a:r>
            <a:endParaRPr lang="en-US" sz="825" dirty="0"/>
          </a:p>
        </p:txBody>
      </p:sp>
      <p:sp>
        <p:nvSpPr>
          <p:cNvPr id="60" name="Text 55"/>
          <p:cNvSpPr/>
          <p:nvPr/>
        </p:nvSpPr>
        <p:spPr>
          <a:xfrm>
            <a:off x="5256411" y="55484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🛵30 min</a:t>
            </a:r>
            <a:endParaRPr lang="en-US" sz="825" dirty="0"/>
          </a:p>
        </p:txBody>
      </p:sp>
      <p:sp>
        <p:nvSpPr>
          <p:cNvPr id="61" name="Shape 56"/>
          <p:cNvSpPr/>
          <p:nvPr/>
        </p:nvSpPr>
        <p:spPr>
          <a:xfrm>
            <a:off x="3924300" y="5857181"/>
            <a:ext cx="2781300" cy="755650"/>
          </a:xfrm>
          <a:prstGeom prst="roundRect">
            <a:avLst>
              <a:gd name="adj" fmla="val 10084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4006850" y="5939730"/>
            <a:ext cx="590550" cy="590550"/>
          </a:xfrm>
          <a:prstGeom prst="roundRect">
            <a:avLst>
              <a:gd name="adj" fmla="val 6452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9550" y="5952431"/>
            <a:ext cx="565150" cy="565150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4121051" y="6161981"/>
            <a:ext cx="362049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65" name="Text 59"/>
          <p:cNvSpPr/>
          <p:nvPr/>
        </p:nvSpPr>
        <p:spPr>
          <a:xfrm>
            <a:off x="4140101" y="6181031"/>
            <a:ext cx="323949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66" name="Text 60"/>
          <p:cNvSpPr/>
          <p:nvPr/>
        </p:nvSpPr>
        <p:spPr>
          <a:xfrm>
            <a:off x="4692650" y="5939730"/>
            <a:ext cx="20066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Joy's Cakes</a:t>
            </a:r>
            <a:endParaRPr lang="en-US" sz="1050" dirty="0"/>
          </a:p>
        </p:txBody>
      </p:sp>
      <p:sp>
        <p:nvSpPr>
          <p:cNvPr id="67" name="Text 61"/>
          <p:cNvSpPr/>
          <p:nvPr/>
        </p:nvSpPr>
        <p:spPr>
          <a:xfrm>
            <a:off x="4692650" y="61274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68" name="Text 62"/>
          <p:cNvSpPr/>
          <p:nvPr/>
        </p:nvSpPr>
        <p:spPr>
          <a:xfrm>
            <a:off x="4791075" y="61274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69" name="Text 63"/>
          <p:cNvSpPr/>
          <p:nvPr/>
        </p:nvSpPr>
        <p:spPr>
          <a:xfrm>
            <a:off x="4889500" y="61274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70" name="Text 64"/>
          <p:cNvSpPr/>
          <p:nvPr/>
        </p:nvSpPr>
        <p:spPr>
          <a:xfrm>
            <a:off x="4987925" y="61274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71" name="Text 65"/>
          <p:cNvSpPr/>
          <p:nvPr/>
        </p:nvSpPr>
        <p:spPr>
          <a:xfrm>
            <a:off x="5086350" y="61274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72" name="Text 66"/>
          <p:cNvSpPr/>
          <p:nvPr/>
        </p:nvSpPr>
        <p:spPr>
          <a:xfrm>
            <a:off x="5222875" y="6125468"/>
            <a:ext cx="2218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825" dirty="0"/>
          </a:p>
        </p:txBody>
      </p:sp>
      <p:sp>
        <p:nvSpPr>
          <p:cNvPr id="73" name="Text 67"/>
          <p:cNvSpPr/>
          <p:nvPr/>
        </p:nvSpPr>
        <p:spPr>
          <a:xfrm>
            <a:off x="4692650" y="63993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📍2.1 km</a:t>
            </a:r>
            <a:endParaRPr lang="en-US" sz="825" dirty="0"/>
          </a:p>
        </p:txBody>
      </p:sp>
      <p:sp>
        <p:nvSpPr>
          <p:cNvPr id="74" name="Text 68"/>
          <p:cNvSpPr/>
          <p:nvPr/>
        </p:nvSpPr>
        <p:spPr>
          <a:xfrm>
            <a:off x="5256411" y="63993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🛵45 min</a:t>
            </a:r>
            <a:endParaRPr lang="en-US" sz="825" dirty="0"/>
          </a:p>
        </p:txBody>
      </p:sp>
      <p:sp>
        <p:nvSpPr>
          <p:cNvPr id="75" name="Shape 69"/>
          <p:cNvSpPr/>
          <p:nvPr/>
        </p:nvSpPr>
        <p:spPr>
          <a:xfrm>
            <a:off x="3924300" y="6708081"/>
            <a:ext cx="2781300" cy="755650"/>
          </a:xfrm>
          <a:prstGeom prst="roundRect">
            <a:avLst>
              <a:gd name="adj" fmla="val 10084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4006850" y="6790631"/>
            <a:ext cx="590550" cy="590550"/>
          </a:xfrm>
          <a:prstGeom prst="roundRect">
            <a:avLst>
              <a:gd name="adj" fmla="val 6452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7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9550" y="6803331"/>
            <a:ext cx="565150" cy="565150"/>
          </a:xfrm>
          <a:prstGeom prst="rect">
            <a:avLst/>
          </a:prstGeom>
        </p:spPr>
      </p:pic>
      <p:sp>
        <p:nvSpPr>
          <p:cNvPr id="78" name="Shape 71"/>
          <p:cNvSpPr/>
          <p:nvPr/>
        </p:nvSpPr>
        <p:spPr>
          <a:xfrm>
            <a:off x="4121051" y="7012881"/>
            <a:ext cx="362049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79" name="Text 72"/>
          <p:cNvSpPr/>
          <p:nvPr/>
        </p:nvSpPr>
        <p:spPr>
          <a:xfrm>
            <a:off x="4140101" y="7031931"/>
            <a:ext cx="323949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LOGO</a:t>
            </a:r>
            <a:endParaRPr lang="en-US" sz="750" dirty="0"/>
          </a:p>
        </p:txBody>
      </p:sp>
      <p:sp>
        <p:nvSpPr>
          <p:cNvPr id="80" name="Text 73"/>
          <p:cNvSpPr/>
          <p:nvPr/>
        </p:nvSpPr>
        <p:spPr>
          <a:xfrm>
            <a:off x="4692650" y="6790631"/>
            <a:ext cx="20066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Nakawa Breadworks</a:t>
            </a:r>
            <a:endParaRPr lang="en-US" sz="1050" dirty="0"/>
          </a:p>
        </p:txBody>
      </p:sp>
      <p:sp>
        <p:nvSpPr>
          <p:cNvPr id="81" name="Text 74"/>
          <p:cNvSpPr/>
          <p:nvPr/>
        </p:nvSpPr>
        <p:spPr>
          <a:xfrm>
            <a:off x="4692650" y="69783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82" name="Text 75"/>
          <p:cNvSpPr/>
          <p:nvPr/>
        </p:nvSpPr>
        <p:spPr>
          <a:xfrm>
            <a:off x="4791075" y="69783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83" name="Text 76"/>
          <p:cNvSpPr/>
          <p:nvPr/>
        </p:nvSpPr>
        <p:spPr>
          <a:xfrm>
            <a:off x="4889500" y="69783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84" name="Text 77"/>
          <p:cNvSpPr/>
          <p:nvPr/>
        </p:nvSpPr>
        <p:spPr>
          <a:xfrm>
            <a:off x="4987925" y="69783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85" name="Text 78"/>
          <p:cNvSpPr/>
          <p:nvPr/>
        </p:nvSpPr>
        <p:spPr>
          <a:xfrm>
            <a:off x="5086350" y="6978353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86" name="Text 79"/>
          <p:cNvSpPr/>
          <p:nvPr/>
        </p:nvSpPr>
        <p:spPr>
          <a:xfrm>
            <a:off x="5222875" y="6976368"/>
            <a:ext cx="22185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825" dirty="0"/>
          </a:p>
        </p:txBody>
      </p:sp>
      <p:sp>
        <p:nvSpPr>
          <p:cNvPr id="87" name="Text 80"/>
          <p:cNvSpPr/>
          <p:nvPr/>
        </p:nvSpPr>
        <p:spPr>
          <a:xfrm>
            <a:off x="4692650" y="72502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📍3.0 km</a:t>
            </a:r>
            <a:endParaRPr lang="en-US" sz="825" dirty="0"/>
          </a:p>
        </p:txBody>
      </p:sp>
      <p:sp>
        <p:nvSpPr>
          <p:cNvPr id="88" name="Text 81"/>
          <p:cNvSpPr/>
          <p:nvPr/>
        </p:nvSpPr>
        <p:spPr>
          <a:xfrm>
            <a:off x="5256411" y="7250212"/>
            <a:ext cx="5637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🛵55 min</a:t>
            </a:r>
            <a:endParaRPr lang="en-US" sz="825" dirty="0"/>
          </a:p>
        </p:txBody>
      </p:sp>
      <p:sp>
        <p:nvSpPr>
          <p:cNvPr id="89" name="Text 82"/>
          <p:cNvSpPr/>
          <p:nvPr/>
        </p:nvSpPr>
        <p:spPr>
          <a:xfrm rot="120000">
            <a:off x="6019800" y="3151932"/>
            <a:ext cx="838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 location on first load</a:t>
            </a:r>
            <a:endParaRPr lang="en-US" sz="1200" dirty="0"/>
          </a:p>
        </p:txBody>
      </p:sp>
      <p:sp>
        <p:nvSpPr>
          <p:cNvPr id="90" name="Text 83"/>
          <p:cNvSpPr/>
          <p:nvPr/>
        </p:nvSpPr>
        <p:spPr>
          <a:xfrm rot="-180000">
            <a:off x="3771900" y="4504482"/>
            <a:ext cx="7429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 by: distance / rating / delivery time</a:t>
            </a:r>
            <a:endParaRPr lang="en-US" sz="1200" dirty="0"/>
          </a:p>
        </p:txBody>
      </p:sp>
      <p:sp>
        <p:nvSpPr>
          <p:cNvPr id="91" name="Shape 84"/>
          <p:cNvSpPr/>
          <p:nvPr/>
        </p:nvSpPr>
        <p:spPr>
          <a:xfrm>
            <a:off x="3790950" y="8220968"/>
            <a:ext cx="3048000" cy="284163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92" name="Shape 85"/>
          <p:cNvSpPr/>
          <p:nvPr/>
        </p:nvSpPr>
        <p:spPr>
          <a:xfrm>
            <a:off x="3790950" y="8220968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3" name="Text 86"/>
          <p:cNvSpPr/>
          <p:nvPr/>
        </p:nvSpPr>
        <p:spPr>
          <a:xfrm>
            <a:off x="4007842" y="8309868"/>
            <a:ext cx="487561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🏠 Home</a:t>
            </a:r>
            <a:endParaRPr lang="en-US" sz="750" dirty="0"/>
          </a:p>
        </p:txBody>
      </p:sp>
      <p:sp>
        <p:nvSpPr>
          <p:cNvPr id="94" name="Text 87"/>
          <p:cNvSpPr/>
          <p:nvPr/>
        </p:nvSpPr>
        <p:spPr>
          <a:xfrm>
            <a:off x="4586288" y="8309868"/>
            <a:ext cx="53528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 Search</a:t>
            </a:r>
            <a:endParaRPr lang="en-US" sz="750" dirty="0"/>
          </a:p>
        </p:txBody>
      </p:sp>
      <p:sp>
        <p:nvSpPr>
          <p:cNvPr id="95" name="Text 88"/>
          <p:cNvSpPr/>
          <p:nvPr/>
        </p:nvSpPr>
        <p:spPr>
          <a:xfrm>
            <a:off x="5212556" y="8309868"/>
            <a:ext cx="413445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Cart</a:t>
            </a:r>
            <a:endParaRPr lang="en-US" sz="750" dirty="0"/>
          </a:p>
        </p:txBody>
      </p:sp>
      <p:sp>
        <p:nvSpPr>
          <p:cNvPr id="96" name="Text 89"/>
          <p:cNvSpPr/>
          <p:nvPr/>
        </p:nvSpPr>
        <p:spPr>
          <a:xfrm>
            <a:off x="5716885" y="8309868"/>
            <a:ext cx="52457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 Orders</a:t>
            </a:r>
            <a:endParaRPr lang="en-US" sz="750" dirty="0"/>
          </a:p>
        </p:txBody>
      </p:sp>
      <p:sp>
        <p:nvSpPr>
          <p:cNvPr id="97" name="Text 90"/>
          <p:cNvSpPr/>
          <p:nvPr/>
        </p:nvSpPr>
        <p:spPr>
          <a:xfrm>
            <a:off x="6332438" y="8309868"/>
            <a:ext cx="36582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Me</a:t>
            </a:r>
            <a:endParaRPr lang="en-US" sz="750" dirty="0"/>
          </a:p>
        </p:txBody>
      </p:sp>
      <p:sp>
        <p:nvSpPr>
          <p:cNvPr id="98" name="Text 91"/>
          <p:cNvSpPr/>
          <p:nvPr/>
        </p:nvSpPr>
        <p:spPr>
          <a:xfrm>
            <a:off x="4596408" y="8943281"/>
            <a:ext cx="1475085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Classic list</a:t>
            </a:r>
            <a:endParaRPr lang="en-US" sz="2100" dirty="0"/>
          </a:p>
        </p:txBody>
      </p:sp>
      <p:sp>
        <p:nvSpPr>
          <p:cNvPr id="99" name="Text 92"/>
          <p:cNvSpPr/>
          <p:nvPr/>
        </p:nvSpPr>
        <p:spPr>
          <a:xfrm>
            <a:off x="7860903" y="1841500"/>
            <a:ext cx="2566095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Map-first, list peeks from bottom</a:t>
            </a:r>
            <a:endParaRPr lang="en-US" sz="1200" dirty="0"/>
          </a:p>
        </p:txBody>
      </p:sp>
      <p:sp>
        <p:nvSpPr>
          <p:cNvPr id="100" name="Shape 93"/>
          <p:cNvSpPr/>
          <p:nvPr/>
        </p:nvSpPr>
        <p:spPr>
          <a:xfrm>
            <a:off x="75057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01" name="Shape 94"/>
          <p:cNvSpPr/>
          <p:nvPr/>
        </p:nvSpPr>
        <p:spPr>
          <a:xfrm>
            <a:off x="88582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102" name="Shape 95"/>
          <p:cNvSpPr/>
          <p:nvPr/>
        </p:nvSpPr>
        <p:spPr>
          <a:xfrm>
            <a:off x="76390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03" name="Text 96"/>
          <p:cNvSpPr/>
          <p:nvPr/>
        </p:nvSpPr>
        <p:spPr>
          <a:xfrm>
            <a:off x="77533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04" name="Text 97"/>
          <p:cNvSpPr/>
          <p:nvPr/>
        </p:nvSpPr>
        <p:spPr>
          <a:xfrm>
            <a:off x="100392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05" name="Shape 98"/>
          <p:cNvSpPr/>
          <p:nvPr/>
        </p:nvSpPr>
        <p:spPr>
          <a:xfrm>
            <a:off x="7753350" y="2675831"/>
            <a:ext cx="2819400" cy="2692400"/>
          </a:xfrm>
          <a:prstGeom prst="roundRect">
            <a:avLst>
              <a:gd name="adj" fmla="val 2830"/>
            </a:avLst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pic>
        <p:nvPicPr>
          <p:cNvPr id="10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66050" y="2688531"/>
            <a:ext cx="2794000" cy="2667000"/>
          </a:xfrm>
          <a:prstGeom prst="rect">
            <a:avLst/>
          </a:prstGeom>
        </p:spPr>
      </p:pic>
      <p:sp>
        <p:nvSpPr>
          <p:cNvPr id="107" name="Shape 99"/>
          <p:cNvSpPr/>
          <p:nvPr/>
        </p:nvSpPr>
        <p:spPr>
          <a:xfrm>
            <a:off x="9099550" y="3926781"/>
            <a:ext cx="171450" cy="171450"/>
          </a:xfrm>
          <a:prstGeom prst="ellipse">
            <a:avLst/>
          </a:prstGeom>
          <a:solidFill>
            <a:srgbClr val="D97757"/>
          </a:solidFill>
          <a:ln w="1905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50800" dir="16200000">
              <a:srgbClr val="D97757">
                <a:alpha val="25000"/>
              </a:srgbClr>
            </a:outerShdw>
          </a:effectLst>
        </p:spPr>
      </p:sp>
      <p:sp>
        <p:nvSpPr>
          <p:cNvPr id="108" name="Text 100"/>
          <p:cNvSpPr/>
          <p:nvPr/>
        </p:nvSpPr>
        <p:spPr>
          <a:xfrm>
            <a:off x="9099550" y="4117281"/>
            <a:ext cx="24765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750" dirty="0"/>
          </a:p>
        </p:txBody>
      </p:sp>
      <p:sp>
        <p:nvSpPr>
          <p:cNvPr id="109" name="Shape 101"/>
          <p:cNvSpPr/>
          <p:nvPr/>
        </p:nvSpPr>
        <p:spPr>
          <a:xfrm>
            <a:off x="8337550" y="3260031"/>
            <a:ext cx="254000" cy="2540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0" name="Text 102"/>
          <p:cNvSpPr/>
          <p:nvPr/>
        </p:nvSpPr>
        <p:spPr>
          <a:xfrm>
            <a:off x="8432701" y="3315593"/>
            <a:ext cx="1397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11" name="Shape 103"/>
          <p:cNvSpPr/>
          <p:nvPr/>
        </p:nvSpPr>
        <p:spPr>
          <a:xfrm>
            <a:off x="9766300" y="3545781"/>
            <a:ext cx="254000" cy="2540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2" name="Text 104"/>
          <p:cNvSpPr/>
          <p:nvPr/>
        </p:nvSpPr>
        <p:spPr>
          <a:xfrm>
            <a:off x="9861452" y="3601343"/>
            <a:ext cx="1397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113" name="Shape 105"/>
          <p:cNvSpPr/>
          <p:nvPr/>
        </p:nvSpPr>
        <p:spPr>
          <a:xfrm>
            <a:off x="8718550" y="4593531"/>
            <a:ext cx="254000" cy="2540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4" name="Text 106"/>
          <p:cNvSpPr/>
          <p:nvPr/>
        </p:nvSpPr>
        <p:spPr>
          <a:xfrm>
            <a:off x="8813701" y="4649093"/>
            <a:ext cx="1397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115" name="Shape 107"/>
          <p:cNvSpPr/>
          <p:nvPr/>
        </p:nvSpPr>
        <p:spPr>
          <a:xfrm>
            <a:off x="10052050" y="4688781"/>
            <a:ext cx="254000" cy="2540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6" name="Text 108"/>
          <p:cNvSpPr/>
          <p:nvPr/>
        </p:nvSpPr>
        <p:spPr>
          <a:xfrm>
            <a:off x="10147202" y="4744343"/>
            <a:ext cx="13979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117" name="Shape 109"/>
          <p:cNvSpPr/>
          <p:nvPr/>
        </p:nvSpPr>
        <p:spPr>
          <a:xfrm>
            <a:off x="10210800" y="276473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8" name="Text 110"/>
          <p:cNvSpPr/>
          <p:nvPr/>
        </p:nvSpPr>
        <p:spPr>
          <a:xfrm>
            <a:off x="10185400" y="277743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80" dirty="0"/>
          </a:p>
        </p:txBody>
      </p:sp>
      <p:sp>
        <p:nvSpPr>
          <p:cNvPr id="119" name="Shape 111"/>
          <p:cNvSpPr/>
          <p:nvPr/>
        </p:nvSpPr>
        <p:spPr>
          <a:xfrm>
            <a:off x="10210800" y="307588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20" name="Text 112"/>
          <p:cNvSpPr/>
          <p:nvPr/>
        </p:nvSpPr>
        <p:spPr>
          <a:xfrm>
            <a:off x="10185400" y="308858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</a:t>
            </a:r>
            <a:endParaRPr lang="en-US" sz="780" dirty="0"/>
          </a:p>
        </p:txBody>
      </p:sp>
      <p:sp>
        <p:nvSpPr>
          <p:cNvPr id="121" name="Shape 113"/>
          <p:cNvSpPr/>
          <p:nvPr/>
        </p:nvSpPr>
        <p:spPr>
          <a:xfrm>
            <a:off x="7842250" y="2764731"/>
            <a:ext cx="2336800" cy="285750"/>
          </a:xfrm>
          <a:prstGeom prst="roundRect">
            <a:avLst>
              <a:gd name="adj" fmla="val 2000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2" name="Text 114"/>
          <p:cNvSpPr/>
          <p:nvPr/>
        </p:nvSpPr>
        <p:spPr>
          <a:xfrm>
            <a:off x="7950200" y="2824262"/>
            <a:ext cx="25935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123" name="Text 115"/>
          <p:cNvSpPr/>
          <p:nvPr/>
        </p:nvSpPr>
        <p:spPr>
          <a:xfrm>
            <a:off x="8190508" y="2830215"/>
            <a:ext cx="95031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a bakery…</a:t>
            </a:r>
            <a:endParaRPr lang="en-US" sz="975" dirty="0"/>
          </a:p>
        </p:txBody>
      </p:sp>
      <p:sp>
        <p:nvSpPr>
          <p:cNvPr id="124" name="Shape 116"/>
          <p:cNvSpPr/>
          <p:nvPr/>
        </p:nvSpPr>
        <p:spPr>
          <a:xfrm>
            <a:off x="7639050" y="5444430"/>
            <a:ext cx="3048000" cy="154305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25" name="Shape 117"/>
          <p:cNvSpPr/>
          <p:nvPr/>
        </p:nvSpPr>
        <p:spPr>
          <a:xfrm>
            <a:off x="7639050" y="5444430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26" name="Shape 118"/>
          <p:cNvSpPr/>
          <p:nvPr/>
        </p:nvSpPr>
        <p:spPr>
          <a:xfrm>
            <a:off x="8972550" y="5514281"/>
            <a:ext cx="381000" cy="28575"/>
          </a:xfrm>
          <a:prstGeom prst="roundRect">
            <a:avLst>
              <a:gd name="adj" fmla="val 50000"/>
            </a:avLst>
          </a:prstGeom>
          <a:solidFill>
            <a:srgbClr val="8B8680"/>
          </a:solidFill>
          <a:ln/>
        </p:spPr>
      </p:sp>
      <p:sp>
        <p:nvSpPr>
          <p:cNvPr id="127" name="Text 119"/>
          <p:cNvSpPr/>
          <p:nvPr/>
        </p:nvSpPr>
        <p:spPr>
          <a:xfrm>
            <a:off x="7772400" y="5631756"/>
            <a:ext cx="1247477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bakeries near you</a:t>
            </a:r>
            <a:endParaRPr lang="en-US" sz="1050" dirty="0"/>
          </a:p>
        </p:txBody>
      </p:sp>
      <p:pic>
        <p:nvPicPr>
          <p:cNvPr id="1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72400" y="5779393"/>
            <a:ext cx="1171277" cy="57150"/>
          </a:xfrm>
          <a:prstGeom prst="rect">
            <a:avLst/>
          </a:prstGeom>
        </p:spPr>
      </p:pic>
      <p:sp>
        <p:nvSpPr>
          <p:cNvPr id="129" name="Shape 120"/>
          <p:cNvSpPr/>
          <p:nvPr/>
        </p:nvSpPr>
        <p:spPr>
          <a:xfrm>
            <a:off x="7772400" y="5874643"/>
            <a:ext cx="1365250" cy="1017588"/>
          </a:xfrm>
          <a:prstGeom prst="roundRect">
            <a:avLst>
              <a:gd name="adj" fmla="val 7488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30" name="Shape 121"/>
          <p:cNvSpPr/>
          <p:nvPr/>
        </p:nvSpPr>
        <p:spPr>
          <a:xfrm>
            <a:off x="7835900" y="5938143"/>
            <a:ext cx="1238250" cy="571500"/>
          </a:xfrm>
          <a:prstGeom prst="roundRect">
            <a:avLst>
              <a:gd name="adj" fmla="val 6667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3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848600" y="5950843"/>
            <a:ext cx="1212850" cy="546100"/>
          </a:xfrm>
          <a:prstGeom prst="rect">
            <a:avLst/>
          </a:prstGeom>
        </p:spPr>
      </p:pic>
      <p:sp>
        <p:nvSpPr>
          <p:cNvPr id="132" name="Text 122"/>
          <p:cNvSpPr/>
          <p:nvPr/>
        </p:nvSpPr>
        <p:spPr>
          <a:xfrm>
            <a:off x="7835900" y="6547743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Bakery1</a:t>
            </a:r>
            <a:endParaRPr lang="en-US" sz="900" dirty="0"/>
          </a:p>
        </p:txBody>
      </p:sp>
      <p:sp>
        <p:nvSpPr>
          <p:cNvPr id="133" name="Text 123"/>
          <p:cNvSpPr/>
          <p:nvPr/>
        </p:nvSpPr>
        <p:spPr>
          <a:xfrm>
            <a:off x="78359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34" name="Text 124"/>
          <p:cNvSpPr/>
          <p:nvPr/>
        </p:nvSpPr>
        <p:spPr>
          <a:xfrm>
            <a:off x="79184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35" name="Text 125"/>
          <p:cNvSpPr/>
          <p:nvPr/>
        </p:nvSpPr>
        <p:spPr>
          <a:xfrm>
            <a:off x="80010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36" name="Text 126"/>
          <p:cNvSpPr/>
          <p:nvPr/>
        </p:nvSpPr>
        <p:spPr>
          <a:xfrm>
            <a:off x="80835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37" name="Text 127"/>
          <p:cNvSpPr/>
          <p:nvPr/>
        </p:nvSpPr>
        <p:spPr>
          <a:xfrm>
            <a:off x="81661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38" name="Text 128"/>
          <p:cNvSpPr/>
          <p:nvPr/>
        </p:nvSpPr>
        <p:spPr>
          <a:xfrm>
            <a:off x="8814693" y="6709668"/>
            <a:ext cx="33565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0.6km</a:t>
            </a:r>
            <a:endParaRPr lang="en-US" sz="750" dirty="0"/>
          </a:p>
        </p:txBody>
      </p:sp>
      <p:sp>
        <p:nvSpPr>
          <p:cNvPr id="139" name="Shape 129"/>
          <p:cNvSpPr/>
          <p:nvPr/>
        </p:nvSpPr>
        <p:spPr>
          <a:xfrm>
            <a:off x="9213850" y="5874643"/>
            <a:ext cx="1365250" cy="1017588"/>
          </a:xfrm>
          <a:prstGeom prst="roundRect">
            <a:avLst>
              <a:gd name="adj" fmla="val 7488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40" name="Shape 130"/>
          <p:cNvSpPr/>
          <p:nvPr/>
        </p:nvSpPr>
        <p:spPr>
          <a:xfrm>
            <a:off x="9277350" y="5938143"/>
            <a:ext cx="1238250" cy="571500"/>
          </a:xfrm>
          <a:prstGeom prst="roundRect">
            <a:avLst>
              <a:gd name="adj" fmla="val 6667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4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90050" y="5950843"/>
            <a:ext cx="1212850" cy="546100"/>
          </a:xfrm>
          <a:prstGeom prst="rect">
            <a:avLst/>
          </a:prstGeom>
        </p:spPr>
      </p:pic>
      <p:sp>
        <p:nvSpPr>
          <p:cNvPr id="142" name="Text 131"/>
          <p:cNvSpPr/>
          <p:nvPr/>
        </p:nvSpPr>
        <p:spPr>
          <a:xfrm>
            <a:off x="9277350" y="6547743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Bakery2</a:t>
            </a:r>
            <a:endParaRPr lang="en-US" sz="900" dirty="0"/>
          </a:p>
        </p:txBody>
      </p:sp>
      <p:sp>
        <p:nvSpPr>
          <p:cNvPr id="143" name="Text 132"/>
          <p:cNvSpPr/>
          <p:nvPr/>
        </p:nvSpPr>
        <p:spPr>
          <a:xfrm>
            <a:off x="92773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44" name="Text 133"/>
          <p:cNvSpPr/>
          <p:nvPr/>
        </p:nvSpPr>
        <p:spPr>
          <a:xfrm>
            <a:off x="93599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45" name="Text 134"/>
          <p:cNvSpPr/>
          <p:nvPr/>
        </p:nvSpPr>
        <p:spPr>
          <a:xfrm>
            <a:off x="94424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46" name="Text 135"/>
          <p:cNvSpPr/>
          <p:nvPr/>
        </p:nvSpPr>
        <p:spPr>
          <a:xfrm>
            <a:off x="95250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47" name="Text 136"/>
          <p:cNvSpPr/>
          <p:nvPr/>
        </p:nvSpPr>
        <p:spPr>
          <a:xfrm>
            <a:off x="96075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48" name="Text 137"/>
          <p:cNvSpPr/>
          <p:nvPr/>
        </p:nvSpPr>
        <p:spPr>
          <a:xfrm>
            <a:off x="10256144" y="6709668"/>
            <a:ext cx="335657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1.2km</a:t>
            </a:r>
            <a:endParaRPr lang="en-US" sz="750" dirty="0"/>
          </a:p>
        </p:txBody>
      </p:sp>
      <p:sp>
        <p:nvSpPr>
          <p:cNvPr id="149" name="Shape 138"/>
          <p:cNvSpPr/>
          <p:nvPr/>
        </p:nvSpPr>
        <p:spPr>
          <a:xfrm>
            <a:off x="10655301" y="5874643"/>
            <a:ext cx="1365250" cy="1017588"/>
          </a:xfrm>
          <a:prstGeom prst="roundRect">
            <a:avLst>
              <a:gd name="adj" fmla="val 7488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50" name="Shape 139"/>
          <p:cNvSpPr/>
          <p:nvPr/>
        </p:nvSpPr>
        <p:spPr>
          <a:xfrm>
            <a:off x="10718800" y="5938143"/>
            <a:ext cx="1238250" cy="571500"/>
          </a:xfrm>
          <a:prstGeom prst="roundRect">
            <a:avLst>
              <a:gd name="adj" fmla="val 6667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731501" y="5950843"/>
            <a:ext cx="1212850" cy="546100"/>
          </a:xfrm>
          <a:prstGeom prst="rect">
            <a:avLst/>
          </a:prstGeom>
        </p:spPr>
      </p:pic>
      <p:sp>
        <p:nvSpPr>
          <p:cNvPr id="152" name="Text 140"/>
          <p:cNvSpPr/>
          <p:nvPr/>
        </p:nvSpPr>
        <p:spPr>
          <a:xfrm>
            <a:off x="10718800" y="6547743"/>
            <a:ext cx="13144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Bakery3</a:t>
            </a:r>
            <a:endParaRPr lang="en-US" sz="900" dirty="0"/>
          </a:p>
        </p:txBody>
      </p:sp>
      <p:sp>
        <p:nvSpPr>
          <p:cNvPr id="153" name="Text 141"/>
          <p:cNvSpPr/>
          <p:nvPr/>
        </p:nvSpPr>
        <p:spPr>
          <a:xfrm>
            <a:off x="107188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54" name="Text 142"/>
          <p:cNvSpPr/>
          <p:nvPr/>
        </p:nvSpPr>
        <p:spPr>
          <a:xfrm>
            <a:off x="108013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55" name="Text 143"/>
          <p:cNvSpPr/>
          <p:nvPr/>
        </p:nvSpPr>
        <p:spPr>
          <a:xfrm>
            <a:off x="10883901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56" name="Text 144"/>
          <p:cNvSpPr/>
          <p:nvPr/>
        </p:nvSpPr>
        <p:spPr>
          <a:xfrm>
            <a:off x="1096645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57" name="Text 145"/>
          <p:cNvSpPr/>
          <p:nvPr/>
        </p:nvSpPr>
        <p:spPr>
          <a:xfrm>
            <a:off x="11049000" y="6718399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158" name="Text 146"/>
          <p:cNvSpPr/>
          <p:nvPr/>
        </p:nvSpPr>
        <p:spPr>
          <a:xfrm>
            <a:off x="11112501" y="6709668"/>
            <a:ext cx="11303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1.7999999999999998km</a:t>
            </a:r>
            <a:endParaRPr lang="en-US" sz="750" dirty="0"/>
          </a:p>
        </p:txBody>
      </p:sp>
      <p:sp>
        <p:nvSpPr>
          <p:cNvPr id="159" name="Text 147"/>
          <p:cNvSpPr/>
          <p:nvPr/>
        </p:nvSpPr>
        <p:spPr>
          <a:xfrm rot="240000">
            <a:off x="10039350" y="3172917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 radius circle (opt.)</a:t>
            </a:r>
            <a:endParaRPr lang="en-US" sz="1200" dirty="0"/>
          </a:p>
        </p:txBody>
      </p:sp>
      <p:sp>
        <p:nvSpPr>
          <p:cNvPr id="160" name="Text 148"/>
          <p:cNvSpPr/>
          <p:nvPr/>
        </p:nvSpPr>
        <p:spPr>
          <a:xfrm rot="-120000">
            <a:off x="7620000" y="5743773"/>
            <a:ext cx="742950" cy="3714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up for full list</a:t>
            </a:r>
            <a:endParaRPr lang="en-US" sz="1200" dirty="0"/>
          </a:p>
        </p:txBody>
      </p:sp>
      <p:sp>
        <p:nvSpPr>
          <p:cNvPr id="161" name="Text 149"/>
          <p:cNvSpPr/>
          <p:nvPr/>
        </p:nvSpPr>
        <p:spPr>
          <a:xfrm>
            <a:off x="8558709" y="8943281"/>
            <a:ext cx="1246783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Map-led</a:t>
            </a:r>
            <a:endParaRPr lang="en-US" sz="2100" dirty="0"/>
          </a:p>
        </p:txBody>
      </p:sp>
      <p:sp>
        <p:nvSpPr>
          <p:cNvPr id="162" name="Text 150"/>
          <p:cNvSpPr/>
          <p:nvPr/>
        </p:nvSpPr>
        <p:spPr>
          <a:xfrm>
            <a:off x="11712873" y="1841500"/>
            <a:ext cx="2558355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Neighborhood-first, hero banner</a:t>
            </a:r>
            <a:endParaRPr lang="en-US" sz="1200" dirty="0"/>
          </a:p>
        </p:txBody>
      </p:sp>
      <p:sp>
        <p:nvSpPr>
          <p:cNvPr id="163" name="Shape 151"/>
          <p:cNvSpPr/>
          <p:nvPr/>
        </p:nvSpPr>
        <p:spPr>
          <a:xfrm>
            <a:off x="113538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64" name="Shape 152"/>
          <p:cNvSpPr/>
          <p:nvPr/>
        </p:nvSpPr>
        <p:spPr>
          <a:xfrm>
            <a:off x="127063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165" name="Shape 153"/>
          <p:cNvSpPr/>
          <p:nvPr/>
        </p:nvSpPr>
        <p:spPr>
          <a:xfrm>
            <a:off x="114871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66" name="Text 154"/>
          <p:cNvSpPr/>
          <p:nvPr/>
        </p:nvSpPr>
        <p:spPr>
          <a:xfrm>
            <a:off x="116014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67" name="Text 155"/>
          <p:cNvSpPr/>
          <p:nvPr/>
        </p:nvSpPr>
        <p:spPr>
          <a:xfrm>
            <a:off x="138873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68" name="Text 156"/>
          <p:cNvSpPr/>
          <p:nvPr/>
        </p:nvSpPr>
        <p:spPr>
          <a:xfrm>
            <a:off x="11620500" y="2705199"/>
            <a:ext cx="724892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good</a:t>
            </a:r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</a:t>
            </a:r>
            <a:endParaRPr lang="en-US" sz="1350" dirty="0"/>
          </a:p>
        </p:txBody>
      </p:sp>
      <p:sp>
        <p:nvSpPr>
          <p:cNvPr id="169" name="Shape 157"/>
          <p:cNvSpPr/>
          <p:nvPr/>
        </p:nvSpPr>
        <p:spPr>
          <a:xfrm>
            <a:off x="13779501" y="267583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0" name="Text 158"/>
          <p:cNvSpPr/>
          <p:nvPr/>
        </p:nvSpPr>
        <p:spPr>
          <a:xfrm>
            <a:off x="13754101" y="268853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🔔</a:t>
            </a:r>
            <a:endParaRPr lang="en-US" sz="780" dirty="0"/>
          </a:p>
        </p:txBody>
      </p:sp>
      <p:sp>
        <p:nvSpPr>
          <p:cNvPr id="171" name="Shape 159"/>
          <p:cNvSpPr/>
          <p:nvPr/>
        </p:nvSpPr>
        <p:spPr>
          <a:xfrm>
            <a:off x="14128750" y="267583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2" name="Text 160"/>
          <p:cNvSpPr/>
          <p:nvPr/>
        </p:nvSpPr>
        <p:spPr>
          <a:xfrm>
            <a:off x="14103350" y="268853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</a:t>
            </a:r>
            <a:endParaRPr lang="en-US" sz="780" dirty="0"/>
          </a:p>
        </p:txBody>
      </p:sp>
      <p:sp>
        <p:nvSpPr>
          <p:cNvPr id="173" name="Text 161"/>
          <p:cNvSpPr/>
          <p:nvPr/>
        </p:nvSpPr>
        <p:spPr>
          <a:xfrm>
            <a:off x="11620500" y="3044130"/>
            <a:ext cx="286473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 BY AREA</a:t>
            </a:r>
            <a:endParaRPr lang="en-US" sz="825" dirty="0"/>
          </a:p>
        </p:txBody>
      </p:sp>
      <p:sp>
        <p:nvSpPr>
          <p:cNvPr id="174" name="Shape 162"/>
          <p:cNvSpPr/>
          <p:nvPr/>
        </p:nvSpPr>
        <p:spPr>
          <a:xfrm>
            <a:off x="11620500" y="3232249"/>
            <a:ext cx="471587" cy="508000"/>
          </a:xfrm>
          <a:prstGeom prst="ellipse">
            <a:avLst/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75" name="Text 163"/>
          <p:cNvSpPr/>
          <p:nvPr/>
        </p:nvSpPr>
        <p:spPr>
          <a:xfrm>
            <a:off x="11722100" y="3257649"/>
            <a:ext cx="34458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Near me</a:t>
            </a:r>
            <a:endParaRPr lang="en-US" sz="975" dirty="0"/>
          </a:p>
        </p:txBody>
      </p:sp>
      <p:sp>
        <p:nvSpPr>
          <p:cNvPr id="176" name="Shape 164"/>
          <p:cNvSpPr/>
          <p:nvPr/>
        </p:nvSpPr>
        <p:spPr>
          <a:xfrm>
            <a:off x="12149237" y="3232249"/>
            <a:ext cx="547489" cy="508000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77" name="Text 165"/>
          <p:cNvSpPr/>
          <p:nvPr/>
        </p:nvSpPr>
        <p:spPr>
          <a:xfrm>
            <a:off x="12250837" y="3257649"/>
            <a:ext cx="420489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Kololo</a:t>
            </a:r>
            <a:endParaRPr lang="en-US" sz="975" dirty="0"/>
          </a:p>
        </p:txBody>
      </p:sp>
      <p:sp>
        <p:nvSpPr>
          <p:cNvPr id="178" name="Shape 166"/>
          <p:cNvSpPr/>
          <p:nvPr/>
        </p:nvSpPr>
        <p:spPr>
          <a:xfrm>
            <a:off x="12753876" y="3232249"/>
            <a:ext cx="561181" cy="508000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79" name="Text 167"/>
          <p:cNvSpPr/>
          <p:nvPr/>
        </p:nvSpPr>
        <p:spPr>
          <a:xfrm>
            <a:off x="12855476" y="3257649"/>
            <a:ext cx="434181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Ntinda</a:t>
            </a:r>
            <a:endParaRPr lang="en-US" sz="975" dirty="0"/>
          </a:p>
        </p:txBody>
      </p:sp>
      <p:sp>
        <p:nvSpPr>
          <p:cNvPr id="180" name="Shape 168"/>
          <p:cNvSpPr/>
          <p:nvPr/>
        </p:nvSpPr>
        <p:spPr>
          <a:xfrm>
            <a:off x="13372207" y="3232249"/>
            <a:ext cx="685205" cy="50800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81" name="Text 169"/>
          <p:cNvSpPr/>
          <p:nvPr/>
        </p:nvSpPr>
        <p:spPr>
          <a:xfrm>
            <a:off x="13473807" y="3257649"/>
            <a:ext cx="5582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Bugolobi</a:t>
            </a:r>
            <a:endParaRPr lang="en-US" sz="975" dirty="0"/>
          </a:p>
        </p:txBody>
      </p:sp>
      <p:sp>
        <p:nvSpPr>
          <p:cNvPr id="182" name="Shape 170"/>
          <p:cNvSpPr/>
          <p:nvPr/>
        </p:nvSpPr>
        <p:spPr>
          <a:xfrm>
            <a:off x="14114562" y="3232249"/>
            <a:ext cx="650577" cy="508000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83" name="Text 171"/>
          <p:cNvSpPr/>
          <p:nvPr/>
        </p:nvSpPr>
        <p:spPr>
          <a:xfrm>
            <a:off x="14216162" y="3257649"/>
            <a:ext cx="52357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Nakawa</a:t>
            </a:r>
            <a:endParaRPr lang="en-US" sz="975" dirty="0"/>
          </a:p>
        </p:txBody>
      </p:sp>
      <p:sp>
        <p:nvSpPr>
          <p:cNvPr id="184" name="Shape 172"/>
          <p:cNvSpPr/>
          <p:nvPr/>
        </p:nvSpPr>
        <p:spPr>
          <a:xfrm>
            <a:off x="11620500" y="3873599"/>
            <a:ext cx="2781300" cy="1873250"/>
          </a:xfrm>
          <a:prstGeom prst="roundRect">
            <a:avLst>
              <a:gd name="adj" fmla="val 5085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8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633200" y="3886299"/>
            <a:ext cx="2755900" cy="1047750"/>
          </a:xfrm>
          <a:prstGeom prst="rect">
            <a:avLst/>
          </a:prstGeom>
        </p:spPr>
      </p:pic>
      <p:sp>
        <p:nvSpPr>
          <p:cNvPr id="186" name="Shape 173"/>
          <p:cNvSpPr/>
          <p:nvPr/>
        </p:nvSpPr>
        <p:spPr>
          <a:xfrm>
            <a:off x="12365732" y="4337149"/>
            <a:ext cx="1290836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187" name="Text 174"/>
          <p:cNvSpPr/>
          <p:nvPr/>
        </p:nvSpPr>
        <p:spPr>
          <a:xfrm>
            <a:off x="12384782" y="4356199"/>
            <a:ext cx="1252736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HERO · TODAY'S PICK</a:t>
            </a:r>
            <a:endParaRPr lang="en-US" sz="750" dirty="0"/>
          </a:p>
        </p:txBody>
      </p:sp>
      <p:sp>
        <p:nvSpPr>
          <p:cNvPr id="188" name="Shape 175"/>
          <p:cNvSpPr/>
          <p:nvPr/>
        </p:nvSpPr>
        <p:spPr>
          <a:xfrm>
            <a:off x="11633200" y="4934049"/>
            <a:ext cx="27559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89" name="Text 176"/>
          <p:cNvSpPr/>
          <p:nvPr/>
        </p:nvSpPr>
        <p:spPr>
          <a:xfrm>
            <a:off x="11728450" y="5041999"/>
            <a:ext cx="264236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Fresh from Sweet Crumbs</a:t>
            </a:r>
            <a:endParaRPr lang="en-US" sz="975" dirty="0"/>
          </a:p>
        </p:txBody>
      </p:sp>
      <p:sp>
        <p:nvSpPr>
          <p:cNvPr id="190" name="Text 177"/>
          <p:cNvSpPr/>
          <p:nvPr/>
        </p:nvSpPr>
        <p:spPr>
          <a:xfrm>
            <a:off x="11728450" y="5215830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off all bread before 11am</a:t>
            </a:r>
            <a:endParaRPr lang="en-US" sz="825" dirty="0"/>
          </a:p>
        </p:txBody>
      </p:sp>
      <p:sp>
        <p:nvSpPr>
          <p:cNvPr id="191" name="Text 178"/>
          <p:cNvSpPr/>
          <p:nvPr/>
        </p:nvSpPr>
        <p:spPr>
          <a:xfrm>
            <a:off x="11728450" y="5461893"/>
            <a:ext cx="84018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 ends in 1h 24m</a:t>
            </a:r>
            <a:endParaRPr lang="en-US" sz="750" dirty="0"/>
          </a:p>
        </p:txBody>
      </p:sp>
      <p:sp>
        <p:nvSpPr>
          <p:cNvPr id="192" name="Shape 179"/>
          <p:cNvSpPr/>
          <p:nvPr/>
        </p:nvSpPr>
        <p:spPr>
          <a:xfrm>
            <a:off x="13639701" y="5403949"/>
            <a:ext cx="654149" cy="234950"/>
          </a:xfrm>
          <a:prstGeom prst="roundRect">
            <a:avLst>
              <a:gd name="adj" fmla="val 24324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3" name="Text 180"/>
          <p:cNvSpPr/>
          <p:nvPr/>
        </p:nvSpPr>
        <p:spPr>
          <a:xfrm>
            <a:off x="13747652" y="5454750"/>
            <a:ext cx="514449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→</a:t>
            </a:r>
            <a:endParaRPr lang="en-US" sz="900" dirty="0"/>
          </a:p>
        </p:txBody>
      </p:sp>
      <p:sp>
        <p:nvSpPr>
          <p:cNvPr id="194" name="Shape 181"/>
          <p:cNvSpPr/>
          <p:nvPr/>
        </p:nvSpPr>
        <p:spPr>
          <a:xfrm>
            <a:off x="11620500" y="5880199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5" name="Text 182"/>
          <p:cNvSpPr/>
          <p:nvPr/>
        </p:nvSpPr>
        <p:spPr>
          <a:xfrm>
            <a:off x="11595100" y="589289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🍞</a:t>
            </a:r>
            <a:endParaRPr lang="en-US" sz="1080" dirty="0"/>
          </a:p>
        </p:txBody>
      </p:sp>
      <p:sp>
        <p:nvSpPr>
          <p:cNvPr id="196" name="Text 183"/>
          <p:cNvSpPr/>
          <p:nvPr/>
        </p:nvSpPr>
        <p:spPr>
          <a:xfrm>
            <a:off x="11677551" y="6267549"/>
            <a:ext cx="330398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750" dirty="0"/>
          </a:p>
        </p:txBody>
      </p:sp>
      <p:sp>
        <p:nvSpPr>
          <p:cNvPr id="197" name="Shape 184"/>
          <p:cNvSpPr/>
          <p:nvPr/>
        </p:nvSpPr>
        <p:spPr>
          <a:xfrm>
            <a:off x="12223750" y="5880199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8" name="Text 185"/>
          <p:cNvSpPr/>
          <p:nvPr/>
        </p:nvSpPr>
        <p:spPr>
          <a:xfrm>
            <a:off x="12198350" y="589289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🎂</a:t>
            </a:r>
            <a:endParaRPr lang="en-US" sz="1080" dirty="0"/>
          </a:p>
        </p:txBody>
      </p:sp>
      <p:sp>
        <p:nvSpPr>
          <p:cNvPr id="199" name="Text 186"/>
          <p:cNvSpPr/>
          <p:nvPr/>
        </p:nvSpPr>
        <p:spPr>
          <a:xfrm>
            <a:off x="12272864" y="6267549"/>
            <a:ext cx="346273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Cakes</a:t>
            </a:r>
            <a:endParaRPr lang="en-US" sz="750" dirty="0"/>
          </a:p>
        </p:txBody>
      </p:sp>
      <p:sp>
        <p:nvSpPr>
          <p:cNvPr id="200" name="Shape 187"/>
          <p:cNvSpPr/>
          <p:nvPr/>
        </p:nvSpPr>
        <p:spPr>
          <a:xfrm>
            <a:off x="12827001" y="5880199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1" name="Text 188"/>
          <p:cNvSpPr/>
          <p:nvPr/>
        </p:nvSpPr>
        <p:spPr>
          <a:xfrm>
            <a:off x="12801601" y="589289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</a:t>
            </a:r>
            <a:endParaRPr lang="en-US" sz="1080" dirty="0"/>
          </a:p>
        </p:txBody>
      </p:sp>
      <p:sp>
        <p:nvSpPr>
          <p:cNvPr id="202" name="Text 189"/>
          <p:cNvSpPr/>
          <p:nvPr/>
        </p:nvSpPr>
        <p:spPr>
          <a:xfrm>
            <a:off x="12876114" y="6267549"/>
            <a:ext cx="34617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</a:t>
            </a:r>
            <a:endParaRPr lang="en-US" sz="750" dirty="0"/>
          </a:p>
        </p:txBody>
      </p:sp>
      <p:sp>
        <p:nvSpPr>
          <p:cNvPr id="203" name="Shape 190"/>
          <p:cNvSpPr/>
          <p:nvPr/>
        </p:nvSpPr>
        <p:spPr>
          <a:xfrm>
            <a:off x="13430250" y="5880199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4" name="Text 191"/>
          <p:cNvSpPr/>
          <p:nvPr/>
        </p:nvSpPr>
        <p:spPr>
          <a:xfrm>
            <a:off x="13404850" y="589289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🍪</a:t>
            </a:r>
            <a:endParaRPr lang="en-US" sz="1080" dirty="0"/>
          </a:p>
        </p:txBody>
      </p:sp>
      <p:sp>
        <p:nvSpPr>
          <p:cNvPr id="205" name="Text 192"/>
          <p:cNvSpPr/>
          <p:nvPr/>
        </p:nvSpPr>
        <p:spPr>
          <a:xfrm>
            <a:off x="13458131" y="6267549"/>
            <a:ext cx="38864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Snacks</a:t>
            </a:r>
            <a:endParaRPr lang="en-US" sz="750" dirty="0"/>
          </a:p>
        </p:txBody>
      </p:sp>
      <p:sp>
        <p:nvSpPr>
          <p:cNvPr id="206" name="Shape 193"/>
          <p:cNvSpPr/>
          <p:nvPr/>
        </p:nvSpPr>
        <p:spPr>
          <a:xfrm>
            <a:off x="14033500" y="5880199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7" name="Text 194"/>
          <p:cNvSpPr/>
          <p:nvPr/>
        </p:nvSpPr>
        <p:spPr>
          <a:xfrm>
            <a:off x="14008100" y="5892899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🎉</a:t>
            </a:r>
            <a:endParaRPr lang="en-US" sz="1080" dirty="0"/>
          </a:p>
        </p:txBody>
      </p:sp>
      <p:sp>
        <p:nvSpPr>
          <p:cNvPr id="208" name="Text 195"/>
          <p:cNvSpPr/>
          <p:nvPr/>
        </p:nvSpPr>
        <p:spPr>
          <a:xfrm>
            <a:off x="14053542" y="6267549"/>
            <a:ext cx="404416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</a:t>
            </a:r>
            <a:endParaRPr lang="en-US" sz="750" dirty="0"/>
          </a:p>
        </p:txBody>
      </p:sp>
      <p:sp>
        <p:nvSpPr>
          <p:cNvPr id="209" name="Text 196"/>
          <p:cNvSpPr/>
          <p:nvPr/>
        </p:nvSpPr>
        <p:spPr>
          <a:xfrm>
            <a:off x="11620500" y="6519962"/>
            <a:ext cx="98067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Popular nearby</a:t>
            </a:r>
            <a:endParaRPr lang="en-US" sz="1050" dirty="0"/>
          </a:p>
        </p:txBody>
      </p:sp>
      <p:pic>
        <p:nvPicPr>
          <p:cNvPr id="21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620500" y="6667599"/>
            <a:ext cx="904478" cy="57150"/>
          </a:xfrm>
          <a:prstGeom prst="rect">
            <a:avLst/>
          </a:prstGeom>
        </p:spPr>
      </p:pic>
      <p:sp>
        <p:nvSpPr>
          <p:cNvPr id="211" name="Text 197"/>
          <p:cNvSpPr/>
          <p:nvPr/>
        </p:nvSpPr>
        <p:spPr>
          <a:xfrm>
            <a:off x="13965039" y="6537821"/>
            <a:ext cx="51296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→</a:t>
            </a:r>
            <a:endParaRPr lang="en-US" sz="825" dirty="0"/>
          </a:p>
        </p:txBody>
      </p:sp>
      <p:sp>
        <p:nvSpPr>
          <p:cNvPr id="212" name="Shape 198"/>
          <p:cNvSpPr/>
          <p:nvPr/>
        </p:nvSpPr>
        <p:spPr>
          <a:xfrm>
            <a:off x="11620500" y="6743799"/>
            <a:ext cx="1469331" cy="967581"/>
          </a:xfrm>
          <a:prstGeom prst="roundRect">
            <a:avLst>
              <a:gd name="adj" fmla="val 7875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13" name="Shape 199"/>
          <p:cNvSpPr/>
          <p:nvPr/>
        </p:nvSpPr>
        <p:spPr>
          <a:xfrm>
            <a:off x="11684001" y="6807300"/>
            <a:ext cx="1342331" cy="533400"/>
          </a:xfrm>
          <a:prstGeom prst="roundRect">
            <a:avLst>
              <a:gd name="adj" fmla="val 714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1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696700" y="6819999"/>
            <a:ext cx="1316931" cy="508000"/>
          </a:xfrm>
          <a:prstGeom prst="rect">
            <a:avLst/>
          </a:prstGeom>
        </p:spPr>
      </p:pic>
      <p:sp>
        <p:nvSpPr>
          <p:cNvPr id="215" name="Text 200"/>
          <p:cNvSpPr/>
          <p:nvPr/>
        </p:nvSpPr>
        <p:spPr>
          <a:xfrm>
            <a:off x="11684001" y="7378800"/>
            <a:ext cx="14185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900" dirty="0"/>
          </a:p>
        </p:txBody>
      </p:sp>
      <p:sp>
        <p:nvSpPr>
          <p:cNvPr id="216" name="Text 201"/>
          <p:cNvSpPr/>
          <p:nvPr/>
        </p:nvSpPr>
        <p:spPr>
          <a:xfrm>
            <a:off x="11684001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17" name="Text 202"/>
          <p:cNvSpPr/>
          <p:nvPr/>
        </p:nvSpPr>
        <p:spPr>
          <a:xfrm>
            <a:off x="11766550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18" name="Text 203"/>
          <p:cNvSpPr/>
          <p:nvPr/>
        </p:nvSpPr>
        <p:spPr>
          <a:xfrm>
            <a:off x="11849100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19" name="Text 204"/>
          <p:cNvSpPr/>
          <p:nvPr/>
        </p:nvSpPr>
        <p:spPr>
          <a:xfrm>
            <a:off x="11931651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20" name="Text 205"/>
          <p:cNvSpPr/>
          <p:nvPr/>
        </p:nvSpPr>
        <p:spPr>
          <a:xfrm>
            <a:off x="12014200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21" name="Text 206"/>
          <p:cNvSpPr/>
          <p:nvPr/>
        </p:nvSpPr>
        <p:spPr>
          <a:xfrm>
            <a:off x="12792770" y="7540725"/>
            <a:ext cx="30976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0.7km</a:t>
            </a:r>
            <a:endParaRPr lang="en-US" sz="675" dirty="0"/>
          </a:p>
        </p:txBody>
      </p:sp>
      <p:sp>
        <p:nvSpPr>
          <p:cNvPr id="222" name="Shape 207"/>
          <p:cNvSpPr/>
          <p:nvPr/>
        </p:nvSpPr>
        <p:spPr>
          <a:xfrm>
            <a:off x="13166031" y="6743799"/>
            <a:ext cx="1235770" cy="967581"/>
          </a:xfrm>
          <a:prstGeom prst="roundRect">
            <a:avLst>
              <a:gd name="adj" fmla="val 7875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23" name="Shape 208"/>
          <p:cNvSpPr/>
          <p:nvPr/>
        </p:nvSpPr>
        <p:spPr>
          <a:xfrm>
            <a:off x="13229531" y="6807300"/>
            <a:ext cx="1108770" cy="533400"/>
          </a:xfrm>
          <a:prstGeom prst="roundRect">
            <a:avLst>
              <a:gd name="adj" fmla="val 714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24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42231" y="6819999"/>
            <a:ext cx="1083370" cy="508000"/>
          </a:xfrm>
          <a:prstGeom prst="rect">
            <a:avLst/>
          </a:prstGeom>
        </p:spPr>
      </p:pic>
      <p:sp>
        <p:nvSpPr>
          <p:cNvPr id="225" name="Text 209"/>
          <p:cNvSpPr/>
          <p:nvPr/>
        </p:nvSpPr>
        <p:spPr>
          <a:xfrm>
            <a:off x="13229531" y="7378800"/>
            <a:ext cx="11849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Kololo Loaf</a:t>
            </a:r>
            <a:endParaRPr lang="en-US" sz="900" dirty="0"/>
          </a:p>
        </p:txBody>
      </p:sp>
      <p:sp>
        <p:nvSpPr>
          <p:cNvPr id="226" name="Text 210"/>
          <p:cNvSpPr/>
          <p:nvPr/>
        </p:nvSpPr>
        <p:spPr>
          <a:xfrm>
            <a:off x="13229531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27" name="Text 211"/>
          <p:cNvSpPr/>
          <p:nvPr/>
        </p:nvSpPr>
        <p:spPr>
          <a:xfrm>
            <a:off x="13312080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28" name="Text 212"/>
          <p:cNvSpPr/>
          <p:nvPr/>
        </p:nvSpPr>
        <p:spPr>
          <a:xfrm>
            <a:off x="13394631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29" name="Text 213"/>
          <p:cNvSpPr/>
          <p:nvPr/>
        </p:nvSpPr>
        <p:spPr>
          <a:xfrm>
            <a:off x="13477181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30" name="Text 214"/>
          <p:cNvSpPr/>
          <p:nvPr/>
        </p:nvSpPr>
        <p:spPr>
          <a:xfrm>
            <a:off x="13559730" y="7543502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31" name="Text 215"/>
          <p:cNvSpPr/>
          <p:nvPr/>
        </p:nvSpPr>
        <p:spPr>
          <a:xfrm>
            <a:off x="14104739" y="7540725"/>
            <a:ext cx="30976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1.4km</a:t>
            </a:r>
            <a:endParaRPr lang="en-US" sz="675" dirty="0"/>
          </a:p>
        </p:txBody>
      </p:sp>
      <p:sp>
        <p:nvSpPr>
          <p:cNvPr id="232" name="Shape 216"/>
          <p:cNvSpPr/>
          <p:nvPr/>
        </p:nvSpPr>
        <p:spPr>
          <a:xfrm>
            <a:off x="11620500" y="7787580"/>
            <a:ext cx="1469331" cy="967581"/>
          </a:xfrm>
          <a:prstGeom prst="roundRect">
            <a:avLst>
              <a:gd name="adj" fmla="val 7875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33" name="Shape 217"/>
          <p:cNvSpPr/>
          <p:nvPr/>
        </p:nvSpPr>
        <p:spPr>
          <a:xfrm>
            <a:off x="11684001" y="7851081"/>
            <a:ext cx="1342331" cy="533400"/>
          </a:xfrm>
          <a:prstGeom prst="roundRect">
            <a:avLst>
              <a:gd name="adj" fmla="val 714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34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696700" y="7863780"/>
            <a:ext cx="1316931" cy="508000"/>
          </a:xfrm>
          <a:prstGeom prst="rect">
            <a:avLst/>
          </a:prstGeom>
        </p:spPr>
      </p:pic>
      <p:sp>
        <p:nvSpPr>
          <p:cNvPr id="235" name="Text 218"/>
          <p:cNvSpPr/>
          <p:nvPr/>
        </p:nvSpPr>
        <p:spPr>
          <a:xfrm>
            <a:off x="11684001" y="8422581"/>
            <a:ext cx="14185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Joy's</a:t>
            </a:r>
            <a:endParaRPr lang="en-US" sz="900" dirty="0"/>
          </a:p>
        </p:txBody>
      </p:sp>
      <p:sp>
        <p:nvSpPr>
          <p:cNvPr id="236" name="Text 219"/>
          <p:cNvSpPr/>
          <p:nvPr/>
        </p:nvSpPr>
        <p:spPr>
          <a:xfrm>
            <a:off x="11684001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37" name="Text 220"/>
          <p:cNvSpPr/>
          <p:nvPr/>
        </p:nvSpPr>
        <p:spPr>
          <a:xfrm>
            <a:off x="11766550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38" name="Text 221"/>
          <p:cNvSpPr/>
          <p:nvPr/>
        </p:nvSpPr>
        <p:spPr>
          <a:xfrm>
            <a:off x="11849100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39" name="Text 222"/>
          <p:cNvSpPr/>
          <p:nvPr/>
        </p:nvSpPr>
        <p:spPr>
          <a:xfrm>
            <a:off x="11931651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40" name="Text 223"/>
          <p:cNvSpPr/>
          <p:nvPr/>
        </p:nvSpPr>
        <p:spPr>
          <a:xfrm>
            <a:off x="12014200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41" name="Text 224"/>
          <p:cNvSpPr/>
          <p:nvPr/>
        </p:nvSpPr>
        <p:spPr>
          <a:xfrm>
            <a:off x="12077700" y="8584506"/>
            <a:ext cx="1024830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2.0999999999999996km</a:t>
            </a:r>
            <a:endParaRPr lang="en-US" sz="675" dirty="0"/>
          </a:p>
        </p:txBody>
      </p:sp>
      <p:sp>
        <p:nvSpPr>
          <p:cNvPr id="242" name="Shape 225"/>
          <p:cNvSpPr/>
          <p:nvPr/>
        </p:nvSpPr>
        <p:spPr>
          <a:xfrm>
            <a:off x="13166031" y="7787580"/>
            <a:ext cx="1235770" cy="967581"/>
          </a:xfrm>
          <a:prstGeom prst="roundRect">
            <a:avLst>
              <a:gd name="adj" fmla="val 7875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43" name="Shape 226"/>
          <p:cNvSpPr/>
          <p:nvPr/>
        </p:nvSpPr>
        <p:spPr>
          <a:xfrm>
            <a:off x="13229531" y="7851081"/>
            <a:ext cx="1108770" cy="533400"/>
          </a:xfrm>
          <a:prstGeom prst="roundRect">
            <a:avLst>
              <a:gd name="adj" fmla="val 714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3242231" y="7863780"/>
            <a:ext cx="1083370" cy="508000"/>
          </a:xfrm>
          <a:prstGeom prst="rect">
            <a:avLst/>
          </a:prstGeom>
        </p:spPr>
      </p:pic>
      <p:sp>
        <p:nvSpPr>
          <p:cNvPr id="245" name="Text 227"/>
          <p:cNvSpPr/>
          <p:nvPr/>
        </p:nvSpPr>
        <p:spPr>
          <a:xfrm>
            <a:off x="13229531" y="8422581"/>
            <a:ext cx="118497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Nakawa Bread</a:t>
            </a:r>
            <a:endParaRPr lang="en-US" sz="900" dirty="0"/>
          </a:p>
        </p:txBody>
      </p:sp>
      <p:sp>
        <p:nvSpPr>
          <p:cNvPr id="246" name="Text 228"/>
          <p:cNvSpPr/>
          <p:nvPr/>
        </p:nvSpPr>
        <p:spPr>
          <a:xfrm>
            <a:off x="13229531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47" name="Text 229"/>
          <p:cNvSpPr/>
          <p:nvPr/>
        </p:nvSpPr>
        <p:spPr>
          <a:xfrm>
            <a:off x="13312080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48" name="Text 230"/>
          <p:cNvSpPr/>
          <p:nvPr/>
        </p:nvSpPr>
        <p:spPr>
          <a:xfrm>
            <a:off x="13394631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49" name="Text 231"/>
          <p:cNvSpPr/>
          <p:nvPr/>
        </p:nvSpPr>
        <p:spPr>
          <a:xfrm>
            <a:off x="13477181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50" name="Text 232"/>
          <p:cNvSpPr/>
          <p:nvPr/>
        </p:nvSpPr>
        <p:spPr>
          <a:xfrm>
            <a:off x="13559730" y="8587284"/>
            <a:ext cx="139700" cy="13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" dirty="0">
                <a:solidFill>
                  <a:srgbClr val="A8A39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00" dirty="0"/>
          </a:p>
        </p:txBody>
      </p:sp>
      <p:sp>
        <p:nvSpPr>
          <p:cNvPr id="251" name="Text 233"/>
          <p:cNvSpPr/>
          <p:nvPr/>
        </p:nvSpPr>
        <p:spPr>
          <a:xfrm>
            <a:off x="14104739" y="8584506"/>
            <a:ext cx="309761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2.8km</a:t>
            </a:r>
            <a:endParaRPr lang="en-US" sz="675" dirty="0"/>
          </a:p>
        </p:txBody>
      </p:sp>
      <p:sp>
        <p:nvSpPr>
          <p:cNvPr id="252" name="Text 234"/>
          <p:cNvSpPr/>
          <p:nvPr/>
        </p:nvSpPr>
        <p:spPr>
          <a:xfrm rot="240000">
            <a:off x="13868401" y="3457625"/>
            <a:ext cx="742950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carousel — platform &amp; bakery deals</a:t>
            </a:r>
            <a:endParaRPr lang="en-US" sz="1200" dirty="0"/>
          </a:p>
        </p:txBody>
      </p:sp>
      <p:sp>
        <p:nvSpPr>
          <p:cNvPr id="253" name="Text 235"/>
          <p:cNvSpPr/>
          <p:nvPr/>
        </p:nvSpPr>
        <p:spPr>
          <a:xfrm rot="-180000">
            <a:off x="11468101" y="4790232"/>
            <a:ext cx="7429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filter → category page</a:t>
            </a:r>
            <a:endParaRPr lang="en-US" sz="1200" dirty="0"/>
          </a:p>
        </p:txBody>
      </p:sp>
      <p:sp>
        <p:nvSpPr>
          <p:cNvPr id="254" name="Text 236"/>
          <p:cNvSpPr/>
          <p:nvPr/>
        </p:nvSpPr>
        <p:spPr>
          <a:xfrm>
            <a:off x="11823204" y="8943281"/>
            <a:ext cx="2413893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Neighborhood + hero</a:t>
            </a:r>
            <a:endParaRPr lang="en-US" sz="2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750754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detail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4750754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 · product variants · ratings · branded theme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405398" y="850900"/>
            <a:ext cx="21968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3 DIRECTIONS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75720" y="1841500"/>
            <a:ext cx="2240359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Hero + sticky category tabs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1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909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0" name="Text 8"/>
          <p:cNvSpPr/>
          <p:nvPr/>
        </p:nvSpPr>
        <p:spPr>
          <a:xfrm>
            <a:off x="39052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911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90950" y="37680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90950" y="2637731"/>
            <a:ext cx="3048000" cy="113030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4359871" y="3129855"/>
            <a:ext cx="1910060" cy="146050"/>
          </a:xfrm>
          <a:prstGeom prst="roundRect">
            <a:avLst>
              <a:gd name="adj" fmla="val 13043"/>
            </a:avLst>
          </a:prstGeom>
          <a:solidFill>
            <a:srgbClr val="FBFAF7">
              <a:alpha val="7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378921" y="3148905"/>
            <a:ext cx="1871960" cy="146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50" spc="38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BAKERY HERO — THEMED BY OWNER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3867150" y="2713931"/>
            <a:ext cx="292100" cy="2921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1750" y="272663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6121400" y="2713931"/>
            <a:ext cx="292100" cy="2921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96000" y="272663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840" dirty="0"/>
          </a:p>
        </p:txBody>
      </p:sp>
      <p:sp>
        <p:nvSpPr>
          <p:cNvPr id="20" name="Shape 17"/>
          <p:cNvSpPr/>
          <p:nvPr/>
        </p:nvSpPr>
        <p:spPr>
          <a:xfrm>
            <a:off x="6470650" y="2713931"/>
            <a:ext cx="292100" cy="29210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45250" y="2726631"/>
            <a:ext cx="3429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3790950" y="4622899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3" name="Shape 20"/>
          <p:cNvSpPr/>
          <p:nvPr/>
        </p:nvSpPr>
        <p:spPr>
          <a:xfrm>
            <a:off x="3924300" y="3875981"/>
            <a:ext cx="482600" cy="482600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898900" y="3888681"/>
            <a:ext cx="53340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4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1440" dirty="0"/>
          </a:p>
        </p:txBody>
      </p:sp>
      <p:sp>
        <p:nvSpPr>
          <p:cNvPr id="25" name="Text 22"/>
          <p:cNvSpPr/>
          <p:nvPr/>
        </p:nvSpPr>
        <p:spPr>
          <a:xfrm>
            <a:off x="4502150" y="3956546"/>
            <a:ext cx="22796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 Bakery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02150" y="4149030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4600575" y="4149030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4699000" y="4149030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4797425" y="4149030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4895850" y="4149030"/>
            <a:ext cx="155575" cy="16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750" dirty="0"/>
          </a:p>
        </p:txBody>
      </p:sp>
      <p:sp>
        <p:nvSpPr>
          <p:cNvPr id="31" name="Text 28"/>
          <p:cNvSpPr/>
          <p:nvPr/>
        </p:nvSpPr>
        <p:spPr>
          <a:xfrm>
            <a:off x="5032375" y="4147046"/>
            <a:ext cx="87987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(312 reviews)</a:t>
            </a:r>
            <a:endParaRPr lang="en-US" sz="825" dirty="0"/>
          </a:p>
        </p:txBody>
      </p:sp>
      <p:sp>
        <p:nvSpPr>
          <p:cNvPr id="32" name="Text 29"/>
          <p:cNvSpPr/>
          <p:nvPr/>
        </p:nvSpPr>
        <p:spPr>
          <a:xfrm>
            <a:off x="3924300" y="4434780"/>
            <a:ext cx="5636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0.8 km</a:t>
            </a:r>
            <a:endParaRPr lang="en-US" sz="825" dirty="0"/>
          </a:p>
        </p:txBody>
      </p:sp>
      <p:sp>
        <p:nvSpPr>
          <p:cNvPr id="33" name="Text 30"/>
          <p:cNvSpPr/>
          <p:nvPr/>
        </p:nvSpPr>
        <p:spPr>
          <a:xfrm>
            <a:off x="4507012" y="4434780"/>
            <a:ext cx="71516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 20-30 min</a:t>
            </a:r>
            <a:endParaRPr lang="en-US" sz="825" dirty="0"/>
          </a:p>
        </p:txBody>
      </p:sp>
      <p:sp>
        <p:nvSpPr>
          <p:cNvPr id="34" name="Text 31"/>
          <p:cNvSpPr/>
          <p:nvPr/>
        </p:nvSpPr>
        <p:spPr>
          <a:xfrm>
            <a:off x="5241231" y="4434780"/>
            <a:ext cx="1128514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Open · closes 8pm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3790950" y="4635599"/>
            <a:ext cx="3048000" cy="377031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36" name="Shape 33"/>
          <p:cNvSpPr/>
          <p:nvPr/>
        </p:nvSpPr>
        <p:spPr>
          <a:xfrm>
            <a:off x="3790950" y="49999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7" name="Shape 34"/>
          <p:cNvSpPr/>
          <p:nvPr/>
        </p:nvSpPr>
        <p:spPr>
          <a:xfrm>
            <a:off x="3924300" y="4904681"/>
            <a:ext cx="495697" cy="1905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8" name="Text 35"/>
          <p:cNvSpPr/>
          <p:nvPr/>
        </p:nvSpPr>
        <p:spPr>
          <a:xfrm>
            <a:off x="3924300" y="4711799"/>
            <a:ext cx="57189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</a:t>
            </a:r>
            <a:endParaRPr lang="en-US" sz="975" dirty="0"/>
          </a:p>
        </p:txBody>
      </p:sp>
      <p:sp>
        <p:nvSpPr>
          <p:cNvPr id="39" name="Text 36"/>
          <p:cNvSpPr/>
          <p:nvPr/>
        </p:nvSpPr>
        <p:spPr>
          <a:xfrm>
            <a:off x="4496197" y="4711799"/>
            <a:ext cx="406698" cy="211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975" dirty="0"/>
          </a:p>
        </p:txBody>
      </p:sp>
      <p:sp>
        <p:nvSpPr>
          <p:cNvPr id="40" name="Text 37"/>
          <p:cNvSpPr/>
          <p:nvPr/>
        </p:nvSpPr>
        <p:spPr>
          <a:xfrm>
            <a:off x="4902895" y="4711799"/>
            <a:ext cx="427236" cy="211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Cakes</a:t>
            </a:r>
            <a:endParaRPr lang="en-US" sz="975" dirty="0"/>
          </a:p>
        </p:txBody>
      </p:sp>
      <p:sp>
        <p:nvSpPr>
          <p:cNvPr id="41" name="Text 38"/>
          <p:cNvSpPr/>
          <p:nvPr/>
        </p:nvSpPr>
        <p:spPr>
          <a:xfrm>
            <a:off x="5330130" y="4711799"/>
            <a:ext cx="427137" cy="211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</a:t>
            </a:r>
            <a:endParaRPr lang="en-US" sz="975" dirty="0"/>
          </a:p>
        </p:txBody>
      </p:sp>
      <p:sp>
        <p:nvSpPr>
          <p:cNvPr id="42" name="Text 39"/>
          <p:cNvSpPr/>
          <p:nvPr/>
        </p:nvSpPr>
        <p:spPr>
          <a:xfrm>
            <a:off x="5757267" y="4711799"/>
            <a:ext cx="427137" cy="21193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Drinks</a:t>
            </a:r>
            <a:endParaRPr lang="en-US" sz="975" dirty="0"/>
          </a:p>
        </p:txBody>
      </p:sp>
      <p:sp>
        <p:nvSpPr>
          <p:cNvPr id="43" name="Shape 40"/>
          <p:cNvSpPr/>
          <p:nvPr/>
        </p:nvSpPr>
        <p:spPr>
          <a:xfrm>
            <a:off x="3924300" y="5869881"/>
            <a:ext cx="278130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44" name="Text 41"/>
          <p:cNvSpPr/>
          <p:nvPr/>
        </p:nvSpPr>
        <p:spPr>
          <a:xfrm>
            <a:off x="3924300" y="5107881"/>
            <a:ext cx="20955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 Loaf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3924300" y="5293618"/>
            <a:ext cx="20955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Slow-fermented, crusty</a:t>
            </a:r>
            <a:endParaRPr lang="en-US" sz="825" dirty="0"/>
          </a:p>
        </p:txBody>
      </p:sp>
      <p:sp>
        <p:nvSpPr>
          <p:cNvPr id="46" name="Text 43"/>
          <p:cNvSpPr/>
          <p:nvPr/>
        </p:nvSpPr>
        <p:spPr>
          <a:xfrm>
            <a:off x="3924300" y="5462687"/>
            <a:ext cx="20955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8,000</a:t>
            </a:r>
            <a:endParaRPr lang="en-US" sz="975" dirty="0"/>
          </a:p>
        </p:txBody>
      </p:sp>
      <p:sp>
        <p:nvSpPr>
          <p:cNvPr id="47" name="Shape 44"/>
          <p:cNvSpPr/>
          <p:nvPr/>
        </p:nvSpPr>
        <p:spPr>
          <a:xfrm>
            <a:off x="6038850" y="5107881"/>
            <a:ext cx="666750" cy="666750"/>
          </a:xfrm>
          <a:prstGeom prst="roundRect">
            <a:avLst>
              <a:gd name="adj" fmla="val 5714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4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1550" y="5120580"/>
            <a:ext cx="641350" cy="641350"/>
          </a:xfrm>
          <a:prstGeom prst="rect">
            <a:avLst/>
          </a:prstGeom>
        </p:spPr>
      </p:pic>
      <p:sp>
        <p:nvSpPr>
          <p:cNvPr id="49" name="Shape 45"/>
          <p:cNvSpPr/>
          <p:nvPr/>
        </p:nvSpPr>
        <p:spPr>
          <a:xfrm>
            <a:off x="6508750" y="5577780"/>
            <a:ext cx="254000" cy="254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6483350" y="5590480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20" dirty="0"/>
          </a:p>
        </p:txBody>
      </p:sp>
      <p:sp>
        <p:nvSpPr>
          <p:cNvPr id="51" name="Shape 47"/>
          <p:cNvSpPr/>
          <p:nvPr/>
        </p:nvSpPr>
        <p:spPr>
          <a:xfrm>
            <a:off x="3924300" y="6733481"/>
            <a:ext cx="278130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52" name="Text 48"/>
          <p:cNvSpPr/>
          <p:nvPr/>
        </p:nvSpPr>
        <p:spPr>
          <a:xfrm>
            <a:off x="3924300" y="5971481"/>
            <a:ext cx="20955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Cinnamon Rolls (6)</a:t>
            </a:r>
            <a:endParaRPr lang="en-US" sz="1050" dirty="0"/>
          </a:p>
        </p:txBody>
      </p:sp>
      <p:sp>
        <p:nvSpPr>
          <p:cNvPr id="53" name="Text 49"/>
          <p:cNvSpPr/>
          <p:nvPr/>
        </p:nvSpPr>
        <p:spPr>
          <a:xfrm>
            <a:off x="3924300" y="6157218"/>
            <a:ext cx="20955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Warm, gooey, fresh daily</a:t>
            </a:r>
            <a:endParaRPr lang="en-US" sz="825" dirty="0"/>
          </a:p>
        </p:txBody>
      </p:sp>
      <p:sp>
        <p:nvSpPr>
          <p:cNvPr id="54" name="Text 50"/>
          <p:cNvSpPr/>
          <p:nvPr/>
        </p:nvSpPr>
        <p:spPr>
          <a:xfrm>
            <a:off x="3924300" y="6326287"/>
            <a:ext cx="20955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12,000</a:t>
            </a:r>
            <a:endParaRPr lang="en-US" sz="975" dirty="0"/>
          </a:p>
        </p:txBody>
      </p:sp>
      <p:sp>
        <p:nvSpPr>
          <p:cNvPr id="55" name="Shape 51"/>
          <p:cNvSpPr/>
          <p:nvPr/>
        </p:nvSpPr>
        <p:spPr>
          <a:xfrm>
            <a:off x="6038850" y="5971481"/>
            <a:ext cx="666750" cy="666750"/>
          </a:xfrm>
          <a:prstGeom prst="roundRect">
            <a:avLst>
              <a:gd name="adj" fmla="val 5714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5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1550" y="5984181"/>
            <a:ext cx="641350" cy="641350"/>
          </a:xfrm>
          <a:prstGeom prst="rect">
            <a:avLst/>
          </a:prstGeom>
        </p:spPr>
      </p:pic>
      <p:sp>
        <p:nvSpPr>
          <p:cNvPr id="57" name="Shape 52"/>
          <p:cNvSpPr/>
          <p:nvPr/>
        </p:nvSpPr>
        <p:spPr>
          <a:xfrm>
            <a:off x="6508750" y="6441381"/>
            <a:ext cx="254000" cy="254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6483350" y="6454081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20" dirty="0"/>
          </a:p>
        </p:txBody>
      </p:sp>
      <p:sp>
        <p:nvSpPr>
          <p:cNvPr id="59" name="Text 54"/>
          <p:cNvSpPr/>
          <p:nvPr/>
        </p:nvSpPr>
        <p:spPr>
          <a:xfrm>
            <a:off x="3924300" y="6835080"/>
            <a:ext cx="20955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Chocolate Cake</a:t>
            </a:r>
            <a:endParaRPr lang="en-US" sz="1050" dirty="0"/>
          </a:p>
        </p:txBody>
      </p:sp>
      <p:sp>
        <p:nvSpPr>
          <p:cNvPr id="60" name="Text 55"/>
          <p:cNvSpPr/>
          <p:nvPr/>
        </p:nvSpPr>
        <p:spPr>
          <a:xfrm>
            <a:off x="3924300" y="7020818"/>
            <a:ext cx="20955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sizes · custom message</a:t>
            </a:r>
            <a:endParaRPr lang="en-US" sz="825" dirty="0"/>
          </a:p>
        </p:txBody>
      </p:sp>
      <p:sp>
        <p:nvSpPr>
          <p:cNvPr id="61" name="Text 56"/>
          <p:cNvSpPr/>
          <p:nvPr/>
        </p:nvSpPr>
        <p:spPr>
          <a:xfrm>
            <a:off x="3924300" y="7189887"/>
            <a:ext cx="20955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UGX 45,000</a:t>
            </a:r>
            <a:endParaRPr lang="en-US" sz="975" dirty="0"/>
          </a:p>
        </p:txBody>
      </p:sp>
      <p:sp>
        <p:nvSpPr>
          <p:cNvPr id="62" name="Shape 57"/>
          <p:cNvSpPr/>
          <p:nvPr/>
        </p:nvSpPr>
        <p:spPr>
          <a:xfrm>
            <a:off x="6038850" y="6835080"/>
            <a:ext cx="666750" cy="666750"/>
          </a:xfrm>
          <a:prstGeom prst="roundRect">
            <a:avLst>
              <a:gd name="adj" fmla="val 5714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6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550" y="6847781"/>
            <a:ext cx="641350" cy="641350"/>
          </a:xfrm>
          <a:prstGeom prst="rect">
            <a:avLst/>
          </a:prstGeom>
        </p:spPr>
      </p:pic>
      <p:sp>
        <p:nvSpPr>
          <p:cNvPr id="64" name="Shape 58"/>
          <p:cNvSpPr/>
          <p:nvPr/>
        </p:nvSpPr>
        <p:spPr>
          <a:xfrm>
            <a:off x="6508750" y="7304981"/>
            <a:ext cx="254000" cy="25400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65" name="Text 59"/>
          <p:cNvSpPr/>
          <p:nvPr/>
        </p:nvSpPr>
        <p:spPr>
          <a:xfrm>
            <a:off x="6483350" y="7317681"/>
            <a:ext cx="30480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720" dirty="0"/>
          </a:p>
        </p:txBody>
      </p:sp>
      <p:sp>
        <p:nvSpPr>
          <p:cNvPr id="66" name="Shape 60"/>
          <p:cNvSpPr/>
          <p:nvPr/>
        </p:nvSpPr>
        <p:spPr>
          <a:xfrm>
            <a:off x="3790950" y="8032849"/>
            <a:ext cx="3048000" cy="472281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67" name="Shape 61"/>
          <p:cNvSpPr/>
          <p:nvPr/>
        </p:nvSpPr>
        <p:spPr>
          <a:xfrm>
            <a:off x="3790950" y="8032849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8" name="Shape 62"/>
          <p:cNvSpPr/>
          <p:nvPr/>
        </p:nvSpPr>
        <p:spPr>
          <a:xfrm>
            <a:off x="3886200" y="8140800"/>
            <a:ext cx="2857500" cy="269081"/>
          </a:xfrm>
          <a:prstGeom prst="roundRect">
            <a:avLst>
              <a:gd name="adj" fmla="val 28319"/>
            </a:avLst>
          </a:prstGeom>
          <a:solidFill>
            <a:srgbClr val="D97757"/>
          </a:solidFill>
          <a:ln/>
        </p:spPr>
      </p:sp>
      <p:sp>
        <p:nvSpPr>
          <p:cNvPr id="69" name="Text 63"/>
          <p:cNvSpPr/>
          <p:nvPr/>
        </p:nvSpPr>
        <p:spPr>
          <a:xfrm>
            <a:off x="4000500" y="8203903"/>
            <a:ext cx="11752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items · UGX 20,000</a:t>
            </a:r>
            <a:endParaRPr lang="en-US" sz="900" dirty="0"/>
          </a:p>
        </p:txBody>
      </p:sp>
      <p:sp>
        <p:nvSpPr>
          <p:cNvPr id="70" name="Text 64"/>
          <p:cNvSpPr/>
          <p:nvPr/>
        </p:nvSpPr>
        <p:spPr>
          <a:xfrm>
            <a:off x="5964138" y="8197950"/>
            <a:ext cx="741462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cart →</a:t>
            </a:r>
            <a:endParaRPr lang="en-US" sz="975" dirty="0"/>
          </a:p>
        </p:txBody>
      </p:sp>
      <p:sp>
        <p:nvSpPr>
          <p:cNvPr id="71" name="Text 65"/>
          <p:cNvSpPr/>
          <p:nvPr/>
        </p:nvSpPr>
        <p:spPr>
          <a:xfrm rot="180000">
            <a:off x="6191250" y="3647232"/>
            <a:ext cx="7429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per-bakery theme color + logo</a:t>
            </a:r>
            <a:endParaRPr lang="en-US" sz="1200" dirty="0"/>
          </a:p>
        </p:txBody>
      </p:sp>
      <p:sp>
        <p:nvSpPr>
          <p:cNvPr id="72" name="Text 66"/>
          <p:cNvSpPr/>
          <p:nvPr/>
        </p:nvSpPr>
        <p:spPr>
          <a:xfrm rot="-180000">
            <a:off x="3771900" y="4982666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tabs scroll to section</a:t>
            </a:r>
            <a:endParaRPr lang="en-US" sz="1200" dirty="0"/>
          </a:p>
        </p:txBody>
      </p:sp>
      <p:sp>
        <p:nvSpPr>
          <p:cNvPr id="73" name="Text 67"/>
          <p:cNvSpPr/>
          <p:nvPr/>
        </p:nvSpPr>
        <p:spPr>
          <a:xfrm>
            <a:off x="4243586" y="8943281"/>
            <a:ext cx="2180729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Hero + sticky tabs</a:t>
            </a:r>
            <a:endParaRPr lang="en-US" sz="2100" dirty="0"/>
          </a:p>
        </p:txBody>
      </p:sp>
      <p:sp>
        <p:nvSpPr>
          <p:cNvPr id="74" name="Text 68"/>
          <p:cNvSpPr/>
          <p:nvPr/>
        </p:nvSpPr>
        <p:spPr>
          <a:xfrm>
            <a:off x="7848005" y="1841500"/>
            <a:ext cx="2591892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Photo-grid menu (visual browse)</a:t>
            </a:r>
            <a:endParaRPr lang="en-US" sz="1200" dirty="0"/>
          </a:p>
        </p:txBody>
      </p:sp>
      <p:sp>
        <p:nvSpPr>
          <p:cNvPr id="75" name="Shape 69"/>
          <p:cNvSpPr/>
          <p:nvPr/>
        </p:nvSpPr>
        <p:spPr>
          <a:xfrm>
            <a:off x="75057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88582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77" name="Shape 71"/>
          <p:cNvSpPr/>
          <p:nvPr/>
        </p:nvSpPr>
        <p:spPr>
          <a:xfrm>
            <a:off x="76390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78" name="Text 72"/>
          <p:cNvSpPr/>
          <p:nvPr/>
        </p:nvSpPr>
        <p:spPr>
          <a:xfrm>
            <a:off x="77533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79" name="Text 73"/>
          <p:cNvSpPr/>
          <p:nvPr/>
        </p:nvSpPr>
        <p:spPr>
          <a:xfrm>
            <a:off x="100392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80" name="Shape 74"/>
          <p:cNvSpPr/>
          <p:nvPr/>
        </p:nvSpPr>
        <p:spPr>
          <a:xfrm>
            <a:off x="7639050" y="359658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1" name="Shape 75"/>
          <p:cNvSpPr/>
          <p:nvPr/>
        </p:nvSpPr>
        <p:spPr>
          <a:xfrm>
            <a:off x="7772400" y="2742506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2" name="Text 76"/>
          <p:cNvSpPr/>
          <p:nvPr/>
        </p:nvSpPr>
        <p:spPr>
          <a:xfrm>
            <a:off x="7747000" y="275520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780" dirty="0"/>
          </a:p>
        </p:txBody>
      </p:sp>
      <p:sp>
        <p:nvSpPr>
          <p:cNvPr id="83" name="Shape 77"/>
          <p:cNvSpPr/>
          <p:nvPr/>
        </p:nvSpPr>
        <p:spPr>
          <a:xfrm>
            <a:off x="8121650" y="2694881"/>
            <a:ext cx="368300" cy="368300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4" name="Text 78"/>
          <p:cNvSpPr/>
          <p:nvPr/>
        </p:nvSpPr>
        <p:spPr>
          <a:xfrm>
            <a:off x="8096250" y="270758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1080" dirty="0"/>
          </a:p>
        </p:txBody>
      </p:sp>
      <p:sp>
        <p:nvSpPr>
          <p:cNvPr id="85" name="Text 79"/>
          <p:cNvSpPr/>
          <p:nvPr/>
        </p:nvSpPr>
        <p:spPr>
          <a:xfrm>
            <a:off x="8566150" y="2736156"/>
            <a:ext cx="17145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1050" dirty="0"/>
          </a:p>
        </p:txBody>
      </p:sp>
      <p:sp>
        <p:nvSpPr>
          <p:cNvPr id="86" name="Text 80"/>
          <p:cNvSpPr/>
          <p:nvPr/>
        </p:nvSpPr>
        <p:spPr>
          <a:xfrm>
            <a:off x="8566150" y="2905224"/>
            <a:ext cx="147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87" name="Text 81"/>
          <p:cNvSpPr/>
          <p:nvPr/>
        </p:nvSpPr>
        <p:spPr>
          <a:xfrm>
            <a:off x="8656638" y="2905224"/>
            <a:ext cx="147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88" name="Text 82"/>
          <p:cNvSpPr/>
          <p:nvPr/>
        </p:nvSpPr>
        <p:spPr>
          <a:xfrm>
            <a:off x="8747125" y="2905224"/>
            <a:ext cx="147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89" name="Text 83"/>
          <p:cNvSpPr/>
          <p:nvPr/>
        </p:nvSpPr>
        <p:spPr>
          <a:xfrm>
            <a:off x="8837613" y="2905224"/>
            <a:ext cx="147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90" name="Text 84"/>
          <p:cNvSpPr/>
          <p:nvPr/>
        </p:nvSpPr>
        <p:spPr>
          <a:xfrm>
            <a:off x="8928100" y="2905224"/>
            <a:ext cx="14763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675" dirty="0"/>
          </a:p>
        </p:txBody>
      </p:sp>
      <p:sp>
        <p:nvSpPr>
          <p:cNvPr id="91" name="Text 85"/>
          <p:cNvSpPr/>
          <p:nvPr/>
        </p:nvSpPr>
        <p:spPr>
          <a:xfrm>
            <a:off x="9056688" y="2902843"/>
            <a:ext cx="896739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 · 0.8km · 20min</a:t>
            </a:r>
            <a:endParaRPr lang="en-US" sz="750" dirty="0"/>
          </a:p>
        </p:txBody>
      </p:sp>
      <p:sp>
        <p:nvSpPr>
          <p:cNvPr id="92" name="Shape 86"/>
          <p:cNvSpPr/>
          <p:nvPr/>
        </p:nvSpPr>
        <p:spPr>
          <a:xfrm>
            <a:off x="10280650" y="2742506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10255250" y="2755206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♡</a:t>
            </a:r>
            <a:endParaRPr lang="en-US" sz="780" dirty="0"/>
          </a:p>
        </p:txBody>
      </p:sp>
      <p:sp>
        <p:nvSpPr>
          <p:cNvPr id="94" name="Shape 88"/>
          <p:cNvSpPr/>
          <p:nvPr/>
        </p:nvSpPr>
        <p:spPr>
          <a:xfrm>
            <a:off x="7772400" y="3139380"/>
            <a:ext cx="340916" cy="361950"/>
          </a:xfrm>
          <a:prstGeom prst="ellipse">
            <a:avLst/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5" name="Text 89"/>
          <p:cNvSpPr/>
          <p:nvPr/>
        </p:nvSpPr>
        <p:spPr>
          <a:xfrm>
            <a:off x="7874000" y="3174306"/>
            <a:ext cx="213916" cy="330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24</a:t>
            </a:r>
            <a:endParaRPr lang="en-US" sz="975" dirty="0"/>
          </a:p>
        </p:txBody>
      </p:sp>
      <p:sp>
        <p:nvSpPr>
          <p:cNvPr id="96" name="Shape 90"/>
          <p:cNvSpPr/>
          <p:nvPr/>
        </p:nvSpPr>
        <p:spPr>
          <a:xfrm>
            <a:off x="8170466" y="3139380"/>
            <a:ext cx="533698" cy="3619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97" name="Text 91"/>
          <p:cNvSpPr/>
          <p:nvPr/>
        </p:nvSpPr>
        <p:spPr>
          <a:xfrm>
            <a:off x="8272066" y="3247331"/>
            <a:ext cx="406698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975" dirty="0"/>
          </a:p>
        </p:txBody>
      </p:sp>
      <p:sp>
        <p:nvSpPr>
          <p:cNvPr id="98" name="Shape 92"/>
          <p:cNvSpPr/>
          <p:nvPr/>
        </p:nvSpPr>
        <p:spPr>
          <a:xfrm>
            <a:off x="8761313" y="3139380"/>
            <a:ext cx="554236" cy="3619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99" name="Text 93"/>
          <p:cNvSpPr/>
          <p:nvPr/>
        </p:nvSpPr>
        <p:spPr>
          <a:xfrm>
            <a:off x="8862914" y="3247331"/>
            <a:ext cx="427236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Cakes</a:t>
            </a:r>
            <a:endParaRPr lang="en-US" sz="975" dirty="0"/>
          </a:p>
        </p:txBody>
      </p:sp>
      <p:sp>
        <p:nvSpPr>
          <p:cNvPr id="100" name="Shape 94"/>
          <p:cNvSpPr/>
          <p:nvPr/>
        </p:nvSpPr>
        <p:spPr>
          <a:xfrm>
            <a:off x="9372699" y="3139380"/>
            <a:ext cx="554137" cy="3619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01" name="Text 95"/>
          <p:cNvSpPr/>
          <p:nvPr/>
        </p:nvSpPr>
        <p:spPr>
          <a:xfrm>
            <a:off x="9474300" y="3247331"/>
            <a:ext cx="427137" cy="184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</a:t>
            </a:r>
            <a:endParaRPr lang="en-US" sz="975" dirty="0"/>
          </a:p>
        </p:txBody>
      </p:sp>
      <p:sp>
        <p:nvSpPr>
          <p:cNvPr id="102" name="Shape 96"/>
          <p:cNvSpPr/>
          <p:nvPr/>
        </p:nvSpPr>
        <p:spPr>
          <a:xfrm>
            <a:off x="9983986" y="3139380"/>
            <a:ext cx="629940" cy="361950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10085587" y="3164781"/>
            <a:ext cx="502940" cy="34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Popular</a:t>
            </a:r>
            <a:endParaRPr lang="en-US" sz="975" dirty="0"/>
          </a:p>
        </p:txBody>
      </p:sp>
      <p:sp>
        <p:nvSpPr>
          <p:cNvPr id="104" name="Shape 98"/>
          <p:cNvSpPr/>
          <p:nvPr/>
        </p:nvSpPr>
        <p:spPr>
          <a:xfrm>
            <a:off x="7734300" y="3704531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0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40650" y="3710880"/>
            <a:ext cx="1377950" cy="838200"/>
          </a:xfrm>
          <a:prstGeom prst="rect">
            <a:avLst/>
          </a:prstGeom>
        </p:spPr>
      </p:pic>
      <p:sp>
        <p:nvSpPr>
          <p:cNvPr id="106" name="Shape 99"/>
          <p:cNvSpPr/>
          <p:nvPr/>
        </p:nvSpPr>
        <p:spPr>
          <a:xfrm>
            <a:off x="8845550" y="3748980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07" name="Text 100"/>
          <p:cNvSpPr/>
          <p:nvPr/>
        </p:nvSpPr>
        <p:spPr>
          <a:xfrm>
            <a:off x="8820150" y="37616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08" name="Shape 101"/>
          <p:cNvSpPr/>
          <p:nvPr/>
        </p:nvSpPr>
        <p:spPr>
          <a:xfrm>
            <a:off x="7778750" y="3748980"/>
            <a:ext cx="667048" cy="114300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109" name="Text 102"/>
          <p:cNvSpPr/>
          <p:nvPr/>
        </p:nvSpPr>
        <p:spPr>
          <a:xfrm>
            <a:off x="7835900" y="3758505"/>
            <a:ext cx="628948" cy="133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BESTSELLER</a:t>
            </a:r>
            <a:endParaRPr lang="en-US" sz="675" dirty="0"/>
          </a:p>
        </p:txBody>
      </p:sp>
      <p:sp>
        <p:nvSpPr>
          <p:cNvPr id="110" name="Text 103"/>
          <p:cNvSpPr/>
          <p:nvPr/>
        </p:nvSpPr>
        <p:spPr>
          <a:xfrm>
            <a:off x="7797800" y="4606230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</a:t>
            </a:r>
            <a:endParaRPr lang="en-US" sz="900" dirty="0"/>
          </a:p>
        </p:txBody>
      </p:sp>
      <p:sp>
        <p:nvSpPr>
          <p:cNvPr id="111" name="Text 104"/>
          <p:cNvSpPr/>
          <p:nvPr/>
        </p:nvSpPr>
        <p:spPr>
          <a:xfrm>
            <a:off x="7797800" y="4749105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UGX8k</a:t>
            </a:r>
            <a:endParaRPr lang="en-US" sz="825" dirty="0"/>
          </a:p>
        </p:txBody>
      </p:sp>
      <p:sp>
        <p:nvSpPr>
          <p:cNvPr id="112" name="Shape 105"/>
          <p:cNvSpPr/>
          <p:nvPr/>
        </p:nvSpPr>
        <p:spPr>
          <a:xfrm>
            <a:off x="9201150" y="3704531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7500" y="3710880"/>
            <a:ext cx="1377950" cy="838200"/>
          </a:xfrm>
          <a:prstGeom prst="rect">
            <a:avLst/>
          </a:prstGeom>
        </p:spPr>
      </p:pic>
      <p:sp>
        <p:nvSpPr>
          <p:cNvPr id="114" name="Shape 106"/>
          <p:cNvSpPr/>
          <p:nvPr/>
        </p:nvSpPr>
        <p:spPr>
          <a:xfrm>
            <a:off x="10312401" y="3748980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5" name="Text 107"/>
          <p:cNvSpPr/>
          <p:nvPr/>
        </p:nvSpPr>
        <p:spPr>
          <a:xfrm>
            <a:off x="10287001" y="37616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16" name="Text 108"/>
          <p:cNvSpPr/>
          <p:nvPr/>
        </p:nvSpPr>
        <p:spPr>
          <a:xfrm>
            <a:off x="9264650" y="4606230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Rye Loaf</a:t>
            </a:r>
            <a:endParaRPr lang="en-US" sz="900" dirty="0"/>
          </a:p>
        </p:txBody>
      </p:sp>
      <p:sp>
        <p:nvSpPr>
          <p:cNvPr id="117" name="Text 109"/>
          <p:cNvSpPr/>
          <p:nvPr/>
        </p:nvSpPr>
        <p:spPr>
          <a:xfrm>
            <a:off x="9264650" y="4749105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UGX9k</a:t>
            </a:r>
            <a:endParaRPr lang="en-US" sz="825" dirty="0"/>
          </a:p>
        </p:txBody>
      </p:sp>
      <p:sp>
        <p:nvSpPr>
          <p:cNvPr id="118" name="Shape 110"/>
          <p:cNvSpPr/>
          <p:nvPr/>
        </p:nvSpPr>
        <p:spPr>
          <a:xfrm>
            <a:off x="7734300" y="5019774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1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40650" y="5026125"/>
            <a:ext cx="1377950" cy="838200"/>
          </a:xfrm>
          <a:prstGeom prst="rect">
            <a:avLst/>
          </a:prstGeom>
        </p:spPr>
      </p:pic>
      <p:sp>
        <p:nvSpPr>
          <p:cNvPr id="120" name="Shape 111"/>
          <p:cNvSpPr/>
          <p:nvPr/>
        </p:nvSpPr>
        <p:spPr>
          <a:xfrm>
            <a:off x="8845550" y="5064225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21" name="Text 112"/>
          <p:cNvSpPr/>
          <p:nvPr/>
        </p:nvSpPr>
        <p:spPr>
          <a:xfrm>
            <a:off x="8820150" y="507692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22" name="Text 113"/>
          <p:cNvSpPr/>
          <p:nvPr/>
        </p:nvSpPr>
        <p:spPr>
          <a:xfrm>
            <a:off x="7797800" y="5921475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Cinnamon Roll</a:t>
            </a:r>
            <a:endParaRPr lang="en-US" sz="900" dirty="0"/>
          </a:p>
        </p:txBody>
      </p:sp>
      <p:sp>
        <p:nvSpPr>
          <p:cNvPr id="123" name="Text 114"/>
          <p:cNvSpPr/>
          <p:nvPr/>
        </p:nvSpPr>
        <p:spPr>
          <a:xfrm>
            <a:off x="7797800" y="6064350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UGX2.5k</a:t>
            </a:r>
            <a:endParaRPr lang="en-US" sz="825" dirty="0"/>
          </a:p>
        </p:txBody>
      </p:sp>
      <p:sp>
        <p:nvSpPr>
          <p:cNvPr id="124" name="Shape 115"/>
          <p:cNvSpPr/>
          <p:nvPr/>
        </p:nvSpPr>
        <p:spPr>
          <a:xfrm>
            <a:off x="9201150" y="5019774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7500" y="5026125"/>
            <a:ext cx="1377950" cy="838200"/>
          </a:xfrm>
          <a:prstGeom prst="rect">
            <a:avLst/>
          </a:prstGeom>
        </p:spPr>
      </p:pic>
      <p:sp>
        <p:nvSpPr>
          <p:cNvPr id="126" name="Shape 116"/>
          <p:cNvSpPr/>
          <p:nvPr/>
        </p:nvSpPr>
        <p:spPr>
          <a:xfrm>
            <a:off x="10312401" y="5064225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27" name="Text 117"/>
          <p:cNvSpPr/>
          <p:nvPr/>
        </p:nvSpPr>
        <p:spPr>
          <a:xfrm>
            <a:off x="10287001" y="507692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28" name="Text 118"/>
          <p:cNvSpPr/>
          <p:nvPr/>
        </p:nvSpPr>
        <p:spPr>
          <a:xfrm>
            <a:off x="9264650" y="5921475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 Cake S</a:t>
            </a:r>
            <a:endParaRPr lang="en-US" sz="900" dirty="0"/>
          </a:p>
        </p:txBody>
      </p:sp>
      <p:sp>
        <p:nvSpPr>
          <p:cNvPr id="129" name="Text 119"/>
          <p:cNvSpPr/>
          <p:nvPr/>
        </p:nvSpPr>
        <p:spPr>
          <a:xfrm>
            <a:off x="9264650" y="6064350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UGX45k</a:t>
            </a:r>
            <a:endParaRPr lang="en-US" sz="825" dirty="0"/>
          </a:p>
        </p:txBody>
      </p:sp>
      <p:sp>
        <p:nvSpPr>
          <p:cNvPr id="130" name="Shape 120"/>
          <p:cNvSpPr/>
          <p:nvPr/>
        </p:nvSpPr>
        <p:spPr>
          <a:xfrm>
            <a:off x="7734300" y="6335018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40650" y="6341368"/>
            <a:ext cx="1377950" cy="838200"/>
          </a:xfrm>
          <a:prstGeom prst="rect">
            <a:avLst/>
          </a:prstGeom>
        </p:spPr>
      </p:pic>
      <p:sp>
        <p:nvSpPr>
          <p:cNvPr id="132" name="Shape 121"/>
          <p:cNvSpPr/>
          <p:nvPr/>
        </p:nvSpPr>
        <p:spPr>
          <a:xfrm>
            <a:off x="8845550" y="6379468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33" name="Text 122"/>
          <p:cNvSpPr/>
          <p:nvPr/>
        </p:nvSpPr>
        <p:spPr>
          <a:xfrm>
            <a:off x="8820150" y="639216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34" name="Text 123"/>
          <p:cNvSpPr/>
          <p:nvPr/>
        </p:nvSpPr>
        <p:spPr>
          <a:xfrm>
            <a:off x="7797800" y="7236718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Croissant</a:t>
            </a:r>
            <a:endParaRPr lang="en-US" sz="900" dirty="0"/>
          </a:p>
        </p:txBody>
      </p:sp>
      <p:sp>
        <p:nvSpPr>
          <p:cNvPr id="135" name="Text 124"/>
          <p:cNvSpPr/>
          <p:nvPr/>
        </p:nvSpPr>
        <p:spPr>
          <a:xfrm>
            <a:off x="7797800" y="7379593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UGX3k</a:t>
            </a:r>
            <a:endParaRPr lang="en-US" sz="825" dirty="0"/>
          </a:p>
        </p:txBody>
      </p:sp>
      <p:sp>
        <p:nvSpPr>
          <p:cNvPr id="136" name="Shape 125"/>
          <p:cNvSpPr/>
          <p:nvPr/>
        </p:nvSpPr>
        <p:spPr>
          <a:xfrm>
            <a:off x="9201150" y="6335018"/>
            <a:ext cx="1390650" cy="1239044"/>
          </a:xfrm>
          <a:prstGeom prst="roundRect">
            <a:avLst>
              <a:gd name="adj" fmla="val 6150"/>
            </a:avLst>
          </a:prstGeom>
          <a:ln w="6350">
            <a:solidFill>
              <a:srgbClr val="1C1917"/>
            </a:solidFill>
            <a:prstDash val="solid"/>
          </a:ln>
        </p:spPr>
      </p:sp>
      <p:pic>
        <p:nvPicPr>
          <p:cNvPr id="13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07500" y="6341368"/>
            <a:ext cx="1377950" cy="838200"/>
          </a:xfrm>
          <a:prstGeom prst="rect">
            <a:avLst/>
          </a:prstGeom>
        </p:spPr>
      </p:pic>
      <p:sp>
        <p:nvSpPr>
          <p:cNvPr id="138" name="Shape 126"/>
          <p:cNvSpPr/>
          <p:nvPr/>
        </p:nvSpPr>
        <p:spPr>
          <a:xfrm>
            <a:off x="10312401" y="6379468"/>
            <a:ext cx="234950" cy="234950"/>
          </a:xfrm>
          <a:prstGeom prst="ellipse">
            <a:avLst/>
          </a:prstGeom>
          <a:solidFill>
            <a:srgbClr val="FBFAF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39" name="Text 127"/>
          <p:cNvSpPr/>
          <p:nvPr/>
        </p:nvSpPr>
        <p:spPr>
          <a:xfrm>
            <a:off x="10287001" y="6392168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050" dirty="0"/>
          </a:p>
        </p:txBody>
      </p:sp>
      <p:sp>
        <p:nvSpPr>
          <p:cNvPr id="140" name="Text 128"/>
          <p:cNvSpPr/>
          <p:nvPr/>
        </p:nvSpPr>
        <p:spPr>
          <a:xfrm>
            <a:off x="9264650" y="7236718"/>
            <a:ext cx="133985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 Bread</a:t>
            </a:r>
            <a:endParaRPr lang="en-US" sz="900" dirty="0"/>
          </a:p>
        </p:txBody>
      </p:sp>
      <p:sp>
        <p:nvSpPr>
          <p:cNvPr id="141" name="Text 129"/>
          <p:cNvSpPr/>
          <p:nvPr/>
        </p:nvSpPr>
        <p:spPr>
          <a:xfrm>
            <a:off x="9264650" y="7379593"/>
            <a:ext cx="13398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UGX6k</a:t>
            </a:r>
            <a:endParaRPr lang="en-US" sz="825" dirty="0"/>
          </a:p>
        </p:txBody>
      </p:sp>
      <p:sp>
        <p:nvSpPr>
          <p:cNvPr id="142" name="Shape 130"/>
          <p:cNvSpPr/>
          <p:nvPr/>
        </p:nvSpPr>
        <p:spPr>
          <a:xfrm>
            <a:off x="7639050" y="7984431"/>
            <a:ext cx="3048000" cy="5207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43" name="Shape 131"/>
          <p:cNvSpPr/>
          <p:nvPr/>
        </p:nvSpPr>
        <p:spPr>
          <a:xfrm>
            <a:off x="7639050" y="79844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4" name="Shape 132"/>
          <p:cNvSpPr/>
          <p:nvPr/>
        </p:nvSpPr>
        <p:spPr>
          <a:xfrm>
            <a:off x="7734300" y="8092380"/>
            <a:ext cx="2857500" cy="317500"/>
          </a:xfrm>
          <a:prstGeom prst="roundRect">
            <a:avLst>
              <a:gd name="adj" fmla="val 18000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45" name="Text 133"/>
          <p:cNvSpPr/>
          <p:nvPr/>
        </p:nvSpPr>
        <p:spPr>
          <a:xfrm>
            <a:off x="8400752" y="8162231"/>
            <a:ext cx="1600696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🛒 Cart (3) · UGX 28,000</a:t>
            </a:r>
            <a:endParaRPr lang="en-US" sz="1050" dirty="0"/>
          </a:p>
        </p:txBody>
      </p:sp>
      <p:sp>
        <p:nvSpPr>
          <p:cNvPr id="146" name="Text 134"/>
          <p:cNvSpPr/>
          <p:nvPr/>
        </p:nvSpPr>
        <p:spPr>
          <a:xfrm rot="180000">
            <a:off x="10086975" y="3553916"/>
            <a:ext cx="695325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card → variant modal</a:t>
            </a:r>
            <a:endParaRPr lang="en-US" sz="1200" dirty="0"/>
          </a:p>
        </p:txBody>
      </p:sp>
      <p:sp>
        <p:nvSpPr>
          <p:cNvPr id="147" name="Text 135"/>
          <p:cNvSpPr/>
          <p:nvPr/>
        </p:nvSpPr>
        <p:spPr>
          <a:xfrm rot="-180000">
            <a:off x="7620000" y="4503589"/>
            <a:ext cx="69532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quick-add from grid</a:t>
            </a:r>
            <a:endParaRPr lang="en-US" sz="1200" dirty="0"/>
          </a:p>
        </p:txBody>
      </p:sp>
      <p:sp>
        <p:nvSpPr>
          <p:cNvPr id="148" name="Text 136"/>
          <p:cNvSpPr/>
          <p:nvPr/>
        </p:nvSpPr>
        <p:spPr>
          <a:xfrm>
            <a:off x="8455621" y="8943281"/>
            <a:ext cx="1452959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Photo grid</a:t>
            </a:r>
            <a:endParaRPr lang="en-US" sz="2100" dirty="0"/>
          </a:p>
        </p:txBody>
      </p:sp>
      <p:sp>
        <p:nvSpPr>
          <p:cNvPr id="149" name="Text 137"/>
          <p:cNvSpPr/>
          <p:nvPr/>
        </p:nvSpPr>
        <p:spPr>
          <a:xfrm>
            <a:off x="11812488" y="1841500"/>
            <a:ext cx="2359223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Featured hero + category rail</a:t>
            </a:r>
            <a:endParaRPr lang="en-US" sz="1200" dirty="0"/>
          </a:p>
        </p:txBody>
      </p:sp>
      <p:sp>
        <p:nvSpPr>
          <p:cNvPr id="150" name="Shape 138"/>
          <p:cNvSpPr/>
          <p:nvPr/>
        </p:nvSpPr>
        <p:spPr>
          <a:xfrm>
            <a:off x="113538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51" name="Shape 139"/>
          <p:cNvSpPr/>
          <p:nvPr/>
        </p:nvSpPr>
        <p:spPr>
          <a:xfrm>
            <a:off x="127063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152" name="Shape 140"/>
          <p:cNvSpPr/>
          <p:nvPr/>
        </p:nvSpPr>
        <p:spPr>
          <a:xfrm>
            <a:off x="114871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53" name="Text 141"/>
          <p:cNvSpPr/>
          <p:nvPr/>
        </p:nvSpPr>
        <p:spPr>
          <a:xfrm>
            <a:off x="116014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54" name="Text 142"/>
          <p:cNvSpPr/>
          <p:nvPr/>
        </p:nvSpPr>
        <p:spPr>
          <a:xfrm>
            <a:off x="138873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55" name="Shape 143"/>
          <p:cNvSpPr/>
          <p:nvPr/>
        </p:nvSpPr>
        <p:spPr>
          <a:xfrm>
            <a:off x="11620500" y="269488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56" name="Text 144"/>
          <p:cNvSpPr/>
          <p:nvPr/>
        </p:nvSpPr>
        <p:spPr>
          <a:xfrm>
            <a:off x="11595100" y="270758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780" dirty="0"/>
          </a:p>
        </p:txBody>
      </p:sp>
      <p:sp>
        <p:nvSpPr>
          <p:cNvPr id="157" name="Text 145"/>
          <p:cNvSpPr/>
          <p:nvPr/>
        </p:nvSpPr>
        <p:spPr>
          <a:xfrm>
            <a:off x="11969751" y="2742109"/>
            <a:ext cx="2159000" cy="2166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 Bakery</a:t>
            </a:r>
            <a:endParaRPr lang="en-US" sz="1125" dirty="0"/>
          </a:p>
        </p:txBody>
      </p:sp>
      <p:sp>
        <p:nvSpPr>
          <p:cNvPr id="158" name="Shape 146"/>
          <p:cNvSpPr/>
          <p:nvPr/>
        </p:nvSpPr>
        <p:spPr>
          <a:xfrm>
            <a:off x="14128750" y="269488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59" name="Text 147"/>
          <p:cNvSpPr/>
          <p:nvPr/>
        </p:nvSpPr>
        <p:spPr>
          <a:xfrm>
            <a:off x="14103350" y="270758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ⓘ</a:t>
            </a:r>
            <a:endParaRPr lang="en-US" sz="780" dirty="0"/>
          </a:p>
        </p:txBody>
      </p:sp>
      <p:sp>
        <p:nvSpPr>
          <p:cNvPr id="160" name="Shape 148"/>
          <p:cNvSpPr/>
          <p:nvPr/>
        </p:nvSpPr>
        <p:spPr>
          <a:xfrm>
            <a:off x="11620500" y="3063180"/>
            <a:ext cx="2781300" cy="939800"/>
          </a:xfrm>
          <a:prstGeom prst="roundRect">
            <a:avLst>
              <a:gd name="adj" fmla="val 10135"/>
            </a:avLst>
          </a:prstGeom>
          <a:solidFill>
            <a:srgbClr val="D97757">
              <a:alpha val="6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61" name="Shape 149"/>
          <p:cNvSpPr/>
          <p:nvPr/>
        </p:nvSpPr>
        <p:spPr>
          <a:xfrm>
            <a:off x="11709400" y="3152081"/>
            <a:ext cx="762000" cy="762000"/>
          </a:xfrm>
          <a:prstGeom prst="roundRect">
            <a:avLst>
              <a:gd name="adj" fmla="val 5000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6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722101" y="3164781"/>
            <a:ext cx="736600" cy="736600"/>
          </a:xfrm>
          <a:prstGeom prst="rect">
            <a:avLst/>
          </a:prstGeom>
        </p:spPr>
      </p:pic>
      <p:sp>
        <p:nvSpPr>
          <p:cNvPr id="163" name="Text 150"/>
          <p:cNvSpPr/>
          <p:nvPr/>
        </p:nvSpPr>
        <p:spPr>
          <a:xfrm>
            <a:off x="12547600" y="3152081"/>
            <a:ext cx="18415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TODAY'S SPECIAL</a:t>
            </a:r>
            <a:endParaRPr lang="en-US" sz="750" dirty="0"/>
          </a:p>
        </p:txBody>
      </p:sp>
      <p:sp>
        <p:nvSpPr>
          <p:cNvPr id="164" name="Text 151"/>
          <p:cNvSpPr/>
          <p:nvPr/>
        </p:nvSpPr>
        <p:spPr>
          <a:xfrm>
            <a:off x="12547600" y="3271143"/>
            <a:ext cx="18415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 Cake Combo</a:t>
            </a:r>
            <a:endParaRPr lang="en-US" sz="1050" dirty="0"/>
          </a:p>
        </p:txBody>
      </p:sp>
      <p:sp>
        <p:nvSpPr>
          <p:cNvPr id="165" name="Text 152"/>
          <p:cNvSpPr/>
          <p:nvPr/>
        </p:nvSpPr>
        <p:spPr>
          <a:xfrm>
            <a:off x="12547600" y="3437831"/>
            <a:ext cx="18415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1kg cake + 6 cupcakes</a:t>
            </a:r>
            <a:endParaRPr lang="en-US" sz="750" dirty="0"/>
          </a:p>
        </p:txBody>
      </p:sp>
      <p:sp>
        <p:nvSpPr>
          <p:cNvPr id="166" name="Text 153"/>
          <p:cNvSpPr/>
          <p:nvPr/>
        </p:nvSpPr>
        <p:spPr>
          <a:xfrm>
            <a:off x="12547600" y="3640237"/>
            <a:ext cx="75773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</a:t>
            </a:r>
            <a:endParaRPr lang="en-US" sz="750" dirty="0"/>
          </a:p>
        </p:txBody>
      </p:sp>
      <p:sp>
        <p:nvSpPr>
          <p:cNvPr id="167" name="Text 154"/>
          <p:cNvSpPr/>
          <p:nvPr/>
        </p:nvSpPr>
        <p:spPr>
          <a:xfrm>
            <a:off x="12547600" y="3759299"/>
            <a:ext cx="75773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48,000</a:t>
            </a:r>
            <a:endParaRPr lang="en-US" sz="975" dirty="0"/>
          </a:p>
        </p:txBody>
      </p:sp>
      <p:sp>
        <p:nvSpPr>
          <p:cNvPr id="168" name="Shape 155"/>
          <p:cNvSpPr/>
          <p:nvPr/>
        </p:nvSpPr>
        <p:spPr>
          <a:xfrm>
            <a:off x="13893602" y="3659684"/>
            <a:ext cx="419298" cy="234950"/>
          </a:xfrm>
          <a:prstGeom prst="roundRect">
            <a:avLst>
              <a:gd name="adj" fmla="val 24324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69" name="Text 156"/>
          <p:cNvSpPr/>
          <p:nvPr/>
        </p:nvSpPr>
        <p:spPr>
          <a:xfrm>
            <a:off x="14001552" y="3710484"/>
            <a:ext cx="279598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</a:t>
            </a:r>
            <a:endParaRPr lang="en-US" sz="900" dirty="0"/>
          </a:p>
        </p:txBody>
      </p:sp>
      <p:sp>
        <p:nvSpPr>
          <p:cNvPr id="170" name="Shape 157"/>
          <p:cNvSpPr/>
          <p:nvPr/>
        </p:nvSpPr>
        <p:spPr>
          <a:xfrm>
            <a:off x="11487150" y="4098231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71" name="Shape 158"/>
          <p:cNvSpPr/>
          <p:nvPr/>
        </p:nvSpPr>
        <p:spPr>
          <a:xfrm>
            <a:off x="12153900" y="4110930"/>
            <a:ext cx="12700" cy="36195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72" name="Shape 159"/>
          <p:cNvSpPr/>
          <p:nvPr/>
        </p:nvSpPr>
        <p:spPr>
          <a:xfrm>
            <a:off x="11487150" y="4187130"/>
            <a:ext cx="666750" cy="283369"/>
          </a:xfrm>
          <a:prstGeom prst="rect">
            <a:avLst/>
          </a:prstGeom>
          <a:solidFill>
            <a:srgbClr val="D97757">
              <a:alpha val="12000"/>
            </a:srgbClr>
          </a:solidFill>
          <a:ln/>
        </p:spPr>
      </p:sp>
      <p:sp>
        <p:nvSpPr>
          <p:cNvPr id="173" name="Shape 160"/>
          <p:cNvSpPr/>
          <p:nvPr/>
        </p:nvSpPr>
        <p:spPr>
          <a:xfrm>
            <a:off x="11487150" y="4187130"/>
            <a:ext cx="25400" cy="283369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4" name="Text 161"/>
          <p:cNvSpPr/>
          <p:nvPr/>
        </p:nvSpPr>
        <p:spPr>
          <a:xfrm>
            <a:off x="11569701" y="4263330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Featured</a:t>
            </a:r>
            <a:endParaRPr lang="en-US" sz="825" dirty="0"/>
          </a:p>
        </p:txBody>
      </p:sp>
      <p:sp>
        <p:nvSpPr>
          <p:cNvPr id="175" name="Text 162"/>
          <p:cNvSpPr/>
          <p:nvPr/>
        </p:nvSpPr>
        <p:spPr>
          <a:xfrm>
            <a:off x="11569701" y="4546699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</a:t>
            </a:r>
            <a:endParaRPr lang="en-US" sz="825" dirty="0"/>
          </a:p>
        </p:txBody>
      </p:sp>
      <p:sp>
        <p:nvSpPr>
          <p:cNvPr id="176" name="Text 163"/>
          <p:cNvSpPr/>
          <p:nvPr/>
        </p:nvSpPr>
        <p:spPr>
          <a:xfrm>
            <a:off x="11569701" y="4830068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Cakes</a:t>
            </a:r>
            <a:endParaRPr lang="en-US" sz="825" dirty="0"/>
          </a:p>
        </p:txBody>
      </p:sp>
      <p:sp>
        <p:nvSpPr>
          <p:cNvPr id="177" name="Text 164"/>
          <p:cNvSpPr/>
          <p:nvPr/>
        </p:nvSpPr>
        <p:spPr>
          <a:xfrm>
            <a:off x="11569701" y="5113437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</a:t>
            </a:r>
            <a:endParaRPr lang="en-US" sz="825" dirty="0"/>
          </a:p>
        </p:txBody>
      </p:sp>
      <p:sp>
        <p:nvSpPr>
          <p:cNvPr id="178" name="Text 165"/>
          <p:cNvSpPr/>
          <p:nvPr/>
        </p:nvSpPr>
        <p:spPr>
          <a:xfrm>
            <a:off x="11569701" y="5396805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Cookies</a:t>
            </a:r>
            <a:endParaRPr lang="en-US" sz="825" dirty="0"/>
          </a:p>
        </p:txBody>
      </p:sp>
      <p:sp>
        <p:nvSpPr>
          <p:cNvPr id="179" name="Text 166"/>
          <p:cNvSpPr/>
          <p:nvPr/>
        </p:nvSpPr>
        <p:spPr>
          <a:xfrm>
            <a:off x="11569701" y="5680174"/>
            <a:ext cx="60325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Drinks</a:t>
            </a:r>
            <a:endParaRPr lang="en-US" sz="825" dirty="0"/>
          </a:p>
        </p:txBody>
      </p:sp>
      <p:sp>
        <p:nvSpPr>
          <p:cNvPr id="180" name="Shape 167"/>
          <p:cNvSpPr/>
          <p:nvPr/>
        </p:nvSpPr>
        <p:spPr>
          <a:xfrm>
            <a:off x="12261850" y="4720530"/>
            <a:ext cx="217805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81" name="Shape 168"/>
          <p:cNvSpPr/>
          <p:nvPr/>
        </p:nvSpPr>
        <p:spPr>
          <a:xfrm>
            <a:off x="12261850" y="4206180"/>
            <a:ext cx="457200" cy="457200"/>
          </a:xfrm>
          <a:prstGeom prst="roundRect">
            <a:avLst>
              <a:gd name="adj" fmla="val 833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8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2274551" y="4218881"/>
            <a:ext cx="431800" cy="431800"/>
          </a:xfrm>
          <a:prstGeom prst="rect">
            <a:avLst/>
          </a:prstGeom>
        </p:spPr>
      </p:pic>
      <p:sp>
        <p:nvSpPr>
          <p:cNvPr id="183" name="Text 169"/>
          <p:cNvSpPr/>
          <p:nvPr/>
        </p:nvSpPr>
        <p:spPr>
          <a:xfrm>
            <a:off x="12795250" y="4206180"/>
            <a:ext cx="1409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</a:t>
            </a:r>
            <a:endParaRPr lang="en-US" sz="900" dirty="0"/>
          </a:p>
        </p:txBody>
      </p:sp>
      <p:sp>
        <p:nvSpPr>
          <p:cNvPr id="184" name="Text 170"/>
          <p:cNvSpPr/>
          <p:nvPr/>
        </p:nvSpPr>
        <p:spPr>
          <a:xfrm>
            <a:off x="12795250" y="4349055"/>
            <a:ext cx="14097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Crusty, slow-rise</a:t>
            </a:r>
            <a:endParaRPr lang="en-US" sz="750" dirty="0"/>
          </a:p>
        </p:txBody>
      </p:sp>
      <p:sp>
        <p:nvSpPr>
          <p:cNvPr id="185" name="Text 171"/>
          <p:cNvSpPr/>
          <p:nvPr/>
        </p:nvSpPr>
        <p:spPr>
          <a:xfrm>
            <a:off x="12795250" y="4468118"/>
            <a:ext cx="14097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UGX8,000</a:t>
            </a:r>
            <a:endParaRPr lang="en-US" sz="825" dirty="0"/>
          </a:p>
        </p:txBody>
      </p:sp>
      <p:sp>
        <p:nvSpPr>
          <p:cNvPr id="186" name="Shape 172"/>
          <p:cNvSpPr/>
          <p:nvPr/>
        </p:nvSpPr>
        <p:spPr>
          <a:xfrm>
            <a:off x="14204950" y="4206180"/>
            <a:ext cx="234950" cy="2349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87" name="Text 173"/>
          <p:cNvSpPr/>
          <p:nvPr/>
        </p:nvSpPr>
        <p:spPr>
          <a:xfrm>
            <a:off x="14179550" y="42188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60" dirty="0"/>
          </a:p>
        </p:txBody>
      </p:sp>
      <p:sp>
        <p:nvSpPr>
          <p:cNvPr id="188" name="Shape 174"/>
          <p:cNvSpPr/>
          <p:nvPr/>
        </p:nvSpPr>
        <p:spPr>
          <a:xfrm>
            <a:off x="12261850" y="5336481"/>
            <a:ext cx="217805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89" name="Shape 175"/>
          <p:cNvSpPr/>
          <p:nvPr/>
        </p:nvSpPr>
        <p:spPr>
          <a:xfrm>
            <a:off x="12261850" y="4822131"/>
            <a:ext cx="457200" cy="457200"/>
          </a:xfrm>
          <a:prstGeom prst="roundRect">
            <a:avLst>
              <a:gd name="adj" fmla="val 833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90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74551" y="4834830"/>
            <a:ext cx="431800" cy="431800"/>
          </a:xfrm>
          <a:prstGeom prst="rect">
            <a:avLst/>
          </a:prstGeom>
        </p:spPr>
      </p:pic>
      <p:sp>
        <p:nvSpPr>
          <p:cNvPr id="191" name="Text 176"/>
          <p:cNvSpPr/>
          <p:nvPr/>
        </p:nvSpPr>
        <p:spPr>
          <a:xfrm>
            <a:off x="12795250" y="4822131"/>
            <a:ext cx="1409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Whole wheat</a:t>
            </a:r>
            <a:endParaRPr lang="en-US" sz="900" dirty="0"/>
          </a:p>
        </p:txBody>
      </p:sp>
      <p:sp>
        <p:nvSpPr>
          <p:cNvPr id="192" name="Text 177"/>
          <p:cNvSpPr/>
          <p:nvPr/>
        </p:nvSpPr>
        <p:spPr>
          <a:xfrm>
            <a:off x="12795250" y="4965006"/>
            <a:ext cx="14097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Healthier option</a:t>
            </a:r>
            <a:endParaRPr lang="en-US" sz="750" dirty="0"/>
          </a:p>
        </p:txBody>
      </p:sp>
      <p:sp>
        <p:nvSpPr>
          <p:cNvPr id="193" name="Text 178"/>
          <p:cNvSpPr/>
          <p:nvPr/>
        </p:nvSpPr>
        <p:spPr>
          <a:xfrm>
            <a:off x="12795250" y="5084068"/>
            <a:ext cx="14097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UGX7,500</a:t>
            </a:r>
            <a:endParaRPr lang="en-US" sz="825" dirty="0"/>
          </a:p>
        </p:txBody>
      </p:sp>
      <p:sp>
        <p:nvSpPr>
          <p:cNvPr id="194" name="Shape 179"/>
          <p:cNvSpPr/>
          <p:nvPr/>
        </p:nvSpPr>
        <p:spPr>
          <a:xfrm>
            <a:off x="14204950" y="4822131"/>
            <a:ext cx="234950" cy="2349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95" name="Text 180"/>
          <p:cNvSpPr/>
          <p:nvPr/>
        </p:nvSpPr>
        <p:spPr>
          <a:xfrm>
            <a:off x="14179550" y="483483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60" dirty="0"/>
          </a:p>
        </p:txBody>
      </p:sp>
      <p:sp>
        <p:nvSpPr>
          <p:cNvPr id="196" name="Shape 181"/>
          <p:cNvSpPr/>
          <p:nvPr/>
        </p:nvSpPr>
        <p:spPr>
          <a:xfrm>
            <a:off x="12261850" y="5438081"/>
            <a:ext cx="457200" cy="457200"/>
          </a:xfrm>
          <a:prstGeom prst="roundRect">
            <a:avLst>
              <a:gd name="adj" fmla="val 8333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197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274551" y="5450781"/>
            <a:ext cx="431800" cy="431800"/>
          </a:xfrm>
          <a:prstGeom prst="rect">
            <a:avLst/>
          </a:prstGeom>
        </p:spPr>
      </p:pic>
      <p:sp>
        <p:nvSpPr>
          <p:cNvPr id="198" name="Text 182"/>
          <p:cNvSpPr/>
          <p:nvPr/>
        </p:nvSpPr>
        <p:spPr>
          <a:xfrm>
            <a:off x="12795250" y="5438081"/>
            <a:ext cx="14097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Cinnamon Roll</a:t>
            </a:r>
            <a:endParaRPr lang="en-US" sz="900" dirty="0"/>
          </a:p>
        </p:txBody>
      </p:sp>
      <p:sp>
        <p:nvSpPr>
          <p:cNvPr id="199" name="Text 183"/>
          <p:cNvSpPr/>
          <p:nvPr/>
        </p:nvSpPr>
        <p:spPr>
          <a:xfrm>
            <a:off x="12795250" y="5580956"/>
            <a:ext cx="14097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 &amp; gooey</a:t>
            </a:r>
            <a:endParaRPr lang="en-US" sz="750" dirty="0"/>
          </a:p>
        </p:txBody>
      </p:sp>
      <p:sp>
        <p:nvSpPr>
          <p:cNvPr id="200" name="Text 184"/>
          <p:cNvSpPr/>
          <p:nvPr/>
        </p:nvSpPr>
        <p:spPr>
          <a:xfrm>
            <a:off x="12795250" y="5700018"/>
            <a:ext cx="1409700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UGX2,500</a:t>
            </a:r>
            <a:endParaRPr lang="en-US" sz="825" dirty="0"/>
          </a:p>
        </p:txBody>
      </p:sp>
      <p:sp>
        <p:nvSpPr>
          <p:cNvPr id="201" name="Shape 185"/>
          <p:cNvSpPr/>
          <p:nvPr/>
        </p:nvSpPr>
        <p:spPr>
          <a:xfrm>
            <a:off x="14204950" y="5438081"/>
            <a:ext cx="234950" cy="2349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2" name="Text 186"/>
          <p:cNvSpPr/>
          <p:nvPr/>
        </p:nvSpPr>
        <p:spPr>
          <a:xfrm>
            <a:off x="14179550" y="5450781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660" dirty="0"/>
          </a:p>
        </p:txBody>
      </p:sp>
      <p:sp>
        <p:nvSpPr>
          <p:cNvPr id="203" name="Shape 187"/>
          <p:cNvSpPr/>
          <p:nvPr/>
        </p:nvSpPr>
        <p:spPr>
          <a:xfrm>
            <a:off x="11487150" y="8009831"/>
            <a:ext cx="3048000" cy="4953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204" name="Shape 188"/>
          <p:cNvSpPr/>
          <p:nvPr/>
        </p:nvSpPr>
        <p:spPr>
          <a:xfrm>
            <a:off x="11487150" y="80098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5" name="Shape 189"/>
          <p:cNvSpPr/>
          <p:nvPr/>
        </p:nvSpPr>
        <p:spPr>
          <a:xfrm>
            <a:off x="11582400" y="8117781"/>
            <a:ext cx="1390650" cy="292100"/>
          </a:xfrm>
          <a:prstGeom prst="roundRect">
            <a:avLst>
              <a:gd name="adj" fmla="val 1956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06" name="Text 190"/>
          <p:cNvSpPr/>
          <p:nvPr/>
        </p:nvSpPr>
        <p:spPr>
          <a:xfrm>
            <a:off x="11949014" y="8187630"/>
            <a:ext cx="733524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menu</a:t>
            </a:r>
            <a:endParaRPr lang="en-US" sz="1050" dirty="0"/>
          </a:p>
        </p:txBody>
      </p:sp>
      <p:sp>
        <p:nvSpPr>
          <p:cNvPr id="207" name="Shape 191"/>
          <p:cNvSpPr/>
          <p:nvPr/>
        </p:nvSpPr>
        <p:spPr>
          <a:xfrm>
            <a:off x="13049250" y="8117781"/>
            <a:ext cx="1390650" cy="292100"/>
          </a:xfrm>
          <a:prstGeom prst="roundRect">
            <a:avLst>
              <a:gd name="adj" fmla="val 1956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08" name="Text 192"/>
          <p:cNvSpPr/>
          <p:nvPr/>
        </p:nvSpPr>
        <p:spPr>
          <a:xfrm>
            <a:off x="13522226" y="8187630"/>
            <a:ext cx="5207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· 3</a:t>
            </a:r>
            <a:endParaRPr lang="en-US" sz="1050" dirty="0"/>
          </a:p>
        </p:txBody>
      </p:sp>
      <p:sp>
        <p:nvSpPr>
          <p:cNvPr id="209" name="Text 193"/>
          <p:cNvSpPr/>
          <p:nvPr/>
        </p:nvSpPr>
        <p:spPr>
          <a:xfrm rot="180000">
            <a:off x="13868400" y="3360589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/ upsell slot</a:t>
            </a:r>
            <a:endParaRPr lang="en-US" sz="1200" dirty="0"/>
          </a:p>
        </p:txBody>
      </p:sp>
      <p:sp>
        <p:nvSpPr>
          <p:cNvPr id="210" name="Text 194"/>
          <p:cNvSpPr/>
          <p:nvPr/>
        </p:nvSpPr>
        <p:spPr>
          <a:xfrm rot="-180000">
            <a:off x="11468100" y="4598839"/>
            <a:ext cx="6477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sticky category rail</a:t>
            </a:r>
            <a:endParaRPr lang="en-US" sz="1200" dirty="0"/>
          </a:p>
        </p:txBody>
      </p:sp>
      <p:sp>
        <p:nvSpPr>
          <p:cNvPr id="211" name="Text 195"/>
          <p:cNvSpPr/>
          <p:nvPr/>
        </p:nvSpPr>
        <p:spPr>
          <a:xfrm>
            <a:off x="12100917" y="8943281"/>
            <a:ext cx="1858566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Featured + rail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5505977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5505977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 · MoMo / Airtel / Bank / Cash · webhook confirmation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405398" y="850900"/>
            <a:ext cx="2196802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MOBILE · 3 DIRECTIONS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114205" y="1841500"/>
            <a:ext cx="2363292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Single-page checkout (scroll)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101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37909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0" name="Text 8"/>
          <p:cNvSpPr/>
          <p:nvPr/>
        </p:nvSpPr>
        <p:spPr>
          <a:xfrm>
            <a:off x="39052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61911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3790950" y="302508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3" name="Shape 11"/>
          <p:cNvSpPr/>
          <p:nvPr/>
        </p:nvSpPr>
        <p:spPr>
          <a:xfrm>
            <a:off x="3924300" y="267583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98900" y="268853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4273550" y="2717106"/>
            <a:ext cx="72003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Checkout</a:t>
            </a: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73550" y="2888556"/>
            <a:ext cx="643830" cy="5715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3790950" y="4426049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8" name="Text 15"/>
          <p:cNvSpPr/>
          <p:nvPr/>
        </p:nvSpPr>
        <p:spPr>
          <a:xfrm>
            <a:off x="3924300" y="3133031"/>
            <a:ext cx="176827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SWEET CRUMBS · 2 ITEMS</a:t>
            </a:r>
            <a:endParaRPr lang="en-US" sz="825" dirty="0"/>
          </a:p>
        </p:txBody>
      </p:sp>
      <p:sp>
        <p:nvSpPr>
          <p:cNvPr id="19" name="Text 16"/>
          <p:cNvSpPr/>
          <p:nvPr/>
        </p:nvSpPr>
        <p:spPr>
          <a:xfrm>
            <a:off x="6525022" y="3133031"/>
            <a:ext cx="256778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</a:t>
            </a:r>
            <a:endParaRPr lang="en-US" sz="825" dirty="0"/>
          </a:p>
        </p:txBody>
      </p:sp>
      <p:sp>
        <p:nvSpPr>
          <p:cNvPr id="20" name="Shape 17"/>
          <p:cNvSpPr/>
          <p:nvPr/>
        </p:nvSpPr>
        <p:spPr>
          <a:xfrm>
            <a:off x="3924300" y="3340199"/>
            <a:ext cx="419100" cy="419100"/>
          </a:xfrm>
          <a:prstGeom prst="roundRect">
            <a:avLst>
              <a:gd name="adj" fmla="val 9091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7000" y="3352899"/>
            <a:ext cx="393700" cy="3937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438650" y="3340199"/>
            <a:ext cx="1635125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 Loaf</a:t>
            </a:r>
            <a:endParaRPr lang="en-US" sz="975" dirty="0"/>
          </a:p>
        </p:txBody>
      </p:sp>
      <p:sp>
        <p:nvSpPr>
          <p:cNvPr id="23" name="Text 19"/>
          <p:cNvSpPr/>
          <p:nvPr/>
        </p:nvSpPr>
        <p:spPr>
          <a:xfrm>
            <a:off x="4438650" y="3494981"/>
            <a:ext cx="1635125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Qty1</a:t>
            </a:r>
            <a:endParaRPr lang="en-US" sz="825" dirty="0"/>
          </a:p>
        </p:txBody>
      </p:sp>
      <p:sp>
        <p:nvSpPr>
          <p:cNvPr id="24" name="Text 20"/>
          <p:cNvSpPr/>
          <p:nvPr/>
        </p:nvSpPr>
        <p:spPr>
          <a:xfrm>
            <a:off x="6092825" y="3340199"/>
            <a:ext cx="68897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UGX8,000</a:t>
            </a:r>
            <a:endParaRPr lang="en-US" sz="975" dirty="0"/>
          </a:p>
        </p:txBody>
      </p:sp>
      <p:sp>
        <p:nvSpPr>
          <p:cNvPr id="25" name="Shape 21"/>
          <p:cNvSpPr/>
          <p:nvPr/>
        </p:nvSpPr>
        <p:spPr>
          <a:xfrm>
            <a:off x="3924300" y="3835499"/>
            <a:ext cx="419100" cy="419100"/>
          </a:xfrm>
          <a:prstGeom prst="roundRect">
            <a:avLst>
              <a:gd name="adj" fmla="val 9091"/>
            </a:avLst>
          </a:prstGeom>
          <a:ln w="12700">
            <a:solidFill>
              <a:srgbClr val="1C1917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7000" y="3848199"/>
            <a:ext cx="393700" cy="3937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4438650" y="3835499"/>
            <a:ext cx="156626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Cinnamon Rolls x2</a:t>
            </a:r>
            <a:endParaRPr lang="en-US" sz="975" dirty="0"/>
          </a:p>
        </p:txBody>
      </p:sp>
      <p:sp>
        <p:nvSpPr>
          <p:cNvPr id="28" name="Text 23"/>
          <p:cNvSpPr/>
          <p:nvPr/>
        </p:nvSpPr>
        <p:spPr>
          <a:xfrm>
            <a:off x="4438650" y="3990281"/>
            <a:ext cx="1566267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Qty2</a:t>
            </a:r>
            <a:endParaRPr lang="en-US" sz="825" dirty="0"/>
          </a:p>
        </p:txBody>
      </p:sp>
      <p:sp>
        <p:nvSpPr>
          <p:cNvPr id="29" name="Text 24"/>
          <p:cNvSpPr/>
          <p:nvPr/>
        </p:nvSpPr>
        <p:spPr>
          <a:xfrm>
            <a:off x="6023967" y="3835499"/>
            <a:ext cx="757833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UGX24,000</a:t>
            </a:r>
            <a:endParaRPr lang="en-US" sz="975" dirty="0"/>
          </a:p>
        </p:txBody>
      </p:sp>
      <p:sp>
        <p:nvSpPr>
          <p:cNvPr id="30" name="Shape 25"/>
          <p:cNvSpPr/>
          <p:nvPr/>
        </p:nvSpPr>
        <p:spPr>
          <a:xfrm>
            <a:off x="3790950" y="5103118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1" name="Text 26"/>
          <p:cNvSpPr/>
          <p:nvPr/>
        </p:nvSpPr>
        <p:spPr>
          <a:xfrm>
            <a:off x="3924300" y="4533999"/>
            <a:ext cx="286473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 TO</a:t>
            </a:r>
            <a:endParaRPr lang="en-US" sz="825" dirty="0"/>
          </a:p>
        </p:txBody>
      </p:sp>
      <p:sp>
        <p:nvSpPr>
          <p:cNvPr id="32" name="Text 27"/>
          <p:cNvSpPr/>
          <p:nvPr/>
        </p:nvSpPr>
        <p:spPr>
          <a:xfrm>
            <a:off x="3924300" y="4722118"/>
            <a:ext cx="1524496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Plot 14, Kololo Avenue</a:t>
            </a:r>
            <a:endParaRPr lang="en-US" sz="975" dirty="0"/>
          </a:p>
        </p:txBody>
      </p:sp>
      <p:sp>
        <p:nvSpPr>
          <p:cNvPr id="33" name="Text 28"/>
          <p:cNvSpPr/>
          <p:nvPr/>
        </p:nvSpPr>
        <p:spPr>
          <a:xfrm>
            <a:off x="3924300" y="4876899"/>
            <a:ext cx="1524496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20-30 min · 🛵 boda</a:t>
            </a:r>
            <a:endParaRPr lang="en-US" sz="825" dirty="0"/>
          </a:p>
        </p:txBody>
      </p:sp>
      <p:sp>
        <p:nvSpPr>
          <p:cNvPr id="34" name="Text 29"/>
          <p:cNvSpPr/>
          <p:nvPr/>
        </p:nvSpPr>
        <p:spPr>
          <a:xfrm>
            <a:off x="6361807" y="4799509"/>
            <a:ext cx="419993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change</a:t>
            </a:r>
            <a:endParaRPr lang="en-US" sz="825" dirty="0"/>
          </a:p>
        </p:txBody>
      </p:sp>
      <p:sp>
        <p:nvSpPr>
          <p:cNvPr id="35" name="Shape 30"/>
          <p:cNvSpPr/>
          <p:nvPr/>
        </p:nvSpPr>
        <p:spPr>
          <a:xfrm>
            <a:off x="3790950" y="7501037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6" name="Text 31"/>
          <p:cNvSpPr/>
          <p:nvPr/>
        </p:nvSpPr>
        <p:spPr>
          <a:xfrm>
            <a:off x="3924300" y="5211068"/>
            <a:ext cx="286473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METHOD</a:t>
            </a:r>
            <a:endParaRPr lang="en-US" sz="825" dirty="0"/>
          </a:p>
        </p:txBody>
      </p:sp>
      <p:sp>
        <p:nvSpPr>
          <p:cNvPr id="37" name="Shape 32"/>
          <p:cNvSpPr/>
          <p:nvPr/>
        </p:nvSpPr>
        <p:spPr>
          <a:xfrm>
            <a:off x="3924300" y="5418237"/>
            <a:ext cx="2781300" cy="439738"/>
          </a:xfrm>
          <a:prstGeom prst="roundRect">
            <a:avLst>
              <a:gd name="adj" fmla="val 17329"/>
            </a:avLst>
          </a:prstGeom>
          <a:solidFill>
            <a:srgbClr val="D97757">
              <a:alpha val="8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4013200" y="5530950"/>
            <a:ext cx="3116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350" dirty="0"/>
          </a:p>
        </p:txBody>
      </p:sp>
      <p:sp>
        <p:nvSpPr>
          <p:cNvPr id="39" name="Text 34"/>
          <p:cNvSpPr/>
          <p:nvPr/>
        </p:nvSpPr>
        <p:spPr>
          <a:xfrm>
            <a:off x="4343896" y="5507137"/>
            <a:ext cx="2075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Mobile Money</a:t>
            </a:r>
            <a:endParaRPr lang="en-US" sz="900" dirty="0"/>
          </a:p>
        </p:txBody>
      </p:sp>
      <p:sp>
        <p:nvSpPr>
          <p:cNvPr id="40" name="Text 35"/>
          <p:cNvSpPr/>
          <p:nvPr/>
        </p:nvSpPr>
        <p:spPr>
          <a:xfrm>
            <a:off x="4343896" y="5650012"/>
            <a:ext cx="207595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**** 4521</a:t>
            </a:r>
            <a:endParaRPr lang="en-US" sz="750" dirty="0"/>
          </a:p>
        </p:txBody>
      </p:sp>
      <p:sp>
        <p:nvSpPr>
          <p:cNvPr id="41" name="Shape 36"/>
          <p:cNvSpPr/>
          <p:nvPr/>
        </p:nvSpPr>
        <p:spPr>
          <a:xfrm>
            <a:off x="6438900" y="5549205"/>
            <a:ext cx="177800" cy="177800"/>
          </a:xfrm>
          <a:prstGeom prst="ellipse">
            <a:avLst/>
          </a:prstGeom>
          <a:ln w="12700">
            <a:solidFill>
              <a:srgbClr val="D97757"/>
            </a:solidFill>
            <a:prstDash val="solid"/>
          </a:ln>
        </p:spPr>
      </p:sp>
      <p:sp>
        <p:nvSpPr>
          <p:cNvPr id="42" name="Shape 37"/>
          <p:cNvSpPr/>
          <p:nvPr/>
        </p:nvSpPr>
        <p:spPr>
          <a:xfrm>
            <a:off x="6489700" y="5600006"/>
            <a:ext cx="76200" cy="76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43" name="Shape 38"/>
          <p:cNvSpPr/>
          <p:nvPr/>
        </p:nvSpPr>
        <p:spPr>
          <a:xfrm>
            <a:off x="3924300" y="5915124"/>
            <a:ext cx="2781300" cy="439738"/>
          </a:xfrm>
          <a:prstGeom prst="roundRect">
            <a:avLst>
              <a:gd name="adj" fmla="val 1732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4013200" y="6027837"/>
            <a:ext cx="3116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📱</a:t>
            </a:r>
            <a:endParaRPr lang="en-US" sz="1350" dirty="0"/>
          </a:p>
        </p:txBody>
      </p:sp>
      <p:sp>
        <p:nvSpPr>
          <p:cNvPr id="45" name="Text 40"/>
          <p:cNvSpPr/>
          <p:nvPr/>
        </p:nvSpPr>
        <p:spPr>
          <a:xfrm>
            <a:off x="4343896" y="6004024"/>
            <a:ext cx="2075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Money</a:t>
            </a:r>
            <a:endParaRPr lang="en-US" sz="900" dirty="0"/>
          </a:p>
        </p:txBody>
      </p:sp>
      <p:sp>
        <p:nvSpPr>
          <p:cNvPr id="46" name="Text 41"/>
          <p:cNvSpPr/>
          <p:nvPr/>
        </p:nvSpPr>
        <p:spPr>
          <a:xfrm>
            <a:off x="4343896" y="6146899"/>
            <a:ext cx="207595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number</a:t>
            </a:r>
            <a:endParaRPr lang="en-US" sz="750" dirty="0"/>
          </a:p>
        </p:txBody>
      </p:sp>
      <p:sp>
        <p:nvSpPr>
          <p:cNvPr id="47" name="Shape 42"/>
          <p:cNvSpPr/>
          <p:nvPr/>
        </p:nvSpPr>
        <p:spPr>
          <a:xfrm>
            <a:off x="6438900" y="6046093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8" name="Shape 43"/>
          <p:cNvSpPr/>
          <p:nvPr/>
        </p:nvSpPr>
        <p:spPr>
          <a:xfrm>
            <a:off x="3924300" y="6412012"/>
            <a:ext cx="2781300" cy="439738"/>
          </a:xfrm>
          <a:prstGeom prst="roundRect">
            <a:avLst>
              <a:gd name="adj" fmla="val 1732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4013200" y="6524724"/>
            <a:ext cx="3116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🏦</a:t>
            </a:r>
            <a:endParaRPr lang="en-US" sz="1350" dirty="0"/>
          </a:p>
        </p:txBody>
      </p:sp>
      <p:sp>
        <p:nvSpPr>
          <p:cNvPr id="50" name="Text 45"/>
          <p:cNvSpPr/>
          <p:nvPr/>
        </p:nvSpPr>
        <p:spPr>
          <a:xfrm>
            <a:off x="4343896" y="6500912"/>
            <a:ext cx="2075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</a:t>
            </a:r>
            <a:endParaRPr lang="en-US" sz="900" dirty="0"/>
          </a:p>
        </p:txBody>
      </p:sp>
      <p:sp>
        <p:nvSpPr>
          <p:cNvPr id="51" name="Text 46"/>
          <p:cNvSpPr/>
          <p:nvPr/>
        </p:nvSpPr>
        <p:spPr>
          <a:xfrm>
            <a:off x="4343896" y="6643787"/>
            <a:ext cx="207595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Stanbic, Centenary</a:t>
            </a:r>
            <a:endParaRPr lang="en-US" sz="750" dirty="0"/>
          </a:p>
        </p:txBody>
      </p:sp>
      <p:sp>
        <p:nvSpPr>
          <p:cNvPr id="52" name="Shape 47"/>
          <p:cNvSpPr/>
          <p:nvPr/>
        </p:nvSpPr>
        <p:spPr>
          <a:xfrm>
            <a:off x="6438900" y="6542981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924300" y="6908899"/>
            <a:ext cx="2781300" cy="439738"/>
          </a:xfrm>
          <a:prstGeom prst="roundRect">
            <a:avLst>
              <a:gd name="adj" fmla="val 1732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4" name="Text 49"/>
          <p:cNvSpPr/>
          <p:nvPr/>
        </p:nvSpPr>
        <p:spPr>
          <a:xfrm>
            <a:off x="4013200" y="7021612"/>
            <a:ext cx="311646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💵</a:t>
            </a:r>
            <a:endParaRPr lang="en-US" sz="1350" dirty="0"/>
          </a:p>
        </p:txBody>
      </p:sp>
      <p:sp>
        <p:nvSpPr>
          <p:cNvPr id="55" name="Text 50"/>
          <p:cNvSpPr/>
          <p:nvPr/>
        </p:nvSpPr>
        <p:spPr>
          <a:xfrm>
            <a:off x="4343896" y="6997800"/>
            <a:ext cx="2075954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900" dirty="0"/>
          </a:p>
        </p:txBody>
      </p:sp>
      <p:sp>
        <p:nvSpPr>
          <p:cNvPr id="56" name="Text 51"/>
          <p:cNvSpPr/>
          <p:nvPr/>
        </p:nvSpPr>
        <p:spPr>
          <a:xfrm>
            <a:off x="4343896" y="7140675"/>
            <a:ext cx="2075954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rider on arrival</a:t>
            </a:r>
            <a:endParaRPr lang="en-US" sz="750" dirty="0"/>
          </a:p>
        </p:txBody>
      </p:sp>
      <p:sp>
        <p:nvSpPr>
          <p:cNvPr id="57" name="Shape 52"/>
          <p:cNvSpPr/>
          <p:nvPr/>
        </p:nvSpPr>
        <p:spPr>
          <a:xfrm>
            <a:off x="6438900" y="7039868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3924300" y="7608987"/>
            <a:ext cx="49569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Subtotal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6076454" y="7608987"/>
            <a:ext cx="70534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UGX32,000</a:t>
            </a:r>
            <a:endParaRPr lang="en-US" sz="900" dirty="0"/>
          </a:p>
        </p:txBody>
      </p:sp>
      <p:sp>
        <p:nvSpPr>
          <p:cNvPr id="60" name="Text 55"/>
          <p:cNvSpPr/>
          <p:nvPr/>
        </p:nvSpPr>
        <p:spPr>
          <a:xfrm>
            <a:off x="3924300" y="7789962"/>
            <a:ext cx="4890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Delivery</a:t>
            </a:r>
            <a:endParaRPr lang="en-US" sz="900" dirty="0"/>
          </a:p>
        </p:txBody>
      </p:sp>
      <p:sp>
        <p:nvSpPr>
          <p:cNvPr id="61" name="Text 56"/>
          <p:cNvSpPr/>
          <p:nvPr/>
        </p:nvSpPr>
        <p:spPr>
          <a:xfrm>
            <a:off x="6140053" y="7789962"/>
            <a:ext cx="6417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UGX3,000</a:t>
            </a:r>
            <a:endParaRPr lang="en-US" sz="900" dirty="0"/>
          </a:p>
        </p:txBody>
      </p:sp>
      <p:sp>
        <p:nvSpPr>
          <p:cNvPr id="62" name="Text 57"/>
          <p:cNvSpPr/>
          <p:nvPr/>
        </p:nvSpPr>
        <p:spPr>
          <a:xfrm>
            <a:off x="3924300" y="7970937"/>
            <a:ext cx="647998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fee</a:t>
            </a:r>
            <a:endParaRPr lang="en-US" sz="900" dirty="0"/>
          </a:p>
        </p:txBody>
      </p:sp>
      <p:sp>
        <p:nvSpPr>
          <p:cNvPr id="63" name="Text 58"/>
          <p:cNvSpPr/>
          <p:nvPr/>
        </p:nvSpPr>
        <p:spPr>
          <a:xfrm>
            <a:off x="6140053" y="7970937"/>
            <a:ext cx="64174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UGX1,000</a:t>
            </a:r>
            <a:endParaRPr lang="en-US" sz="900" dirty="0"/>
          </a:p>
        </p:txBody>
      </p:sp>
      <p:sp>
        <p:nvSpPr>
          <p:cNvPr id="64" name="Shape 59"/>
          <p:cNvSpPr/>
          <p:nvPr/>
        </p:nvSpPr>
        <p:spPr>
          <a:xfrm>
            <a:off x="3924300" y="8170962"/>
            <a:ext cx="278130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65" name="Text 60"/>
          <p:cNvSpPr/>
          <p:nvPr/>
        </p:nvSpPr>
        <p:spPr>
          <a:xfrm>
            <a:off x="3924300" y="8234462"/>
            <a:ext cx="3578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1050" dirty="0"/>
          </a:p>
        </p:txBody>
      </p:sp>
      <p:sp>
        <p:nvSpPr>
          <p:cNvPr id="66" name="Text 61"/>
          <p:cNvSpPr/>
          <p:nvPr/>
        </p:nvSpPr>
        <p:spPr>
          <a:xfrm>
            <a:off x="5971679" y="8234462"/>
            <a:ext cx="81012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36,000</a:t>
            </a:r>
            <a:endParaRPr lang="en-US" sz="1050" dirty="0"/>
          </a:p>
        </p:txBody>
      </p:sp>
      <p:sp>
        <p:nvSpPr>
          <p:cNvPr id="67" name="Shape 62"/>
          <p:cNvSpPr/>
          <p:nvPr/>
        </p:nvSpPr>
        <p:spPr>
          <a:xfrm>
            <a:off x="3790950" y="7908231"/>
            <a:ext cx="3048000" cy="5969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68" name="Shape 63"/>
          <p:cNvSpPr/>
          <p:nvPr/>
        </p:nvSpPr>
        <p:spPr>
          <a:xfrm>
            <a:off x="3790950" y="79082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69" name="Shape 64"/>
          <p:cNvSpPr/>
          <p:nvPr/>
        </p:nvSpPr>
        <p:spPr>
          <a:xfrm>
            <a:off x="3886200" y="8016180"/>
            <a:ext cx="2857500" cy="393700"/>
          </a:xfrm>
          <a:prstGeom prst="roundRect">
            <a:avLst>
              <a:gd name="adj" fmla="val 14516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4438154" y="8124131"/>
            <a:ext cx="182969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 order · UGX 36,000</a:t>
            </a:r>
            <a:endParaRPr lang="en-US" sz="1200" dirty="0"/>
          </a:p>
        </p:txBody>
      </p:sp>
      <p:sp>
        <p:nvSpPr>
          <p:cNvPr id="71" name="Text 66"/>
          <p:cNvSpPr/>
          <p:nvPr/>
        </p:nvSpPr>
        <p:spPr>
          <a:xfrm rot="180000">
            <a:off x="6191250" y="4981624"/>
            <a:ext cx="742950" cy="1209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prompt → STK push → webhook ✅</a:t>
            </a:r>
            <a:endParaRPr lang="en-US" sz="1200" dirty="0"/>
          </a:p>
        </p:txBody>
      </p:sp>
      <p:sp>
        <p:nvSpPr>
          <p:cNvPr id="72" name="Text 67"/>
          <p:cNvSpPr/>
          <p:nvPr/>
        </p:nvSpPr>
        <p:spPr>
          <a:xfrm>
            <a:off x="4565352" y="8943281"/>
            <a:ext cx="1537196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Single-page</a:t>
            </a:r>
            <a:endParaRPr lang="en-US" sz="2100" dirty="0"/>
          </a:p>
        </p:txBody>
      </p:sp>
      <p:sp>
        <p:nvSpPr>
          <p:cNvPr id="73" name="Text 68"/>
          <p:cNvSpPr/>
          <p:nvPr/>
        </p:nvSpPr>
        <p:spPr>
          <a:xfrm>
            <a:off x="7669424" y="1841500"/>
            <a:ext cx="2949153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Stepped flow (showing payment step)</a:t>
            </a:r>
            <a:endParaRPr lang="en-US" sz="1200" dirty="0"/>
          </a:p>
        </p:txBody>
      </p:sp>
      <p:sp>
        <p:nvSpPr>
          <p:cNvPr id="74" name="Shape 69"/>
          <p:cNvSpPr/>
          <p:nvPr/>
        </p:nvSpPr>
        <p:spPr>
          <a:xfrm>
            <a:off x="75057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88582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76" name="Shape 71"/>
          <p:cNvSpPr/>
          <p:nvPr/>
        </p:nvSpPr>
        <p:spPr>
          <a:xfrm>
            <a:off x="76390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77" name="Text 72"/>
          <p:cNvSpPr/>
          <p:nvPr/>
        </p:nvSpPr>
        <p:spPr>
          <a:xfrm>
            <a:off x="77533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78" name="Text 73"/>
          <p:cNvSpPr/>
          <p:nvPr/>
        </p:nvSpPr>
        <p:spPr>
          <a:xfrm>
            <a:off x="100392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79" name="Shape 74"/>
          <p:cNvSpPr/>
          <p:nvPr/>
        </p:nvSpPr>
        <p:spPr>
          <a:xfrm>
            <a:off x="7639050" y="3519587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0" name="Shape 75"/>
          <p:cNvSpPr/>
          <p:nvPr/>
        </p:nvSpPr>
        <p:spPr>
          <a:xfrm>
            <a:off x="7772400" y="2675831"/>
            <a:ext cx="273050" cy="27305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7747000" y="2688531"/>
            <a:ext cx="323850" cy="285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780" dirty="0"/>
          </a:p>
        </p:txBody>
      </p:sp>
      <p:sp>
        <p:nvSpPr>
          <p:cNvPr id="82" name="Text 77"/>
          <p:cNvSpPr/>
          <p:nvPr/>
        </p:nvSpPr>
        <p:spPr>
          <a:xfrm>
            <a:off x="8121650" y="2717106"/>
            <a:ext cx="33883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1200" dirty="0"/>
          </a:p>
        </p:txBody>
      </p:sp>
      <p:pic>
        <p:nvPicPr>
          <p:cNvPr id="8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1650" y="2888556"/>
            <a:ext cx="262632" cy="57150"/>
          </a:xfrm>
          <a:prstGeom prst="rect">
            <a:avLst/>
          </a:prstGeom>
        </p:spPr>
      </p:pic>
      <p:sp>
        <p:nvSpPr>
          <p:cNvPr id="84" name="Text 78"/>
          <p:cNvSpPr/>
          <p:nvPr/>
        </p:nvSpPr>
        <p:spPr>
          <a:xfrm>
            <a:off x="10046891" y="2746871"/>
            <a:ext cx="583009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 of 4</a:t>
            </a:r>
            <a:endParaRPr lang="en-US" sz="825" dirty="0"/>
          </a:p>
        </p:txBody>
      </p:sp>
      <p:sp>
        <p:nvSpPr>
          <p:cNvPr id="85" name="Shape 79"/>
          <p:cNvSpPr/>
          <p:nvPr/>
        </p:nvSpPr>
        <p:spPr>
          <a:xfrm>
            <a:off x="7772400" y="3063180"/>
            <a:ext cx="234950" cy="23495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86" name="Text 80"/>
          <p:cNvSpPr/>
          <p:nvPr/>
        </p:nvSpPr>
        <p:spPr>
          <a:xfrm>
            <a:off x="7747000" y="30758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87" name="Text 81"/>
          <p:cNvSpPr/>
          <p:nvPr/>
        </p:nvSpPr>
        <p:spPr>
          <a:xfrm>
            <a:off x="7808813" y="3317181"/>
            <a:ext cx="238224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Cart</a:t>
            </a:r>
            <a:endParaRPr lang="en-US" sz="675" dirty="0"/>
          </a:p>
        </p:txBody>
      </p:sp>
      <p:sp>
        <p:nvSpPr>
          <p:cNvPr id="88" name="Shape 82"/>
          <p:cNvSpPr/>
          <p:nvPr/>
        </p:nvSpPr>
        <p:spPr>
          <a:xfrm>
            <a:off x="8045450" y="3173115"/>
            <a:ext cx="489347" cy="127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89" name="Shape 83"/>
          <p:cNvSpPr/>
          <p:nvPr/>
        </p:nvSpPr>
        <p:spPr>
          <a:xfrm>
            <a:off x="8612684" y="3063180"/>
            <a:ext cx="234950" cy="23495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0" name="Text 84"/>
          <p:cNvSpPr/>
          <p:nvPr/>
        </p:nvSpPr>
        <p:spPr>
          <a:xfrm>
            <a:off x="8587284" y="30758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91" name="Text 85"/>
          <p:cNvSpPr/>
          <p:nvPr/>
        </p:nvSpPr>
        <p:spPr>
          <a:xfrm>
            <a:off x="8572897" y="3317181"/>
            <a:ext cx="390723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</a:t>
            </a:r>
            <a:endParaRPr lang="en-US" sz="675" dirty="0"/>
          </a:p>
        </p:txBody>
      </p:sp>
      <p:sp>
        <p:nvSpPr>
          <p:cNvPr id="92" name="Shape 86"/>
          <p:cNvSpPr/>
          <p:nvPr/>
        </p:nvSpPr>
        <p:spPr>
          <a:xfrm>
            <a:off x="8925520" y="3173115"/>
            <a:ext cx="489446" cy="12700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93" name="Shape 87"/>
          <p:cNvSpPr/>
          <p:nvPr/>
        </p:nvSpPr>
        <p:spPr>
          <a:xfrm>
            <a:off x="9453067" y="3063180"/>
            <a:ext cx="234950" cy="234950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94" name="Text 88"/>
          <p:cNvSpPr/>
          <p:nvPr/>
        </p:nvSpPr>
        <p:spPr>
          <a:xfrm>
            <a:off x="9427667" y="30758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25" dirty="0"/>
          </a:p>
        </p:txBody>
      </p:sp>
      <p:sp>
        <p:nvSpPr>
          <p:cNvPr id="95" name="Text 89"/>
          <p:cNvSpPr/>
          <p:nvPr/>
        </p:nvSpPr>
        <p:spPr>
          <a:xfrm>
            <a:off x="9496624" y="3317181"/>
            <a:ext cx="223937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675" dirty="0"/>
          </a:p>
        </p:txBody>
      </p:sp>
      <p:sp>
        <p:nvSpPr>
          <p:cNvPr id="96" name="Shape 90"/>
          <p:cNvSpPr/>
          <p:nvPr/>
        </p:nvSpPr>
        <p:spPr>
          <a:xfrm>
            <a:off x="9726117" y="3173115"/>
            <a:ext cx="489347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97" name="Shape 91"/>
          <p:cNvSpPr/>
          <p:nvPr/>
        </p:nvSpPr>
        <p:spPr>
          <a:xfrm>
            <a:off x="10286107" y="3063180"/>
            <a:ext cx="234950" cy="23495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98" name="Text 92"/>
          <p:cNvSpPr/>
          <p:nvPr/>
        </p:nvSpPr>
        <p:spPr>
          <a:xfrm>
            <a:off x="10260707" y="3075880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" dirty="0"/>
          </a:p>
        </p:txBody>
      </p:sp>
      <p:sp>
        <p:nvSpPr>
          <p:cNvPr id="99" name="Text 93"/>
          <p:cNvSpPr/>
          <p:nvPr/>
        </p:nvSpPr>
        <p:spPr>
          <a:xfrm>
            <a:off x="10253564" y="3317181"/>
            <a:ext cx="376337" cy="145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</a:t>
            </a:r>
            <a:endParaRPr lang="en-US" sz="675" dirty="0"/>
          </a:p>
        </p:txBody>
      </p:sp>
      <p:sp>
        <p:nvSpPr>
          <p:cNvPr id="100" name="Shape 94"/>
          <p:cNvSpPr/>
          <p:nvPr/>
        </p:nvSpPr>
        <p:spPr>
          <a:xfrm>
            <a:off x="7639050" y="3877568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01" name="Text 95"/>
          <p:cNvSpPr/>
          <p:nvPr/>
        </p:nvSpPr>
        <p:spPr>
          <a:xfrm>
            <a:off x="7772400" y="3627537"/>
            <a:ext cx="1295797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items · Sweet Crumbs</a:t>
            </a:r>
            <a:endParaRPr lang="en-US" sz="900" dirty="0"/>
          </a:p>
        </p:txBody>
      </p:sp>
      <p:sp>
        <p:nvSpPr>
          <p:cNvPr id="102" name="Text 96"/>
          <p:cNvSpPr/>
          <p:nvPr/>
        </p:nvSpPr>
        <p:spPr>
          <a:xfrm>
            <a:off x="9872167" y="3627537"/>
            <a:ext cx="757734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36,000</a:t>
            </a:r>
            <a:endParaRPr lang="en-US" sz="975" dirty="0"/>
          </a:p>
        </p:txBody>
      </p:sp>
      <p:sp>
        <p:nvSpPr>
          <p:cNvPr id="103" name="Text 97"/>
          <p:cNvSpPr/>
          <p:nvPr/>
        </p:nvSpPr>
        <p:spPr>
          <a:xfrm>
            <a:off x="7772400" y="4004568"/>
            <a:ext cx="286473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will you pay?</a:t>
            </a:r>
            <a:endParaRPr lang="en-US" sz="1050" dirty="0"/>
          </a:p>
        </p:txBody>
      </p:sp>
      <p:sp>
        <p:nvSpPr>
          <p:cNvPr id="104" name="Shape 98"/>
          <p:cNvSpPr/>
          <p:nvPr/>
        </p:nvSpPr>
        <p:spPr>
          <a:xfrm>
            <a:off x="7772400" y="4247456"/>
            <a:ext cx="2781300" cy="1392238"/>
          </a:xfrm>
          <a:prstGeom prst="roundRect">
            <a:avLst>
              <a:gd name="adj" fmla="val 6842"/>
            </a:avLst>
          </a:prstGeom>
          <a:solidFill>
            <a:srgbClr val="D97757">
              <a:alpha val="8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05" name="Text 99"/>
          <p:cNvSpPr/>
          <p:nvPr/>
        </p:nvSpPr>
        <p:spPr>
          <a:xfrm>
            <a:off x="7880350" y="4366915"/>
            <a:ext cx="114964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Mobile Money</a:t>
            </a:r>
            <a:endParaRPr lang="en-US" sz="975" dirty="0"/>
          </a:p>
        </p:txBody>
      </p:sp>
      <p:sp>
        <p:nvSpPr>
          <p:cNvPr id="106" name="Shape 100"/>
          <p:cNvSpPr/>
          <p:nvPr/>
        </p:nvSpPr>
        <p:spPr>
          <a:xfrm>
            <a:off x="10267950" y="4355406"/>
            <a:ext cx="177800" cy="177800"/>
          </a:xfrm>
          <a:prstGeom prst="ellipse">
            <a:avLst/>
          </a:prstGeom>
          <a:ln w="12700">
            <a:solidFill>
              <a:srgbClr val="D97757"/>
            </a:solidFill>
            <a:prstDash val="solid"/>
          </a:ln>
        </p:spPr>
      </p:sp>
      <p:sp>
        <p:nvSpPr>
          <p:cNvPr id="107" name="Shape 101"/>
          <p:cNvSpPr/>
          <p:nvPr/>
        </p:nvSpPr>
        <p:spPr>
          <a:xfrm>
            <a:off x="10309225" y="4396680"/>
            <a:ext cx="76200" cy="76200"/>
          </a:xfrm>
          <a:prstGeom prst="ellipse">
            <a:avLst/>
          </a:prstGeom>
          <a:solidFill>
            <a:srgbClr val="D97757"/>
          </a:solidFill>
          <a:ln/>
        </p:spPr>
      </p:sp>
      <p:sp>
        <p:nvSpPr>
          <p:cNvPr id="108" name="Text 102"/>
          <p:cNvSpPr/>
          <p:nvPr/>
        </p:nvSpPr>
        <p:spPr>
          <a:xfrm>
            <a:off x="7880350" y="4552256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 popular</a:t>
            </a:r>
            <a:endParaRPr lang="en-US" sz="825" dirty="0"/>
          </a:p>
        </p:txBody>
      </p:sp>
      <p:sp>
        <p:nvSpPr>
          <p:cNvPr id="109" name="Shape 103"/>
          <p:cNvSpPr/>
          <p:nvPr/>
        </p:nvSpPr>
        <p:spPr>
          <a:xfrm>
            <a:off x="7880350" y="4759424"/>
            <a:ext cx="2565400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10" name="Text 104"/>
          <p:cNvSpPr/>
          <p:nvPr/>
        </p:nvSpPr>
        <p:spPr>
          <a:xfrm>
            <a:off x="7880350" y="4841974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number</a:t>
            </a:r>
            <a:endParaRPr lang="en-US" sz="825" dirty="0"/>
          </a:p>
        </p:txBody>
      </p:sp>
      <p:sp>
        <p:nvSpPr>
          <p:cNvPr id="111" name="Shape 105"/>
          <p:cNvSpPr/>
          <p:nvPr/>
        </p:nvSpPr>
        <p:spPr>
          <a:xfrm>
            <a:off x="7880350" y="5011043"/>
            <a:ext cx="2565400" cy="304800"/>
          </a:xfrm>
          <a:prstGeom prst="roundRect">
            <a:avLst>
              <a:gd name="adj" fmla="val 1875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2" name="Text 106"/>
          <p:cNvSpPr/>
          <p:nvPr/>
        </p:nvSpPr>
        <p:spPr>
          <a:xfrm>
            <a:off x="7988300" y="5086052"/>
            <a:ext cx="102254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+256 7xx xxx xxx</a:t>
            </a:r>
            <a:endParaRPr lang="en-US" sz="975" dirty="0"/>
          </a:p>
        </p:txBody>
      </p:sp>
      <p:sp>
        <p:nvSpPr>
          <p:cNvPr id="113" name="Shape 107"/>
          <p:cNvSpPr/>
          <p:nvPr/>
        </p:nvSpPr>
        <p:spPr>
          <a:xfrm>
            <a:off x="7880350" y="5372993"/>
            <a:ext cx="158750" cy="158750"/>
          </a:xfrm>
          <a:prstGeom prst="roundRect">
            <a:avLst>
              <a:gd name="adj" fmla="val 18000"/>
            </a:avLst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14" name="Text 108"/>
          <p:cNvSpPr/>
          <p:nvPr/>
        </p:nvSpPr>
        <p:spPr>
          <a:xfrm>
            <a:off x="8096250" y="5386884"/>
            <a:ext cx="920651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for next time</a:t>
            </a:r>
            <a:endParaRPr lang="en-US" sz="825" dirty="0"/>
          </a:p>
        </p:txBody>
      </p:sp>
      <p:sp>
        <p:nvSpPr>
          <p:cNvPr id="115" name="Shape 109"/>
          <p:cNvSpPr/>
          <p:nvPr/>
        </p:nvSpPr>
        <p:spPr>
          <a:xfrm>
            <a:off x="7772400" y="5715893"/>
            <a:ext cx="2781300" cy="543719"/>
          </a:xfrm>
          <a:prstGeom prst="roundRect">
            <a:avLst>
              <a:gd name="adj" fmla="val 17518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6" name="Text 110"/>
          <p:cNvSpPr/>
          <p:nvPr/>
        </p:nvSpPr>
        <p:spPr>
          <a:xfrm>
            <a:off x="7880350" y="5835353"/>
            <a:ext cx="764381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Money</a:t>
            </a:r>
            <a:endParaRPr lang="en-US" sz="975" dirty="0"/>
          </a:p>
        </p:txBody>
      </p:sp>
      <p:sp>
        <p:nvSpPr>
          <p:cNvPr id="117" name="Shape 111"/>
          <p:cNvSpPr/>
          <p:nvPr/>
        </p:nvSpPr>
        <p:spPr>
          <a:xfrm>
            <a:off x="10267950" y="5823843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8" name="Text 112"/>
          <p:cNvSpPr/>
          <p:nvPr/>
        </p:nvSpPr>
        <p:spPr>
          <a:xfrm>
            <a:off x="7880350" y="6020693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+ free</a:t>
            </a:r>
            <a:endParaRPr lang="en-US" sz="825" dirty="0"/>
          </a:p>
        </p:txBody>
      </p:sp>
      <p:sp>
        <p:nvSpPr>
          <p:cNvPr id="119" name="Shape 113"/>
          <p:cNvSpPr/>
          <p:nvPr/>
        </p:nvSpPr>
        <p:spPr>
          <a:xfrm>
            <a:off x="7772400" y="6335812"/>
            <a:ext cx="2781300" cy="543719"/>
          </a:xfrm>
          <a:prstGeom prst="roundRect">
            <a:avLst>
              <a:gd name="adj" fmla="val 17518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0" name="Text 114"/>
          <p:cNvSpPr/>
          <p:nvPr/>
        </p:nvSpPr>
        <p:spPr>
          <a:xfrm>
            <a:off x="7880350" y="6455271"/>
            <a:ext cx="84703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Transfer</a:t>
            </a:r>
            <a:endParaRPr lang="en-US" sz="975" dirty="0"/>
          </a:p>
        </p:txBody>
      </p:sp>
      <p:sp>
        <p:nvSpPr>
          <p:cNvPr id="121" name="Shape 115"/>
          <p:cNvSpPr/>
          <p:nvPr/>
        </p:nvSpPr>
        <p:spPr>
          <a:xfrm>
            <a:off x="10267950" y="6443762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2" name="Text 116"/>
          <p:cNvSpPr/>
          <p:nvPr/>
        </p:nvSpPr>
        <p:spPr>
          <a:xfrm>
            <a:off x="7880350" y="6640612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Stanbic, DFCU, Centenary</a:t>
            </a:r>
            <a:endParaRPr lang="en-US" sz="825" dirty="0"/>
          </a:p>
        </p:txBody>
      </p:sp>
      <p:sp>
        <p:nvSpPr>
          <p:cNvPr id="123" name="Shape 117"/>
          <p:cNvSpPr/>
          <p:nvPr/>
        </p:nvSpPr>
        <p:spPr>
          <a:xfrm>
            <a:off x="7772400" y="6955731"/>
            <a:ext cx="2781300" cy="543719"/>
          </a:xfrm>
          <a:prstGeom prst="roundRect">
            <a:avLst>
              <a:gd name="adj" fmla="val 17518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7880350" y="7075190"/>
            <a:ext cx="998538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Cash on delivery</a:t>
            </a:r>
            <a:endParaRPr lang="en-US" sz="975" dirty="0"/>
          </a:p>
        </p:txBody>
      </p:sp>
      <p:sp>
        <p:nvSpPr>
          <p:cNvPr id="125" name="Shape 119"/>
          <p:cNvSpPr/>
          <p:nvPr/>
        </p:nvSpPr>
        <p:spPr>
          <a:xfrm>
            <a:off x="10267950" y="7063680"/>
            <a:ext cx="177800" cy="17780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6" name="Text 120"/>
          <p:cNvSpPr/>
          <p:nvPr/>
        </p:nvSpPr>
        <p:spPr>
          <a:xfrm>
            <a:off x="7880350" y="7260531"/>
            <a:ext cx="2642362" cy="1690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rider on arrival</a:t>
            </a:r>
            <a:endParaRPr lang="en-US" sz="825" dirty="0"/>
          </a:p>
        </p:txBody>
      </p:sp>
      <p:sp>
        <p:nvSpPr>
          <p:cNvPr id="127" name="Shape 121"/>
          <p:cNvSpPr/>
          <p:nvPr/>
        </p:nvSpPr>
        <p:spPr>
          <a:xfrm>
            <a:off x="7639050" y="7908231"/>
            <a:ext cx="3048000" cy="5969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28" name="Shape 122"/>
          <p:cNvSpPr/>
          <p:nvPr/>
        </p:nvSpPr>
        <p:spPr>
          <a:xfrm>
            <a:off x="7639050" y="79082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29" name="Shape 123"/>
          <p:cNvSpPr/>
          <p:nvPr/>
        </p:nvSpPr>
        <p:spPr>
          <a:xfrm>
            <a:off x="7734300" y="8016180"/>
            <a:ext cx="1368524" cy="393700"/>
          </a:xfrm>
          <a:prstGeom prst="roundRect">
            <a:avLst>
              <a:gd name="adj" fmla="val 14516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30" name="Text 124"/>
          <p:cNvSpPr/>
          <p:nvPr/>
        </p:nvSpPr>
        <p:spPr>
          <a:xfrm>
            <a:off x="8270280" y="8136831"/>
            <a:ext cx="372666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</a:t>
            </a:r>
            <a:endParaRPr lang="en-US" sz="1050" dirty="0"/>
          </a:p>
        </p:txBody>
      </p:sp>
      <p:sp>
        <p:nvSpPr>
          <p:cNvPr id="131" name="Shape 125"/>
          <p:cNvSpPr/>
          <p:nvPr/>
        </p:nvSpPr>
        <p:spPr>
          <a:xfrm>
            <a:off x="9179025" y="8016180"/>
            <a:ext cx="1412776" cy="393700"/>
          </a:xfrm>
          <a:prstGeom prst="roundRect">
            <a:avLst>
              <a:gd name="adj" fmla="val 14516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32" name="Text 126"/>
          <p:cNvSpPr/>
          <p:nvPr/>
        </p:nvSpPr>
        <p:spPr>
          <a:xfrm>
            <a:off x="9482932" y="8124131"/>
            <a:ext cx="881063" cy="215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Continue →</a:t>
            </a:r>
            <a:endParaRPr lang="en-US" sz="1200" dirty="0"/>
          </a:p>
        </p:txBody>
      </p:sp>
      <p:sp>
        <p:nvSpPr>
          <p:cNvPr id="133" name="Text 127"/>
          <p:cNvSpPr/>
          <p:nvPr/>
        </p:nvSpPr>
        <p:spPr>
          <a:xfrm rot="180000">
            <a:off x="10039350" y="2979589"/>
            <a:ext cx="7429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— always visible</a:t>
            </a:r>
            <a:endParaRPr lang="en-US" sz="1200" dirty="0"/>
          </a:p>
        </p:txBody>
      </p:sp>
      <p:sp>
        <p:nvSpPr>
          <p:cNvPr id="134" name="Text 128"/>
          <p:cNvSpPr/>
          <p:nvPr/>
        </p:nvSpPr>
        <p:spPr>
          <a:xfrm rot="-180000">
            <a:off x="7620000" y="4885482"/>
            <a:ext cx="74295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on select → inline form</a:t>
            </a:r>
            <a:endParaRPr lang="en-US" sz="1200" dirty="0"/>
          </a:p>
        </p:txBody>
      </p:sp>
      <p:sp>
        <p:nvSpPr>
          <p:cNvPr id="135" name="Text 129"/>
          <p:cNvSpPr/>
          <p:nvPr/>
        </p:nvSpPr>
        <p:spPr>
          <a:xfrm>
            <a:off x="8363942" y="8943281"/>
            <a:ext cx="1636216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Stepped flow</a:t>
            </a:r>
            <a:endParaRPr lang="en-US" sz="2100" dirty="0"/>
          </a:p>
        </p:txBody>
      </p:sp>
      <p:sp>
        <p:nvSpPr>
          <p:cNvPr id="136" name="Text 130"/>
          <p:cNvSpPr/>
          <p:nvPr/>
        </p:nvSpPr>
        <p:spPr>
          <a:xfrm>
            <a:off x="11808421" y="1841500"/>
            <a:ext cx="2367359" cy="205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Order confirmation + tracking</a:t>
            </a:r>
            <a:endParaRPr lang="en-US" sz="1200" dirty="0"/>
          </a:p>
        </p:txBody>
      </p:sp>
      <p:sp>
        <p:nvSpPr>
          <p:cNvPr id="137" name="Shape 131"/>
          <p:cNvSpPr/>
          <p:nvPr/>
        </p:nvSpPr>
        <p:spPr>
          <a:xfrm>
            <a:off x="11353800" y="2104331"/>
            <a:ext cx="3276600" cy="6667500"/>
          </a:xfrm>
          <a:prstGeom prst="roundRect">
            <a:avLst>
              <a:gd name="adj" fmla="val 9302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38" name="Shape 132"/>
          <p:cNvSpPr/>
          <p:nvPr/>
        </p:nvSpPr>
        <p:spPr>
          <a:xfrm>
            <a:off x="12706350" y="2218631"/>
            <a:ext cx="571500" cy="57150"/>
          </a:xfrm>
          <a:prstGeom prst="roundRect">
            <a:avLst>
              <a:gd name="adj" fmla="val 50000"/>
            </a:avLst>
          </a:prstGeom>
          <a:solidFill>
            <a:srgbClr val="1C1917">
              <a:alpha val="70000"/>
            </a:srgbClr>
          </a:solidFill>
          <a:ln/>
        </p:spPr>
      </p:sp>
      <p:sp>
        <p:nvSpPr>
          <p:cNvPr id="139" name="Shape 133"/>
          <p:cNvSpPr/>
          <p:nvPr/>
        </p:nvSpPr>
        <p:spPr>
          <a:xfrm>
            <a:off x="11487150" y="2409131"/>
            <a:ext cx="3048000" cy="6096000"/>
          </a:xfrm>
          <a:prstGeom prst="roundRect">
            <a:avLst>
              <a:gd name="adj" fmla="val 2500"/>
            </a:avLst>
          </a:prstGeom>
          <a:solidFill>
            <a:srgbClr val="FBFAF7"/>
          </a:solidFill>
          <a:ln/>
        </p:spPr>
      </p:sp>
      <p:sp>
        <p:nvSpPr>
          <p:cNvPr id="140" name="Text 134"/>
          <p:cNvSpPr/>
          <p:nvPr/>
        </p:nvSpPr>
        <p:spPr>
          <a:xfrm>
            <a:off x="11601450" y="2485331"/>
            <a:ext cx="3048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9:41</a:t>
            </a:r>
            <a:endParaRPr lang="en-US" sz="750" dirty="0"/>
          </a:p>
        </p:txBody>
      </p:sp>
      <p:sp>
        <p:nvSpPr>
          <p:cNvPr id="141" name="Text 135"/>
          <p:cNvSpPr/>
          <p:nvPr/>
        </p:nvSpPr>
        <p:spPr>
          <a:xfrm>
            <a:off x="13887351" y="2485331"/>
            <a:ext cx="60969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● ●●● ▮▮</a:t>
            </a:r>
            <a:endParaRPr lang="en-US" sz="750" dirty="0"/>
          </a:p>
        </p:txBody>
      </p:sp>
      <p:sp>
        <p:nvSpPr>
          <p:cNvPr id="142" name="Shape 136"/>
          <p:cNvSpPr/>
          <p:nvPr/>
        </p:nvSpPr>
        <p:spPr>
          <a:xfrm>
            <a:off x="11487150" y="3985518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43" name="Shape 137"/>
          <p:cNvSpPr/>
          <p:nvPr/>
        </p:nvSpPr>
        <p:spPr>
          <a:xfrm>
            <a:off x="12725400" y="2790131"/>
            <a:ext cx="571500" cy="571500"/>
          </a:xfrm>
          <a:prstGeom prst="ellipse">
            <a:avLst/>
          </a:prstGeom>
          <a:solidFill>
            <a:srgbClr val="D97757">
              <a:alpha val="15000"/>
            </a:srgbClr>
          </a:solidFill>
          <a:ln w="19050">
            <a:solidFill>
              <a:srgbClr val="D97757"/>
            </a:solidFill>
            <a:prstDash val="solid"/>
          </a:ln>
        </p:spPr>
      </p:sp>
      <p:sp>
        <p:nvSpPr>
          <p:cNvPr id="144" name="Text 138"/>
          <p:cNvSpPr/>
          <p:nvPr/>
        </p:nvSpPr>
        <p:spPr>
          <a:xfrm>
            <a:off x="12880281" y="2921099"/>
            <a:ext cx="261739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9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950" dirty="0"/>
          </a:p>
        </p:txBody>
      </p:sp>
      <p:sp>
        <p:nvSpPr>
          <p:cNvPr id="145" name="Text 139"/>
          <p:cNvSpPr/>
          <p:nvPr/>
        </p:nvSpPr>
        <p:spPr>
          <a:xfrm>
            <a:off x="11578781" y="3456881"/>
            <a:ext cx="2864739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placed!</a:t>
            </a:r>
            <a:endParaRPr lang="en-US" sz="1350" dirty="0"/>
          </a:p>
        </p:txBody>
      </p:sp>
      <p:sp>
        <p:nvSpPr>
          <p:cNvPr id="146" name="Text 140"/>
          <p:cNvSpPr/>
          <p:nvPr/>
        </p:nvSpPr>
        <p:spPr>
          <a:xfrm>
            <a:off x="11578781" y="3690243"/>
            <a:ext cx="286473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#EGU-7831 · MoMo confirmed</a:t>
            </a:r>
            <a:endParaRPr lang="en-US" sz="900" dirty="0"/>
          </a:p>
        </p:txBody>
      </p:sp>
      <p:sp>
        <p:nvSpPr>
          <p:cNvPr id="147" name="Text 141"/>
          <p:cNvSpPr/>
          <p:nvPr/>
        </p:nvSpPr>
        <p:spPr>
          <a:xfrm>
            <a:off x="11658600" y="4131568"/>
            <a:ext cx="278625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ORDER</a:t>
            </a:r>
            <a:endParaRPr lang="en-US" sz="900" dirty="0"/>
          </a:p>
        </p:txBody>
      </p:sp>
      <p:sp>
        <p:nvSpPr>
          <p:cNvPr id="148" name="Shape 142"/>
          <p:cNvSpPr/>
          <p:nvPr/>
        </p:nvSpPr>
        <p:spPr>
          <a:xfrm>
            <a:off x="11658600" y="4369693"/>
            <a:ext cx="196850" cy="19685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49" name="Text 143"/>
          <p:cNvSpPr/>
          <p:nvPr/>
        </p:nvSpPr>
        <p:spPr>
          <a:xfrm>
            <a:off x="11633200" y="4382393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150" name="Shape 144"/>
          <p:cNvSpPr/>
          <p:nvPr/>
        </p:nvSpPr>
        <p:spPr>
          <a:xfrm>
            <a:off x="11743532" y="4566543"/>
            <a:ext cx="12700" cy="2103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1" name="Text 145"/>
          <p:cNvSpPr/>
          <p:nvPr/>
        </p:nvSpPr>
        <p:spPr>
          <a:xfrm>
            <a:off x="11950701" y="4369693"/>
            <a:ext cx="24892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placed</a:t>
            </a:r>
            <a:endParaRPr lang="en-US" sz="975" dirty="0"/>
          </a:p>
        </p:txBody>
      </p:sp>
      <p:sp>
        <p:nvSpPr>
          <p:cNvPr id="152" name="Text 146"/>
          <p:cNvSpPr/>
          <p:nvPr/>
        </p:nvSpPr>
        <p:spPr>
          <a:xfrm>
            <a:off x="11950701" y="4524474"/>
            <a:ext cx="24892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9:41 AM</a:t>
            </a:r>
            <a:endParaRPr lang="en-US" sz="750" dirty="0"/>
          </a:p>
        </p:txBody>
      </p:sp>
      <p:sp>
        <p:nvSpPr>
          <p:cNvPr id="153" name="Shape 147"/>
          <p:cNvSpPr/>
          <p:nvPr/>
        </p:nvSpPr>
        <p:spPr>
          <a:xfrm>
            <a:off x="11658600" y="4776887"/>
            <a:ext cx="196850" cy="196850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4" name="Text 148"/>
          <p:cNvSpPr/>
          <p:nvPr/>
        </p:nvSpPr>
        <p:spPr>
          <a:xfrm>
            <a:off x="11633200" y="4789587"/>
            <a:ext cx="24765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825" dirty="0"/>
          </a:p>
        </p:txBody>
      </p:sp>
      <p:sp>
        <p:nvSpPr>
          <p:cNvPr id="155" name="Shape 149"/>
          <p:cNvSpPr/>
          <p:nvPr/>
        </p:nvSpPr>
        <p:spPr>
          <a:xfrm>
            <a:off x="11743532" y="4973737"/>
            <a:ext cx="12700" cy="210344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56" name="Text 150"/>
          <p:cNvSpPr/>
          <p:nvPr/>
        </p:nvSpPr>
        <p:spPr>
          <a:xfrm>
            <a:off x="11950701" y="4776887"/>
            <a:ext cx="24892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preparing</a:t>
            </a:r>
            <a:endParaRPr lang="en-US" sz="975" dirty="0"/>
          </a:p>
        </p:txBody>
      </p:sp>
      <p:sp>
        <p:nvSpPr>
          <p:cNvPr id="157" name="Text 151"/>
          <p:cNvSpPr/>
          <p:nvPr/>
        </p:nvSpPr>
        <p:spPr>
          <a:xfrm>
            <a:off x="11950701" y="4931668"/>
            <a:ext cx="24892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ETA 5 min</a:t>
            </a:r>
            <a:endParaRPr lang="en-US" sz="750" dirty="0"/>
          </a:p>
        </p:txBody>
      </p:sp>
      <p:sp>
        <p:nvSpPr>
          <p:cNvPr id="158" name="Shape 152"/>
          <p:cNvSpPr/>
          <p:nvPr/>
        </p:nvSpPr>
        <p:spPr>
          <a:xfrm>
            <a:off x="11658600" y="5184081"/>
            <a:ext cx="196850" cy="19685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59" name="Shape 153"/>
          <p:cNvSpPr/>
          <p:nvPr/>
        </p:nvSpPr>
        <p:spPr>
          <a:xfrm>
            <a:off x="11743532" y="5380931"/>
            <a:ext cx="12700" cy="1905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60" name="Text 154"/>
          <p:cNvSpPr/>
          <p:nvPr/>
        </p:nvSpPr>
        <p:spPr>
          <a:xfrm>
            <a:off x="11950701" y="5184081"/>
            <a:ext cx="24892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Boda picked up</a:t>
            </a:r>
            <a:endParaRPr lang="en-US" sz="975" dirty="0"/>
          </a:p>
        </p:txBody>
      </p:sp>
      <p:sp>
        <p:nvSpPr>
          <p:cNvPr id="161" name="Shape 155"/>
          <p:cNvSpPr/>
          <p:nvPr/>
        </p:nvSpPr>
        <p:spPr>
          <a:xfrm>
            <a:off x="11658600" y="5571431"/>
            <a:ext cx="196850" cy="19685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62" name="Shape 156"/>
          <p:cNvSpPr/>
          <p:nvPr/>
        </p:nvSpPr>
        <p:spPr>
          <a:xfrm>
            <a:off x="11743532" y="5768280"/>
            <a:ext cx="12700" cy="1905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63" name="Text 157"/>
          <p:cNvSpPr/>
          <p:nvPr/>
        </p:nvSpPr>
        <p:spPr>
          <a:xfrm>
            <a:off x="11950701" y="5571431"/>
            <a:ext cx="24892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 for delivery</a:t>
            </a:r>
            <a:endParaRPr lang="en-US" sz="975" dirty="0"/>
          </a:p>
        </p:txBody>
      </p:sp>
      <p:sp>
        <p:nvSpPr>
          <p:cNvPr id="164" name="Shape 158"/>
          <p:cNvSpPr/>
          <p:nvPr/>
        </p:nvSpPr>
        <p:spPr>
          <a:xfrm>
            <a:off x="11658600" y="5958780"/>
            <a:ext cx="196850" cy="196850"/>
          </a:xfrm>
          <a:prstGeom prst="ellipse">
            <a:avLst/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65" name="Text 159"/>
          <p:cNvSpPr/>
          <p:nvPr/>
        </p:nvSpPr>
        <p:spPr>
          <a:xfrm>
            <a:off x="11950701" y="5958780"/>
            <a:ext cx="248920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75" dirty="0"/>
          </a:p>
        </p:txBody>
      </p:sp>
      <p:sp>
        <p:nvSpPr>
          <p:cNvPr id="166" name="Text 160"/>
          <p:cNvSpPr/>
          <p:nvPr/>
        </p:nvSpPr>
        <p:spPr>
          <a:xfrm>
            <a:off x="11950701" y="6113562"/>
            <a:ext cx="248920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10:15 AM</a:t>
            </a:r>
            <a:endParaRPr lang="en-US" sz="750" dirty="0"/>
          </a:p>
        </p:txBody>
      </p:sp>
      <p:sp>
        <p:nvSpPr>
          <p:cNvPr id="167" name="Shape 161"/>
          <p:cNvSpPr/>
          <p:nvPr/>
        </p:nvSpPr>
        <p:spPr>
          <a:xfrm>
            <a:off x="11487150" y="6499324"/>
            <a:ext cx="3048000" cy="12700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68" name="Shape 162"/>
          <p:cNvSpPr/>
          <p:nvPr/>
        </p:nvSpPr>
        <p:spPr>
          <a:xfrm>
            <a:off x="11620500" y="6607275"/>
            <a:ext cx="368300" cy="3683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69" name="Text 163"/>
          <p:cNvSpPr/>
          <p:nvPr/>
        </p:nvSpPr>
        <p:spPr>
          <a:xfrm>
            <a:off x="11595100" y="6619975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1080" dirty="0"/>
          </a:p>
        </p:txBody>
      </p:sp>
      <p:sp>
        <p:nvSpPr>
          <p:cNvPr id="170" name="Text 164"/>
          <p:cNvSpPr/>
          <p:nvPr/>
        </p:nvSpPr>
        <p:spPr>
          <a:xfrm>
            <a:off x="12084051" y="6654503"/>
            <a:ext cx="1543050" cy="1928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 Bakery</a:t>
            </a:r>
            <a:endParaRPr lang="en-US" sz="975" dirty="0"/>
          </a:p>
        </p:txBody>
      </p:sp>
      <p:sp>
        <p:nvSpPr>
          <p:cNvPr id="171" name="Text 165"/>
          <p:cNvSpPr/>
          <p:nvPr/>
        </p:nvSpPr>
        <p:spPr>
          <a:xfrm>
            <a:off x="12084051" y="6809284"/>
            <a:ext cx="1543050" cy="1571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to call or message</a:t>
            </a:r>
            <a:endParaRPr lang="en-US" sz="750" dirty="0"/>
          </a:p>
        </p:txBody>
      </p:sp>
      <p:sp>
        <p:nvSpPr>
          <p:cNvPr id="172" name="Shape 166"/>
          <p:cNvSpPr/>
          <p:nvPr/>
        </p:nvSpPr>
        <p:spPr>
          <a:xfrm>
            <a:off x="13646151" y="6626325"/>
            <a:ext cx="330200" cy="3302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3" name="Text 167"/>
          <p:cNvSpPr/>
          <p:nvPr/>
        </p:nvSpPr>
        <p:spPr>
          <a:xfrm>
            <a:off x="13620751" y="66390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📞</a:t>
            </a:r>
            <a:endParaRPr lang="en-US" sz="960" dirty="0"/>
          </a:p>
        </p:txBody>
      </p:sp>
      <p:sp>
        <p:nvSpPr>
          <p:cNvPr id="174" name="Shape 168"/>
          <p:cNvSpPr/>
          <p:nvPr/>
        </p:nvSpPr>
        <p:spPr>
          <a:xfrm>
            <a:off x="14071600" y="6626325"/>
            <a:ext cx="330200" cy="330200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5" name="Text 169"/>
          <p:cNvSpPr/>
          <p:nvPr/>
        </p:nvSpPr>
        <p:spPr>
          <a:xfrm>
            <a:off x="14046200" y="6639025"/>
            <a:ext cx="3810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</a:t>
            </a:r>
            <a:endParaRPr lang="en-US" sz="960" dirty="0"/>
          </a:p>
        </p:txBody>
      </p:sp>
      <p:sp>
        <p:nvSpPr>
          <p:cNvPr id="176" name="Shape 170"/>
          <p:cNvSpPr/>
          <p:nvPr/>
        </p:nvSpPr>
        <p:spPr>
          <a:xfrm>
            <a:off x="11487150" y="8009831"/>
            <a:ext cx="3048000" cy="495300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77" name="Shape 171"/>
          <p:cNvSpPr/>
          <p:nvPr/>
        </p:nvSpPr>
        <p:spPr>
          <a:xfrm>
            <a:off x="11487150" y="8009831"/>
            <a:ext cx="3048000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78" name="Shape 172"/>
          <p:cNvSpPr/>
          <p:nvPr/>
        </p:nvSpPr>
        <p:spPr>
          <a:xfrm>
            <a:off x="11582400" y="8117781"/>
            <a:ext cx="1390650" cy="292100"/>
          </a:xfrm>
          <a:prstGeom prst="roundRect">
            <a:avLst>
              <a:gd name="adj" fmla="val 1956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79" name="Text 173"/>
          <p:cNvSpPr/>
          <p:nvPr/>
        </p:nvSpPr>
        <p:spPr>
          <a:xfrm>
            <a:off x="11915676" y="8187630"/>
            <a:ext cx="800199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receipt</a:t>
            </a:r>
            <a:endParaRPr lang="en-US" sz="1050" dirty="0"/>
          </a:p>
        </p:txBody>
      </p:sp>
      <p:sp>
        <p:nvSpPr>
          <p:cNvPr id="180" name="Shape 174"/>
          <p:cNvSpPr/>
          <p:nvPr/>
        </p:nvSpPr>
        <p:spPr>
          <a:xfrm>
            <a:off x="13049250" y="8117781"/>
            <a:ext cx="1390650" cy="292100"/>
          </a:xfrm>
          <a:prstGeom prst="roundRect">
            <a:avLst>
              <a:gd name="adj" fmla="val 1956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81" name="Text 175"/>
          <p:cNvSpPr/>
          <p:nvPr/>
        </p:nvSpPr>
        <p:spPr>
          <a:xfrm>
            <a:off x="13339366" y="8187630"/>
            <a:ext cx="886520" cy="190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on map</a:t>
            </a:r>
            <a:endParaRPr lang="en-US" sz="1050" dirty="0"/>
          </a:p>
        </p:txBody>
      </p:sp>
      <p:sp>
        <p:nvSpPr>
          <p:cNvPr id="182" name="Text 176"/>
          <p:cNvSpPr/>
          <p:nvPr/>
        </p:nvSpPr>
        <p:spPr>
          <a:xfrm rot="180000">
            <a:off x="13887450" y="3458666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webhook flips state in real-time</a:t>
            </a:r>
            <a:endParaRPr lang="en-US" sz="1200" dirty="0"/>
          </a:p>
        </p:txBody>
      </p:sp>
      <p:sp>
        <p:nvSpPr>
          <p:cNvPr id="183" name="Text 177"/>
          <p:cNvSpPr/>
          <p:nvPr/>
        </p:nvSpPr>
        <p:spPr>
          <a:xfrm rot="-180000">
            <a:off x="11468100" y="5458916"/>
            <a:ext cx="7429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line to bakery — WhatsApp?</a:t>
            </a:r>
            <a:endParaRPr lang="en-US" sz="1200" dirty="0"/>
          </a:p>
        </p:txBody>
      </p:sp>
      <p:sp>
        <p:nvSpPr>
          <p:cNvPr id="184" name="Text 178"/>
          <p:cNvSpPr/>
          <p:nvPr/>
        </p:nvSpPr>
        <p:spPr>
          <a:xfrm>
            <a:off x="11677750" y="8943281"/>
            <a:ext cx="2707460" cy="374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Confirmation + tracking</a:t>
            </a:r>
            <a:endParaRPr lang="en-US" sz="2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60625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4606250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management · sales metrics · kitchen ops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304394" y="850900"/>
            <a:ext cx="22978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3 DIRECTIONS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-3738753" y="1841500"/>
            <a:ext cx="8387015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Operational — orders front-and-center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-3738753" y="2046508"/>
            <a:ext cx="8142733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3723894" y="2222022"/>
            <a:ext cx="8113014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Shape 7"/>
          <p:cNvSpPr/>
          <p:nvPr/>
        </p:nvSpPr>
        <p:spPr>
          <a:xfrm>
            <a:off x="-3664458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3565397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3466338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3292983" y="2092013"/>
            <a:ext cx="90992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-3664458" y="2294158"/>
            <a:ext cx="1421511" cy="4487418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-2255647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" name="Shape 13"/>
          <p:cNvSpPr/>
          <p:nvPr/>
        </p:nvSpPr>
        <p:spPr>
          <a:xfrm>
            <a:off x="-3590163" y="2669189"/>
            <a:ext cx="126301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6" name="Shape 14"/>
          <p:cNvSpPr/>
          <p:nvPr/>
        </p:nvSpPr>
        <p:spPr>
          <a:xfrm>
            <a:off x="-3590163" y="2383312"/>
            <a:ext cx="227838" cy="227838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-3615563" y="2396012"/>
            <a:ext cx="278638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-3302889" y="2399719"/>
            <a:ext cx="660886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-3302889" y="2511161"/>
            <a:ext cx="66088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</a:t>
            </a:r>
            <a:endParaRPr lang="en-US" sz="675" dirty="0"/>
          </a:p>
        </p:txBody>
      </p:sp>
      <p:sp>
        <p:nvSpPr>
          <p:cNvPr id="20" name="Text 18"/>
          <p:cNvSpPr/>
          <p:nvPr/>
        </p:nvSpPr>
        <p:spPr>
          <a:xfrm>
            <a:off x="-3510915" y="2824129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-3329047" y="2824129"/>
            <a:ext cx="51237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-3590163" y="3009866"/>
            <a:ext cx="1263015" cy="200596"/>
          </a:xfrm>
          <a:prstGeom prst="roundRect">
            <a:avLst>
              <a:gd name="adj" fmla="val 28490"/>
            </a:avLst>
          </a:prstGeom>
          <a:solidFill>
            <a:srgbClr val="D97757">
              <a:alpha val="12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-3590163" y="3009866"/>
            <a:ext cx="25400" cy="20059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4" name="Text 22"/>
          <p:cNvSpPr/>
          <p:nvPr/>
        </p:nvSpPr>
        <p:spPr>
          <a:xfrm>
            <a:off x="-3510915" y="3054443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-3329047" y="3054443"/>
            <a:ext cx="34869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-3510915" y="3284758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-3329047" y="3284758"/>
            <a:ext cx="29924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-3510915" y="3515072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-3362325" y="3515072"/>
            <a:ext cx="527155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-3510915" y="3745387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-3329047" y="3745387"/>
            <a:ext cx="43297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-3510915" y="3975701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-3329047" y="3975701"/>
            <a:ext cx="25799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-3510915" y="4206016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-3329047" y="4206016"/>
            <a:ext cx="398377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-3510915" y="4436330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-3376332" y="4436330"/>
            <a:ext cx="39837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-3590163" y="6475728"/>
            <a:ext cx="126301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9" name="Text 37"/>
          <p:cNvSpPr/>
          <p:nvPr/>
        </p:nvSpPr>
        <p:spPr>
          <a:xfrm>
            <a:off x="-3530727" y="6540117"/>
            <a:ext cx="1220343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· status: 🟢 online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-2138934" y="2398171"/>
            <a:ext cx="484977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1350" dirty="0"/>
          </a:p>
        </p:txBody>
      </p:sp>
      <p:pic>
        <p:nvPicPr>
          <p:cNvPr id="4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138934" y="2550476"/>
            <a:ext cx="408777" cy="44577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-2138934" y="2565335"/>
            <a:ext cx="136777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· May 19 · 24 orders today</a:t>
            </a:r>
            <a:endParaRPr lang="en-US" sz="825" dirty="0"/>
          </a:p>
        </p:txBody>
      </p:sp>
      <p:sp>
        <p:nvSpPr>
          <p:cNvPr id="43" name="Shape 40"/>
          <p:cNvSpPr/>
          <p:nvPr/>
        </p:nvSpPr>
        <p:spPr>
          <a:xfrm>
            <a:off x="421458" y="2421388"/>
            <a:ext cx="1485900" cy="222885"/>
          </a:xfrm>
          <a:prstGeom prst="roundRect">
            <a:avLst>
              <a:gd name="adj" fmla="val 25641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05659" y="2467822"/>
            <a:ext cx="219063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45" name="Text 42"/>
          <p:cNvSpPr/>
          <p:nvPr/>
        </p:nvSpPr>
        <p:spPr>
          <a:xfrm>
            <a:off x="693099" y="2472466"/>
            <a:ext cx="715137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order #</a:t>
            </a:r>
            <a:endParaRPr lang="en-US" sz="975" dirty="0"/>
          </a:p>
        </p:txBody>
      </p:sp>
      <p:sp>
        <p:nvSpPr>
          <p:cNvPr id="46" name="Shape 43"/>
          <p:cNvSpPr/>
          <p:nvPr/>
        </p:nvSpPr>
        <p:spPr>
          <a:xfrm>
            <a:off x="1966794" y="2409006"/>
            <a:ext cx="942928" cy="247650"/>
          </a:xfrm>
          <a:prstGeom prst="roundRect">
            <a:avLst>
              <a:gd name="adj" fmla="val 23077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080713" y="2463489"/>
            <a:ext cx="791289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Export CSV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2969157" y="2418912"/>
            <a:ext cx="1167360" cy="227838"/>
          </a:xfrm>
          <a:prstGeom prst="roundRect">
            <a:avLst>
              <a:gd name="adj" fmla="val 25084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083076" y="2473394"/>
            <a:ext cx="1015722" cy="15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New manual order</a:t>
            </a:r>
            <a:endParaRPr lang="en-US" sz="1050" dirty="0"/>
          </a:p>
        </p:txBody>
      </p:sp>
      <p:sp>
        <p:nvSpPr>
          <p:cNvPr id="50" name="Shape 47"/>
          <p:cNvSpPr/>
          <p:nvPr/>
        </p:nvSpPr>
        <p:spPr>
          <a:xfrm>
            <a:off x="-2138934" y="2756644"/>
            <a:ext cx="1513142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-2039874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SALES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-2039874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412k</a:t>
            </a:r>
            <a:endParaRPr lang="en-US" sz="1650" dirty="0"/>
          </a:p>
        </p:txBody>
      </p:sp>
      <p:sp>
        <p:nvSpPr>
          <p:cNvPr id="53" name="Text 50"/>
          <p:cNvSpPr/>
          <p:nvPr/>
        </p:nvSpPr>
        <p:spPr>
          <a:xfrm>
            <a:off x="-2039874" y="3206748"/>
            <a:ext cx="3192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18%</a:t>
            </a:r>
            <a:endParaRPr lang="en-US" sz="750" dirty="0"/>
          </a:p>
        </p:txBody>
      </p:sp>
      <p:sp>
        <p:nvSpPr>
          <p:cNvPr id="54" name="Text 51"/>
          <p:cNvSpPr/>
          <p:nvPr/>
        </p:nvSpPr>
        <p:spPr>
          <a:xfrm>
            <a:off x="-1118771" y="3211391"/>
            <a:ext cx="470118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yesterday</a:t>
            </a:r>
            <a:endParaRPr lang="en-US" sz="675" dirty="0"/>
          </a:p>
        </p:txBody>
      </p:sp>
      <p:sp>
        <p:nvSpPr>
          <p:cNvPr id="55" name="Shape 52"/>
          <p:cNvSpPr/>
          <p:nvPr/>
        </p:nvSpPr>
        <p:spPr>
          <a:xfrm>
            <a:off x="-551497" y="2756644"/>
            <a:ext cx="1513141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-452437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ORDERS</a:t>
            </a:r>
            <a:endParaRPr lang="en-US" sz="825" dirty="0"/>
          </a:p>
        </p:txBody>
      </p:sp>
      <p:sp>
        <p:nvSpPr>
          <p:cNvPr id="57" name="Text 54"/>
          <p:cNvSpPr/>
          <p:nvPr/>
        </p:nvSpPr>
        <p:spPr>
          <a:xfrm>
            <a:off x="-452437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650" dirty="0"/>
          </a:p>
        </p:txBody>
      </p:sp>
      <p:sp>
        <p:nvSpPr>
          <p:cNvPr id="58" name="Text 55"/>
          <p:cNvSpPr/>
          <p:nvPr/>
        </p:nvSpPr>
        <p:spPr>
          <a:xfrm>
            <a:off x="-452437" y="3206748"/>
            <a:ext cx="44310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2 urgent</a:t>
            </a:r>
            <a:endParaRPr lang="en-US" sz="750" dirty="0"/>
          </a:p>
        </p:txBody>
      </p:sp>
      <p:sp>
        <p:nvSpPr>
          <p:cNvPr id="59" name="Text 56"/>
          <p:cNvSpPr/>
          <p:nvPr/>
        </p:nvSpPr>
        <p:spPr>
          <a:xfrm>
            <a:off x="535454" y="3211391"/>
            <a:ext cx="403330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12m</a:t>
            </a:r>
            <a:endParaRPr lang="en-US" sz="675" dirty="0"/>
          </a:p>
        </p:txBody>
      </p:sp>
      <p:sp>
        <p:nvSpPr>
          <p:cNvPr id="60" name="Shape 57"/>
          <p:cNvSpPr/>
          <p:nvPr/>
        </p:nvSpPr>
        <p:spPr>
          <a:xfrm>
            <a:off x="1035939" y="2756644"/>
            <a:ext cx="1513142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1134999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PREP TIME</a:t>
            </a:r>
            <a:endParaRPr lang="en-US" sz="825" dirty="0"/>
          </a:p>
        </p:txBody>
      </p:sp>
      <p:sp>
        <p:nvSpPr>
          <p:cNvPr id="62" name="Text 59"/>
          <p:cNvSpPr/>
          <p:nvPr/>
        </p:nvSpPr>
        <p:spPr>
          <a:xfrm>
            <a:off x="1134999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18m</a:t>
            </a:r>
            <a:endParaRPr lang="en-US" sz="1650" dirty="0"/>
          </a:p>
        </p:txBody>
      </p:sp>
      <p:sp>
        <p:nvSpPr>
          <p:cNvPr id="63" name="Text 60"/>
          <p:cNvSpPr/>
          <p:nvPr/>
        </p:nvSpPr>
        <p:spPr>
          <a:xfrm>
            <a:off x="1134999" y="3206748"/>
            <a:ext cx="2984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-2m</a:t>
            </a:r>
            <a:endParaRPr lang="en-US" sz="750" dirty="0"/>
          </a:p>
        </p:txBody>
      </p:sp>
      <p:sp>
        <p:nvSpPr>
          <p:cNvPr id="64" name="Text 61"/>
          <p:cNvSpPr/>
          <p:nvPr/>
        </p:nvSpPr>
        <p:spPr>
          <a:xfrm>
            <a:off x="2174897" y="3211391"/>
            <a:ext cx="351324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 20m</a:t>
            </a:r>
            <a:endParaRPr lang="en-US" sz="675" dirty="0"/>
          </a:p>
        </p:txBody>
      </p:sp>
      <p:sp>
        <p:nvSpPr>
          <p:cNvPr id="65" name="Shape 62"/>
          <p:cNvSpPr/>
          <p:nvPr/>
        </p:nvSpPr>
        <p:spPr>
          <a:xfrm>
            <a:off x="2623376" y="2756644"/>
            <a:ext cx="1513142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2722436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TODAY</a:t>
            </a:r>
            <a:endParaRPr lang="en-US" sz="825" dirty="0"/>
          </a:p>
        </p:txBody>
      </p:sp>
      <p:sp>
        <p:nvSpPr>
          <p:cNvPr id="67" name="Text 64"/>
          <p:cNvSpPr/>
          <p:nvPr/>
        </p:nvSpPr>
        <p:spPr>
          <a:xfrm>
            <a:off x="2722436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1650" dirty="0"/>
          </a:p>
        </p:txBody>
      </p:sp>
      <p:sp>
        <p:nvSpPr>
          <p:cNvPr id="68" name="Text 65"/>
          <p:cNvSpPr/>
          <p:nvPr/>
        </p:nvSpPr>
        <p:spPr>
          <a:xfrm>
            <a:off x="2722436" y="3206748"/>
            <a:ext cx="48428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▼ 3 reviews</a:t>
            </a:r>
            <a:endParaRPr lang="en-US" sz="750" dirty="0"/>
          </a:p>
        </p:txBody>
      </p:sp>
      <p:sp>
        <p:nvSpPr>
          <p:cNvPr id="69" name="Text 66"/>
          <p:cNvSpPr/>
          <p:nvPr/>
        </p:nvSpPr>
        <p:spPr>
          <a:xfrm>
            <a:off x="3758696" y="3211391"/>
            <a:ext cx="354961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week</a:t>
            </a:r>
            <a:endParaRPr lang="en-US" sz="675" dirty="0"/>
          </a:p>
        </p:txBody>
      </p:sp>
      <p:sp>
        <p:nvSpPr>
          <p:cNvPr id="70" name="Shape 67"/>
          <p:cNvSpPr/>
          <p:nvPr/>
        </p:nvSpPr>
        <p:spPr>
          <a:xfrm>
            <a:off x="-2138934" y="3502690"/>
            <a:ext cx="400110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71" name="Text 68"/>
          <p:cNvSpPr/>
          <p:nvPr/>
        </p:nvSpPr>
        <p:spPr>
          <a:xfrm>
            <a:off x="-2059686" y="3522502"/>
            <a:ext cx="317814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24</a:t>
            </a:r>
            <a:endParaRPr lang="en-US" sz="975" dirty="0"/>
          </a:p>
        </p:txBody>
      </p:sp>
      <p:sp>
        <p:nvSpPr>
          <p:cNvPr id="72" name="Shape 69"/>
          <p:cNvSpPr/>
          <p:nvPr/>
        </p:nvSpPr>
        <p:spPr>
          <a:xfrm>
            <a:off x="-1694247" y="3502690"/>
            <a:ext cx="432304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-1614999" y="3522502"/>
            <a:ext cx="350008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3</a:t>
            </a:r>
            <a:endParaRPr lang="en-US" sz="975" dirty="0"/>
          </a:p>
        </p:txBody>
      </p:sp>
      <p:sp>
        <p:nvSpPr>
          <p:cNvPr id="74" name="Shape 71"/>
          <p:cNvSpPr/>
          <p:nvPr/>
        </p:nvSpPr>
        <p:spPr>
          <a:xfrm>
            <a:off x="-1217366" y="3502690"/>
            <a:ext cx="657898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75" name="Text 72"/>
          <p:cNvSpPr/>
          <p:nvPr/>
        </p:nvSpPr>
        <p:spPr>
          <a:xfrm>
            <a:off x="-1138118" y="3522502"/>
            <a:ext cx="575602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 4</a:t>
            </a:r>
            <a:endParaRPr lang="en-US" sz="975" dirty="0"/>
          </a:p>
        </p:txBody>
      </p:sp>
      <p:sp>
        <p:nvSpPr>
          <p:cNvPr id="76" name="Shape 73"/>
          <p:cNvSpPr/>
          <p:nvPr/>
        </p:nvSpPr>
        <p:spPr>
          <a:xfrm>
            <a:off x="-514891" y="3502690"/>
            <a:ext cx="518285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-435644" y="3522502"/>
            <a:ext cx="435989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2</a:t>
            </a:r>
            <a:endParaRPr lang="en-US" sz="975" dirty="0"/>
          </a:p>
        </p:txBody>
      </p:sp>
      <p:sp>
        <p:nvSpPr>
          <p:cNvPr id="78" name="Shape 75"/>
          <p:cNvSpPr/>
          <p:nvPr/>
        </p:nvSpPr>
        <p:spPr>
          <a:xfrm>
            <a:off x="47971" y="3502690"/>
            <a:ext cx="679258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79" name="Text 76"/>
          <p:cNvSpPr/>
          <p:nvPr/>
        </p:nvSpPr>
        <p:spPr>
          <a:xfrm>
            <a:off x="127219" y="3522502"/>
            <a:ext cx="596961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delivery 5</a:t>
            </a:r>
            <a:endParaRPr lang="en-US" sz="975" dirty="0"/>
          </a:p>
        </p:txBody>
      </p:sp>
      <p:sp>
        <p:nvSpPr>
          <p:cNvPr id="80" name="Shape 77"/>
          <p:cNvSpPr/>
          <p:nvPr/>
        </p:nvSpPr>
        <p:spPr>
          <a:xfrm>
            <a:off x="771805" y="3502690"/>
            <a:ext cx="759899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851053" y="3522502"/>
            <a:ext cx="677602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Completed 10</a:t>
            </a:r>
            <a:endParaRPr lang="en-US" sz="975" dirty="0"/>
          </a:p>
        </p:txBody>
      </p:sp>
      <p:sp>
        <p:nvSpPr>
          <p:cNvPr id="82" name="Shape 79"/>
          <p:cNvSpPr/>
          <p:nvPr/>
        </p:nvSpPr>
        <p:spPr>
          <a:xfrm>
            <a:off x="-2138934" y="3730528"/>
            <a:ext cx="6275451" cy="1771936"/>
          </a:xfrm>
          <a:prstGeom prst="roundRect">
            <a:avLst>
              <a:gd name="adj" fmla="val 430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-2129028" y="3740434"/>
            <a:ext cx="6255639" cy="221647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84" name="Shape 81"/>
          <p:cNvSpPr/>
          <p:nvPr/>
        </p:nvSpPr>
        <p:spPr>
          <a:xfrm>
            <a:off x="-2129028" y="3949381"/>
            <a:ext cx="6255639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85" name="Text 82"/>
          <p:cNvSpPr/>
          <p:nvPr/>
        </p:nvSpPr>
        <p:spPr>
          <a:xfrm>
            <a:off x="-2039874" y="3799870"/>
            <a:ext cx="8358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</a:t>
            </a:r>
            <a:endParaRPr lang="en-US" sz="750" dirty="0"/>
          </a:p>
        </p:txBody>
      </p:sp>
      <p:sp>
        <p:nvSpPr>
          <p:cNvPr id="86" name="Text 83"/>
          <p:cNvSpPr/>
          <p:nvPr/>
        </p:nvSpPr>
        <p:spPr>
          <a:xfrm>
            <a:off x="-1280208" y="3799870"/>
            <a:ext cx="113970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</a:t>
            </a:r>
            <a:endParaRPr lang="en-US" sz="750" dirty="0"/>
          </a:p>
        </p:txBody>
      </p:sp>
      <p:sp>
        <p:nvSpPr>
          <p:cNvPr id="87" name="Text 84"/>
          <p:cNvSpPr/>
          <p:nvPr/>
        </p:nvSpPr>
        <p:spPr>
          <a:xfrm>
            <a:off x="-216705" y="3799870"/>
            <a:ext cx="1291697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ITEMS</a:t>
            </a:r>
            <a:endParaRPr lang="en-US" sz="750" dirty="0"/>
          </a:p>
        </p:txBody>
      </p:sp>
      <p:sp>
        <p:nvSpPr>
          <p:cNvPr id="88" name="Text 85"/>
          <p:cNvSpPr/>
          <p:nvPr/>
        </p:nvSpPr>
        <p:spPr>
          <a:xfrm>
            <a:off x="998792" y="3799870"/>
            <a:ext cx="75986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</a:t>
            </a:r>
            <a:endParaRPr lang="en-US" sz="750" dirty="0"/>
          </a:p>
        </p:txBody>
      </p:sp>
      <p:sp>
        <p:nvSpPr>
          <p:cNvPr id="89" name="Text 86"/>
          <p:cNvSpPr/>
          <p:nvPr/>
        </p:nvSpPr>
        <p:spPr>
          <a:xfrm>
            <a:off x="1682461" y="3799870"/>
            <a:ext cx="75986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</a:t>
            </a:r>
            <a:endParaRPr lang="en-US" sz="750" dirty="0"/>
          </a:p>
        </p:txBody>
      </p:sp>
      <p:sp>
        <p:nvSpPr>
          <p:cNvPr id="90" name="Text 87"/>
          <p:cNvSpPr/>
          <p:nvPr/>
        </p:nvSpPr>
        <p:spPr>
          <a:xfrm>
            <a:off x="2366129" y="3799870"/>
            <a:ext cx="98778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91" name="Text 88"/>
          <p:cNvSpPr/>
          <p:nvPr/>
        </p:nvSpPr>
        <p:spPr>
          <a:xfrm>
            <a:off x="3277714" y="3799870"/>
            <a:ext cx="8358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ACTIONS</a:t>
            </a:r>
            <a:endParaRPr lang="en-US" sz="750" dirty="0"/>
          </a:p>
        </p:txBody>
      </p:sp>
      <p:sp>
        <p:nvSpPr>
          <p:cNvPr id="92" name="Shape 89"/>
          <p:cNvSpPr/>
          <p:nvPr/>
        </p:nvSpPr>
        <p:spPr>
          <a:xfrm>
            <a:off x="-2129028" y="4262817"/>
            <a:ext cx="625563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93" name="Text 90"/>
          <p:cNvSpPr/>
          <p:nvPr/>
        </p:nvSpPr>
        <p:spPr>
          <a:xfrm>
            <a:off x="-2039874" y="4043805"/>
            <a:ext cx="148018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</a:t>
            </a:r>
            <a:endParaRPr lang="en-US" sz="1200" dirty="0"/>
          </a:p>
        </p:txBody>
      </p:sp>
      <p:sp>
        <p:nvSpPr>
          <p:cNvPr id="94" name="Text 91"/>
          <p:cNvSpPr/>
          <p:nvPr/>
        </p:nvSpPr>
        <p:spPr>
          <a:xfrm>
            <a:off x="-1923478" y="4057426"/>
            <a:ext cx="32416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#7831</a:t>
            </a:r>
            <a:endParaRPr lang="en-US" sz="900" dirty="0"/>
          </a:p>
        </p:txBody>
      </p:sp>
      <p:sp>
        <p:nvSpPr>
          <p:cNvPr id="95" name="Text 92"/>
          <p:cNvSpPr/>
          <p:nvPr/>
        </p:nvSpPr>
        <p:spPr>
          <a:xfrm>
            <a:off x="-1280208" y="4057426"/>
            <a:ext cx="113970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 N.</a:t>
            </a:r>
            <a:endParaRPr lang="en-US" sz="900" dirty="0"/>
          </a:p>
        </p:txBody>
      </p:sp>
      <p:sp>
        <p:nvSpPr>
          <p:cNvPr id="96" name="Text 93"/>
          <p:cNvSpPr/>
          <p:nvPr/>
        </p:nvSpPr>
        <p:spPr>
          <a:xfrm>
            <a:off x="-216705" y="4062069"/>
            <a:ext cx="129169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2× Cinnamon roll, 1 Sourdough</a:t>
            </a:r>
            <a:endParaRPr lang="en-US" sz="825" dirty="0"/>
          </a:p>
        </p:txBody>
      </p:sp>
      <p:sp>
        <p:nvSpPr>
          <p:cNvPr id="97" name="Text 94"/>
          <p:cNvSpPr/>
          <p:nvPr/>
        </p:nvSpPr>
        <p:spPr>
          <a:xfrm>
            <a:off x="998792" y="4057426"/>
            <a:ext cx="75986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36,000</a:t>
            </a:r>
            <a:endParaRPr lang="en-US" sz="900" dirty="0"/>
          </a:p>
        </p:txBody>
      </p:sp>
      <p:sp>
        <p:nvSpPr>
          <p:cNvPr id="98" name="Text 95"/>
          <p:cNvSpPr/>
          <p:nvPr/>
        </p:nvSpPr>
        <p:spPr>
          <a:xfrm>
            <a:off x="1682461" y="4062069"/>
            <a:ext cx="75986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✓</a:t>
            </a:r>
            <a:endParaRPr lang="en-US" sz="825" dirty="0"/>
          </a:p>
        </p:txBody>
      </p:sp>
      <p:sp>
        <p:nvSpPr>
          <p:cNvPr id="99" name="Shape 96"/>
          <p:cNvSpPr/>
          <p:nvPr/>
        </p:nvSpPr>
        <p:spPr>
          <a:xfrm>
            <a:off x="2366129" y="4036375"/>
            <a:ext cx="351740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00" name="Text 97"/>
          <p:cNvSpPr/>
          <p:nvPr/>
        </p:nvSpPr>
        <p:spPr>
          <a:xfrm>
            <a:off x="2467729" y="4061775"/>
            <a:ext cx="2247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75" dirty="0"/>
          </a:p>
        </p:txBody>
      </p:sp>
      <p:sp>
        <p:nvSpPr>
          <p:cNvPr id="101" name="Shape 98"/>
          <p:cNvSpPr/>
          <p:nvPr/>
        </p:nvSpPr>
        <p:spPr>
          <a:xfrm>
            <a:off x="3277714" y="4021517"/>
            <a:ext cx="440972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02" name="Text 99"/>
          <p:cNvSpPr/>
          <p:nvPr/>
        </p:nvSpPr>
        <p:spPr>
          <a:xfrm>
            <a:off x="3361914" y="4061140"/>
            <a:ext cx="348770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03" name="Shape 100"/>
          <p:cNvSpPr/>
          <p:nvPr/>
        </p:nvSpPr>
        <p:spPr>
          <a:xfrm>
            <a:off x="3748403" y="4021517"/>
            <a:ext cx="257556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832604" y="4061140"/>
            <a:ext cx="165354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105" name="Shape 102"/>
          <p:cNvSpPr/>
          <p:nvPr/>
        </p:nvSpPr>
        <p:spPr>
          <a:xfrm>
            <a:off x="-2129028" y="4569903"/>
            <a:ext cx="625563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06" name="Text 103"/>
          <p:cNvSpPr/>
          <p:nvPr/>
        </p:nvSpPr>
        <p:spPr>
          <a:xfrm>
            <a:off x="-2039874" y="4364512"/>
            <a:ext cx="32415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#7830</a:t>
            </a:r>
            <a:endParaRPr lang="en-US" sz="900" dirty="0"/>
          </a:p>
        </p:txBody>
      </p:sp>
      <p:sp>
        <p:nvSpPr>
          <p:cNvPr id="107" name="Text 104"/>
          <p:cNvSpPr/>
          <p:nvPr/>
        </p:nvSpPr>
        <p:spPr>
          <a:xfrm>
            <a:off x="-1280208" y="4364512"/>
            <a:ext cx="113970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K.</a:t>
            </a:r>
            <a:endParaRPr lang="en-US" sz="900" dirty="0"/>
          </a:p>
        </p:txBody>
      </p:sp>
      <p:sp>
        <p:nvSpPr>
          <p:cNvPr id="108" name="Text 105"/>
          <p:cNvSpPr/>
          <p:nvPr/>
        </p:nvSpPr>
        <p:spPr>
          <a:xfrm>
            <a:off x="-216705" y="4369155"/>
            <a:ext cx="129169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 cake combo</a:t>
            </a:r>
            <a:endParaRPr lang="en-US" sz="825" dirty="0"/>
          </a:p>
        </p:txBody>
      </p:sp>
      <p:sp>
        <p:nvSpPr>
          <p:cNvPr id="109" name="Text 106"/>
          <p:cNvSpPr/>
          <p:nvPr/>
        </p:nvSpPr>
        <p:spPr>
          <a:xfrm>
            <a:off x="998792" y="4364512"/>
            <a:ext cx="75986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48,000</a:t>
            </a:r>
            <a:endParaRPr lang="en-US" sz="900" dirty="0"/>
          </a:p>
        </p:txBody>
      </p:sp>
      <p:sp>
        <p:nvSpPr>
          <p:cNvPr id="110" name="Text 107"/>
          <p:cNvSpPr/>
          <p:nvPr/>
        </p:nvSpPr>
        <p:spPr>
          <a:xfrm>
            <a:off x="1682461" y="4369155"/>
            <a:ext cx="75986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✓</a:t>
            </a:r>
            <a:endParaRPr lang="en-US" sz="825" dirty="0"/>
          </a:p>
        </p:txBody>
      </p:sp>
      <p:sp>
        <p:nvSpPr>
          <p:cNvPr id="111" name="Shape 108"/>
          <p:cNvSpPr/>
          <p:nvPr/>
        </p:nvSpPr>
        <p:spPr>
          <a:xfrm>
            <a:off x="2366129" y="4343461"/>
            <a:ext cx="577334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2467729" y="4368861"/>
            <a:ext cx="450334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975" dirty="0"/>
          </a:p>
        </p:txBody>
      </p:sp>
      <p:sp>
        <p:nvSpPr>
          <p:cNvPr id="113" name="Shape 110"/>
          <p:cNvSpPr/>
          <p:nvPr/>
        </p:nvSpPr>
        <p:spPr>
          <a:xfrm>
            <a:off x="3277714" y="4328603"/>
            <a:ext cx="440972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361914" y="4368226"/>
            <a:ext cx="348770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15" name="Shape 112"/>
          <p:cNvSpPr/>
          <p:nvPr/>
        </p:nvSpPr>
        <p:spPr>
          <a:xfrm>
            <a:off x="3748403" y="4328603"/>
            <a:ext cx="257556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6" name="Text 113"/>
          <p:cNvSpPr/>
          <p:nvPr/>
        </p:nvSpPr>
        <p:spPr>
          <a:xfrm>
            <a:off x="3832604" y="4368226"/>
            <a:ext cx="165354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117" name="Shape 114"/>
          <p:cNvSpPr/>
          <p:nvPr/>
        </p:nvSpPr>
        <p:spPr>
          <a:xfrm>
            <a:off x="-2129028" y="4876989"/>
            <a:ext cx="625563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18" name="Text 115"/>
          <p:cNvSpPr/>
          <p:nvPr/>
        </p:nvSpPr>
        <p:spPr>
          <a:xfrm>
            <a:off x="-2039874" y="4671598"/>
            <a:ext cx="32415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#7829</a:t>
            </a:r>
            <a:endParaRPr lang="en-US" sz="900" dirty="0"/>
          </a:p>
        </p:txBody>
      </p:sp>
      <p:sp>
        <p:nvSpPr>
          <p:cNvPr id="119" name="Text 116"/>
          <p:cNvSpPr/>
          <p:nvPr/>
        </p:nvSpPr>
        <p:spPr>
          <a:xfrm>
            <a:off x="-1280208" y="4671598"/>
            <a:ext cx="113970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900" dirty="0"/>
          </a:p>
        </p:txBody>
      </p:sp>
      <p:sp>
        <p:nvSpPr>
          <p:cNvPr id="120" name="Text 117"/>
          <p:cNvSpPr/>
          <p:nvPr/>
        </p:nvSpPr>
        <p:spPr>
          <a:xfrm>
            <a:off x="-216705" y="4676241"/>
            <a:ext cx="129169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 Croissant</a:t>
            </a:r>
            <a:endParaRPr lang="en-US" sz="825" dirty="0"/>
          </a:p>
        </p:txBody>
      </p:sp>
      <p:sp>
        <p:nvSpPr>
          <p:cNvPr id="121" name="Text 118"/>
          <p:cNvSpPr/>
          <p:nvPr/>
        </p:nvSpPr>
        <p:spPr>
          <a:xfrm>
            <a:off x="998792" y="4671598"/>
            <a:ext cx="75986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18,000</a:t>
            </a:r>
            <a:endParaRPr lang="en-US" sz="900" dirty="0"/>
          </a:p>
        </p:txBody>
      </p:sp>
      <p:sp>
        <p:nvSpPr>
          <p:cNvPr id="122" name="Text 119"/>
          <p:cNvSpPr/>
          <p:nvPr/>
        </p:nvSpPr>
        <p:spPr>
          <a:xfrm>
            <a:off x="1682461" y="4676241"/>
            <a:ext cx="75986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✓</a:t>
            </a:r>
            <a:endParaRPr lang="en-US" sz="825" dirty="0"/>
          </a:p>
        </p:txBody>
      </p:sp>
      <p:sp>
        <p:nvSpPr>
          <p:cNvPr id="123" name="Shape 120"/>
          <p:cNvSpPr/>
          <p:nvPr/>
        </p:nvSpPr>
        <p:spPr>
          <a:xfrm>
            <a:off x="2366129" y="4650547"/>
            <a:ext cx="437721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2467729" y="4675947"/>
            <a:ext cx="310721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75" dirty="0"/>
          </a:p>
        </p:txBody>
      </p:sp>
      <p:sp>
        <p:nvSpPr>
          <p:cNvPr id="125" name="Shape 122"/>
          <p:cNvSpPr/>
          <p:nvPr/>
        </p:nvSpPr>
        <p:spPr>
          <a:xfrm>
            <a:off x="3277714" y="4635689"/>
            <a:ext cx="440972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6" name="Text 123"/>
          <p:cNvSpPr/>
          <p:nvPr/>
        </p:nvSpPr>
        <p:spPr>
          <a:xfrm>
            <a:off x="3361914" y="4675312"/>
            <a:ext cx="348770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27" name="Shape 124"/>
          <p:cNvSpPr/>
          <p:nvPr/>
        </p:nvSpPr>
        <p:spPr>
          <a:xfrm>
            <a:off x="3748403" y="4635689"/>
            <a:ext cx="257556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3832604" y="4675312"/>
            <a:ext cx="165354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129" name="Shape 126"/>
          <p:cNvSpPr/>
          <p:nvPr/>
        </p:nvSpPr>
        <p:spPr>
          <a:xfrm>
            <a:off x="-2129028" y="5184074"/>
            <a:ext cx="625563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30" name="Text 127"/>
          <p:cNvSpPr/>
          <p:nvPr/>
        </p:nvSpPr>
        <p:spPr>
          <a:xfrm>
            <a:off x="-2039874" y="4978684"/>
            <a:ext cx="32415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#7828</a:t>
            </a:r>
            <a:endParaRPr lang="en-US" sz="900" dirty="0"/>
          </a:p>
        </p:txBody>
      </p:sp>
      <p:sp>
        <p:nvSpPr>
          <p:cNvPr id="131" name="Text 128"/>
          <p:cNvSpPr/>
          <p:nvPr/>
        </p:nvSpPr>
        <p:spPr>
          <a:xfrm>
            <a:off x="-1280208" y="4978684"/>
            <a:ext cx="113970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O.</a:t>
            </a:r>
            <a:endParaRPr lang="en-US" sz="900" dirty="0"/>
          </a:p>
        </p:txBody>
      </p:sp>
      <p:sp>
        <p:nvSpPr>
          <p:cNvPr id="132" name="Text 129"/>
          <p:cNvSpPr/>
          <p:nvPr/>
        </p:nvSpPr>
        <p:spPr>
          <a:xfrm>
            <a:off x="-216705" y="4983327"/>
            <a:ext cx="129169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Choc cake</a:t>
            </a:r>
            <a:endParaRPr lang="en-US" sz="825" dirty="0"/>
          </a:p>
        </p:txBody>
      </p:sp>
      <p:sp>
        <p:nvSpPr>
          <p:cNvPr id="133" name="Text 130"/>
          <p:cNvSpPr/>
          <p:nvPr/>
        </p:nvSpPr>
        <p:spPr>
          <a:xfrm>
            <a:off x="998792" y="4978684"/>
            <a:ext cx="75986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60,000</a:t>
            </a:r>
            <a:endParaRPr lang="en-US" sz="900" dirty="0"/>
          </a:p>
        </p:txBody>
      </p:sp>
      <p:sp>
        <p:nvSpPr>
          <p:cNvPr id="134" name="Text 131"/>
          <p:cNvSpPr/>
          <p:nvPr/>
        </p:nvSpPr>
        <p:spPr>
          <a:xfrm>
            <a:off x="1682461" y="4983327"/>
            <a:ext cx="75986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</a:t>
            </a:r>
            <a:endParaRPr lang="en-US" sz="825" dirty="0"/>
          </a:p>
        </p:txBody>
      </p:sp>
      <p:sp>
        <p:nvSpPr>
          <p:cNvPr id="135" name="Shape 132"/>
          <p:cNvSpPr/>
          <p:nvPr/>
        </p:nvSpPr>
        <p:spPr>
          <a:xfrm>
            <a:off x="2366129" y="4957633"/>
            <a:ext cx="598694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36" name="Text 133"/>
          <p:cNvSpPr/>
          <p:nvPr/>
        </p:nvSpPr>
        <p:spPr>
          <a:xfrm>
            <a:off x="2467729" y="4983033"/>
            <a:ext cx="471694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delivery</a:t>
            </a:r>
            <a:endParaRPr lang="en-US" sz="975" dirty="0"/>
          </a:p>
        </p:txBody>
      </p:sp>
      <p:sp>
        <p:nvSpPr>
          <p:cNvPr id="137" name="Shape 134"/>
          <p:cNvSpPr/>
          <p:nvPr/>
        </p:nvSpPr>
        <p:spPr>
          <a:xfrm>
            <a:off x="3277714" y="4942774"/>
            <a:ext cx="440972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38" name="Text 135"/>
          <p:cNvSpPr/>
          <p:nvPr/>
        </p:nvSpPr>
        <p:spPr>
          <a:xfrm>
            <a:off x="3361914" y="4982398"/>
            <a:ext cx="348770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39" name="Shape 136"/>
          <p:cNvSpPr/>
          <p:nvPr/>
        </p:nvSpPr>
        <p:spPr>
          <a:xfrm>
            <a:off x="3748403" y="4942774"/>
            <a:ext cx="257556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40" name="Text 137"/>
          <p:cNvSpPr/>
          <p:nvPr/>
        </p:nvSpPr>
        <p:spPr>
          <a:xfrm>
            <a:off x="3832604" y="4982398"/>
            <a:ext cx="165354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141" name="Text 138"/>
          <p:cNvSpPr/>
          <p:nvPr/>
        </p:nvSpPr>
        <p:spPr>
          <a:xfrm>
            <a:off x="-2039874" y="5285770"/>
            <a:ext cx="32415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#7827</a:t>
            </a:r>
            <a:endParaRPr lang="en-US" sz="900" dirty="0"/>
          </a:p>
        </p:txBody>
      </p:sp>
      <p:sp>
        <p:nvSpPr>
          <p:cNvPr id="142" name="Text 139"/>
          <p:cNvSpPr/>
          <p:nvPr/>
        </p:nvSpPr>
        <p:spPr>
          <a:xfrm>
            <a:off x="-1280208" y="5285770"/>
            <a:ext cx="113970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L.</a:t>
            </a:r>
            <a:endParaRPr lang="en-US" sz="900" dirty="0"/>
          </a:p>
        </p:txBody>
      </p:sp>
      <p:sp>
        <p:nvSpPr>
          <p:cNvPr id="143" name="Text 140"/>
          <p:cNvSpPr/>
          <p:nvPr/>
        </p:nvSpPr>
        <p:spPr>
          <a:xfrm>
            <a:off x="-216705" y="5290413"/>
            <a:ext cx="1291697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 x3, Cookies</a:t>
            </a:r>
            <a:endParaRPr lang="en-US" sz="825" dirty="0"/>
          </a:p>
        </p:txBody>
      </p:sp>
      <p:sp>
        <p:nvSpPr>
          <p:cNvPr id="144" name="Text 141"/>
          <p:cNvSpPr/>
          <p:nvPr/>
        </p:nvSpPr>
        <p:spPr>
          <a:xfrm>
            <a:off x="998792" y="5285770"/>
            <a:ext cx="75986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22,000</a:t>
            </a:r>
            <a:endParaRPr lang="en-US" sz="900" dirty="0"/>
          </a:p>
        </p:txBody>
      </p:sp>
      <p:sp>
        <p:nvSpPr>
          <p:cNvPr id="145" name="Text 142"/>
          <p:cNvSpPr/>
          <p:nvPr/>
        </p:nvSpPr>
        <p:spPr>
          <a:xfrm>
            <a:off x="1682461" y="5290413"/>
            <a:ext cx="759869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✓</a:t>
            </a:r>
            <a:endParaRPr lang="en-US" sz="825" dirty="0"/>
          </a:p>
        </p:txBody>
      </p:sp>
      <p:sp>
        <p:nvSpPr>
          <p:cNvPr id="146" name="Shape 143"/>
          <p:cNvSpPr/>
          <p:nvPr/>
        </p:nvSpPr>
        <p:spPr>
          <a:xfrm>
            <a:off x="2366129" y="5264719"/>
            <a:ext cx="566499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47" name="Text 144"/>
          <p:cNvSpPr/>
          <p:nvPr/>
        </p:nvSpPr>
        <p:spPr>
          <a:xfrm>
            <a:off x="2467729" y="5290119"/>
            <a:ext cx="439499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Delivered</a:t>
            </a:r>
            <a:endParaRPr lang="en-US" sz="975" dirty="0"/>
          </a:p>
        </p:txBody>
      </p:sp>
      <p:sp>
        <p:nvSpPr>
          <p:cNvPr id="148" name="Shape 145"/>
          <p:cNvSpPr/>
          <p:nvPr/>
        </p:nvSpPr>
        <p:spPr>
          <a:xfrm>
            <a:off x="3277714" y="5249861"/>
            <a:ext cx="440972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361914" y="5289485"/>
            <a:ext cx="348770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</a:t>
            </a:r>
            <a:endParaRPr lang="en-US" sz="900" dirty="0"/>
          </a:p>
        </p:txBody>
      </p:sp>
      <p:sp>
        <p:nvSpPr>
          <p:cNvPr id="150" name="Shape 147"/>
          <p:cNvSpPr/>
          <p:nvPr/>
        </p:nvSpPr>
        <p:spPr>
          <a:xfrm>
            <a:off x="3748403" y="5249861"/>
            <a:ext cx="257556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51" name="Text 148"/>
          <p:cNvSpPr/>
          <p:nvPr/>
        </p:nvSpPr>
        <p:spPr>
          <a:xfrm>
            <a:off x="3832604" y="5289485"/>
            <a:ext cx="165354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</a:t>
            </a:r>
            <a:endParaRPr lang="en-US" sz="900" dirty="0"/>
          </a:p>
        </p:txBody>
      </p:sp>
      <p:sp>
        <p:nvSpPr>
          <p:cNvPr id="152" name="Text 149"/>
          <p:cNvSpPr/>
          <p:nvPr/>
        </p:nvSpPr>
        <p:spPr>
          <a:xfrm rot="120000">
            <a:off x="3169920" y="3241970"/>
            <a:ext cx="10287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orders pulse — audio + visual notification</a:t>
            </a:r>
            <a:endParaRPr lang="en-US" sz="1200" dirty="0"/>
          </a:p>
        </p:txBody>
      </p:sp>
      <p:sp>
        <p:nvSpPr>
          <p:cNvPr id="153" name="Text 150"/>
          <p:cNvSpPr/>
          <p:nvPr/>
        </p:nvSpPr>
        <p:spPr>
          <a:xfrm>
            <a:off x="-241548" y="7024272"/>
            <a:ext cx="1224522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Operational</a:t>
            </a:r>
            <a:endParaRPr lang="en-US" sz="2100" dirty="0"/>
          </a:p>
        </p:txBody>
      </p:sp>
      <p:sp>
        <p:nvSpPr>
          <p:cNvPr id="154" name="Text 151"/>
          <p:cNvSpPr/>
          <p:nvPr/>
        </p:nvSpPr>
        <p:spPr>
          <a:xfrm>
            <a:off x="5072634" y="1841500"/>
            <a:ext cx="8387014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Analytics-led overview</a:t>
            </a:r>
            <a:endParaRPr lang="en-US" sz="1200" dirty="0"/>
          </a:p>
        </p:txBody>
      </p:sp>
      <p:sp>
        <p:nvSpPr>
          <p:cNvPr id="155" name="Shape 152"/>
          <p:cNvSpPr/>
          <p:nvPr/>
        </p:nvSpPr>
        <p:spPr>
          <a:xfrm>
            <a:off x="5072634" y="2046508"/>
            <a:ext cx="8142732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5087494" y="2222022"/>
            <a:ext cx="8113013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7" name="Shape 154"/>
          <p:cNvSpPr/>
          <p:nvPr/>
        </p:nvSpPr>
        <p:spPr>
          <a:xfrm>
            <a:off x="514692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524598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534504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60" name="Text 157"/>
          <p:cNvSpPr/>
          <p:nvPr/>
        </p:nvSpPr>
        <p:spPr>
          <a:xfrm>
            <a:off x="5518404" y="2092013"/>
            <a:ext cx="90992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161" name="Shape 158"/>
          <p:cNvSpPr/>
          <p:nvPr/>
        </p:nvSpPr>
        <p:spPr>
          <a:xfrm>
            <a:off x="5146929" y="2294158"/>
            <a:ext cx="1421511" cy="4487418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162" name="Shape 159"/>
          <p:cNvSpPr/>
          <p:nvPr/>
        </p:nvSpPr>
        <p:spPr>
          <a:xfrm>
            <a:off x="6555740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63" name="Shape 160"/>
          <p:cNvSpPr/>
          <p:nvPr/>
        </p:nvSpPr>
        <p:spPr>
          <a:xfrm>
            <a:off x="5221224" y="2669189"/>
            <a:ext cx="126301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64" name="Shape 161"/>
          <p:cNvSpPr/>
          <p:nvPr/>
        </p:nvSpPr>
        <p:spPr>
          <a:xfrm>
            <a:off x="5221224" y="2383312"/>
            <a:ext cx="227838" cy="227838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5195824" y="2396012"/>
            <a:ext cx="278638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840" dirty="0"/>
          </a:p>
        </p:txBody>
      </p:sp>
      <p:sp>
        <p:nvSpPr>
          <p:cNvPr id="166" name="Text 163"/>
          <p:cNvSpPr/>
          <p:nvPr/>
        </p:nvSpPr>
        <p:spPr>
          <a:xfrm>
            <a:off x="5508498" y="2399719"/>
            <a:ext cx="660886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900" dirty="0"/>
          </a:p>
        </p:txBody>
      </p:sp>
      <p:sp>
        <p:nvSpPr>
          <p:cNvPr id="167" name="Text 164"/>
          <p:cNvSpPr/>
          <p:nvPr/>
        </p:nvSpPr>
        <p:spPr>
          <a:xfrm>
            <a:off x="5508498" y="2511161"/>
            <a:ext cx="66088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</a:t>
            </a:r>
            <a:endParaRPr lang="en-US" sz="675" dirty="0"/>
          </a:p>
        </p:txBody>
      </p:sp>
      <p:sp>
        <p:nvSpPr>
          <p:cNvPr id="168" name="Shape 165"/>
          <p:cNvSpPr/>
          <p:nvPr/>
        </p:nvSpPr>
        <p:spPr>
          <a:xfrm>
            <a:off x="5221224" y="2779552"/>
            <a:ext cx="1263015" cy="200597"/>
          </a:xfrm>
          <a:prstGeom prst="roundRect">
            <a:avLst>
              <a:gd name="adj" fmla="val 28490"/>
            </a:avLst>
          </a:prstGeom>
          <a:solidFill>
            <a:srgbClr val="D97757">
              <a:alpha val="12000"/>
            </a:srgbClr>
          </a:solidFill>
          <a:ln/>
        </p:spPr>
      </p:sp>
      <p:sp>
        <p:nvSpPr>
          <p:cNvPr id="169" name="Shape 166"/>
          <p:cNvSpPr/>
          <p:nvPr/>
        </p:nvSpPr>
        <p:spPr>
          <a:xfrm>
            <a:off x="5221224" y="2779552"/>
            <a:ext cx="25400" cy="200597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0" name="Text 167"/>
          <p:cNvSpPr/>
          <p:nvPr/>
        </p:nvSpPr>
        <p:spPr>
          <a:xfrm>
            <a:off x="5300472" y="2824129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900" dirty="0"/>
          </a:p>
        </p:txBody>
      </p:sp>
      <p:sp>
        <p:nvSpPr>
          <p:cNvPr id="171" name="Text 168"/>
          <p:cNvSpPr/>
          <p:nvPr/>
        </p:nvSpPr>
        <p:spPr>
          <a:xfrm>
            <a:off x="5482340" y="2824129"/>
            <a:ext cx="51237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72" name="Text 169"/>
          <p:cNvSpPr/>
          <p:nvPr/>
        </p:nvSpPr>
        <p:spPr>
          <a:xfrm>
            <a:off x="5300472" y="3054443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900" dirty="0"/>
          </a:p>
        </p:txBody>
      </p:sp>
      <p:sp>
        <p:nvSpPr>
          <p:cNvPr id="173" name="Text 170"/>
          <p:cNvSpPr/>
          <p:nvPr/>
        </p:nvSpPr>
        <p:spPr>
          <a:xfrm>
            <a:off x="5482340" y="3054443"/>
            <a:ext cx="34869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5300472" y="3284758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</a:t>
            </a:r>
            <a:endParaRPr lang="en-US" sz="900" dirty="0"/>
          </a:p>
        </p:txBody>
      </p:sp>
      <p:sp>
        <p:nvSpPr>
          <p:cNvPr id="175" name="Text 172"/>
          <p:cNvSpPr/>
          <p:nvPr/>
        </p:nvSpPr>
        <p:spPr>
          <a:xfrm>
            <a:off x="5482340" y="3284758"/>
            <a:ext cx="29924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900" dirty="0"/>
          </a:p>
        </p:txBody>
      </p:sp>
      <p:sp>
        <p:nvSpPr>
          <p:cNvPr id="176" name="Text 173"/>
          <p:cNvSpPr/>
          <p:nvPr/>
        </p:nvSpPr>
        <p:spPr>
          <a:xfrm>
            <a:off x="5300472" y="3515072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5449062" y="3515072"/>
            <a:ext cx="527155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</a:t>
            </a:r>
            <a:endParaRPr lang="en-US" sz="900" dirty="0"/>
          </a:p>
        </p:txBody>
      </p:sp>
      <p:sp>
        <p:nvSpPr>
          <p:cNvPr id="178" name="Text 175"/>
          <p:cNvSpPr/>
          <p:nvPr/>
        </p:nvSpPr>
        <p:spPr>
          <a:xfrm>
            <a:off x="5300472" y="3745387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5482340" y="3745387"/>
            <a:ext cx="43297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180" name="Text 177"/>
          <p:cNvSpPr/>
          <p:nvPr/>
        </p:nvSpPr>
        <p:spPr>
          <a:xfrm>
            <a:off x="5300472" y="3975701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181" name="Text 178"/>
          <p:cNvSpPr/>
          <p:nvPr/>
        </p:nvSpPr>
        <p:spPr>
          <a:xfrm>
            <a:off x="5482340" y="3975701"/>
            <a:ext cx="25799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900" dirty="0"/>
          </a:p>
        </p:txBody>
      </p:sp>
      <p:sp>
        <p:nvSpPr>
          <p:cNvPr id="182" name="Text 179"/>
          <p:cNvSpPr/>
          <p:nvPr/>
        </p:nvSpPr>
        <p:spPr>
          <a:xfrm>
            <a:off x="5300472" y="4206016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900" dirty="0"/>
          </a:p>
        </p:txBody>
      </p:sp>
      <p:sp>
        <p:nvSpPr>
          <p:cNvPr id="183" name="Text 180"/>
          <p:cNvSpPr/>
          <p:nvPr/>
        </p:nvSpPr>
        <p:spPr>
          <a:xfrm>
            <a:off x="5482340" y="4206016"/>
            <a:ext cx="398377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900" dirty="0"/>
          </a:p>
        </p:txBody>
      </p:sp>
      <p:sp>
        <p:nvSpPr>
          <p:cNvPr id="184" name="Text 181"/>
          <p:cNvSpPr/>
          <p:nvPr/>
        </p:nvSpPr>
        <p:spPr>
          <a:xfrm>
            <a:off x="5300472" y="4436330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185" name="Text 182"/>
          <p:cNvSpPr/>
          <p:nvPr/>
        </p:nvSpPr>
        <p:spPr>
          <a:xfrm>
            <a:off x="5435054" y="4436330"/>
            <a:ext cx="39837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186" name="Shape 183"/>
          <p:cNvSpPr/>
          <p:nvPr/>
        </p:nvSpPr>
        <p:spPr>
          <a:xfrm>
            <a:off x="5221224" y="6475728"/>
            <a:ext cx="126301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87" name="Text 184"/>
          <p:cNvSpPr/>
          <p:nvPr/>
        </p:nvSpPr>
        <p:spPr>
          <a:xfrm>
            <a:off x="5280660" y="6540117"/>
            <a:ext cx="1220343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· status: 🟢 online</a:t>
            </a:r>
            <a:endParaRPr lang="en-US" sz="750" dirty="0"/>
          </a:p>
        </p:txBody>
      </p:sp>
      <p:sp>
        <p:nvSpPr>
          <p:cNvPr id="188" name="Text 185"/>
          <p:cNvSpPr/>
          <p:nvPr/>
        </p:nvSpPr>
        <p:spPr>
          <a:xfrm>
            <a:off x="6672453" y="2398171"/>
            <a:ext cx="1374505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back, Diana</a:t>
            </a:r>
            <a:endParaRPr lang="en-US" sz="1350" dirty="0"/>
          </a:p>
        </p:txBody>
      </p:sp>
      <p:pic>
        <p:nvPicPr>
          <p:cNvPr id="18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453" y="2550476"/>
            <a:ext cx="1298305" cy="44577"/>
          </a:xfrm>
          <a:prstGeom prst="rect">
            <a:avLst/>
          </a:prstGeom>
        </p:spPr>
      </p:pic>
      <p:sp>
        <p:nvSpPr>
          <p:cNvPr id="190" name="Text 186"/>
          <p:cNvSpPr/>
          <p:nvPr/>
        </p:nvSpPr>
        <p:spPr>
          <a:xfrm>
            <a:off x="6672453" y="2565335"/>
            <a:ext cx="137450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Here's how Sweet Crumbs is doing</a:t>
            </a:r>
            <a:endParaRPr lang="en-US" sz="825" dirty="0"/>
          </a:p>
        </p:txBody>
      </p:sp>
      <p:sp>
        <p:nvSpPr>
          <p:cNvPr id="191" name="Shape 187"/>
          <p:cNvSpPr/>
          <p:nvPr/>
        </p:nvSpPr>
        <p:spPr>
          <a:xfrm>
            <a:off x="10855649" y="2398171"/>
            <a:ext cx="416284" cy="269319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92" name="Text 188"/>
          <p:cNvSpPr/>
          <p:nvPr/>
        </p:nvSpPr>
        <p:spPr>
          <a:xfrm>
            <a:off x="10934896" y="2475871"/>
            <a:ext cx="333988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75" dirty="0"/>
          </a:p>
        </p:txBody>
      </p:sp>
      <p:sp>
        <p:nvSpPr>
          <p:cNvPr id="193" name="Shape 189"/>
          <p:cNvSpPr/>
          <p:nvPr/>
        </p:nvSpPr>
        <p:spPr>
          <a:xfrm>
            <a:off x="11316509" y="2398171"/>
            <a:ext cx="443061" cy="269319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94" name="Text 190"/>
          <p:cNvSpPr/>
          <p:nvPr/>
        </p:nvSpPr>
        <p:spPr>
          <a:xfrm>
            <a:off x="11395758" y="2475871"/>
            <a:ext cx="360766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days</a:t>
            </a:r>
            <a:endParaRPr lang="en-US" sz="975" dirty="0"/>
          </a:p>
        </p:txBody>
      </p:sp>
      <p:sp>
        <p:nvSpPr>
          <p:cNvPr id="195" name="Shape 191"/>
          <p:cNvSpPr/>
          <p:nvPr/>
        </p:nvSpPr>
        <p:spPr>
          <a:xfrm>
            <a:off x="11804148" y="2398171"/>
            <a:ext cx="496848" cy="269319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96" name="Text 192"/>
          <p:cNvSpPr/>
          <p:nvPr/>
        </p:nvSpPr>
        <p:spPr>
          <a:xfrm>
            <a:off x="11883396" y="2475871"/>
            <a:ext cx="414552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days</a:t>
            </a:r>
            <a:endParaRPr lang="en-US" sz="975" dirty="0"/>
          </a:p>
        </p:txBody>
      </p:sp>
      <p:sp>
        <p:nvSpPr>
          <p:cNvPr id="197" name="Shape 193"/>
          <p:cNvSpPr/>
          <p:nvPr/>
        </p:nvSpPr>
        <p:spPr>
          <a:xfrm>
            <a:off x="12345573" y="2398171"/>
            <a:ext cx="602331" cy="269319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98" name="Text 194"/>
          <p:cNvSpPr/>
          <p:nvPr/>
        </p:nvSpPr>
        <p:spPr>
          <a:xfrm>
            <a:off x="12424821" y="2473394"/>
            <a:ext cx="520035" cy="15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▾</a:t>
            </a:r>
            <a:endParaRPr lang="en-US" sz="975" dirty="0"/>
          </a:p>
        </p:txBody>
      </p:sp>
      <p:sp>
        <p:nvSpPr>
          <p:cNvPr id="199" name="Shape 195"/>
          <p:cNvSpPr/>
          <p:nvPr/>
        </p:nvSpPr>
        <p:spPr>
          <a:xfrm>
            <a:off x="6672453" y="2756644"/>
            <a:ext cx="1513142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00" name="Text 196"/>
          <p:cNvSpPr/>
          <p:nvPr/>
        </p:nvSpPr>
        <p:spPr>
          <a:xfrm>
            <a:off x="6771513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825" dirty="0"/>
          </a:p>
        </p:txBody>
      </p:sp>
      <p:sp>
        <p:nvSpPr>
          <p:cNvPr id="201" name="Text 197"/>
          <p:cNvSpPr/>
          <p:nvPr/>
        </p:nvSpPr>
        <p:spPr>
          <a:xfrm>
            <a:off x="6771513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2.8M</a:t>
            </a:r>
            <a:endParaRPr lang="en-US" sz="1650" dirty="0"/>
          </a:p>
        </p:txBody>
      </p:sp>
      <p:sp>
        <p:nvSpPr>
          <p:cNvPr id="202" name="Text 198"/>
          <p:cNvSpPr/>
          <p:nvPr/>
        </p:nvSpPr>
        <p:spPr>
          <a:xfrm>
            <a:off x="6771513" y="3206748"/>
            <a:ext cx="3192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22%</a:t>
            </a:r>
            <a:endParaRPr lang="en-US" sz="750" dirty="0"/>
          </a:p>
        </p:txBody>
      </p:sp>
      <p:sp>
        <p:nvSpPr>
          <p:cNvPr id="203" name="Text 199"/>
          <p:cNvSpPr/>
          <p:nvPr/>
        </p:nvSpPr>
        <p:spPr>
          <a:xfrm>
            <a:off x="7766834" y="3211391"/>
            <a:ext cx="395901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7 days</a:t>
            </a:r>
            <a:endParaRPr lang="en-US" sz="675" dirty="0"/>
          </a:p>
        </p:txBody>
      </p:sp>
      <p:sp>
        <p:nvSpPr>
          <p:cNvPr id="204" name="Shape 200"/>
          <p:cNvSpPr/>
          <p:nvPr/>
        </p:nvSpPr>
        <p:spPr>
          <a:xfrm>
            <a:off x="8259890" y="2756644"/>
            <a:ext cx="1513141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05" name="Text 201"/>
          <p:cNvSpPr/>
          <p:nvPr/>
        </p:nvSpPr>
        <p:spPr>
          <a:xfrm>
            <a:off x="8358950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825" dirty="0"/>
          </a:p>
        </p:txBody>
      </p:sp>
      <p:sp>
        <p:nvSpPr>
          <p:cNvPr id="206" name="Text 202"/>
          <p:cNvSpPr/>
          <p:nvPr/>
        </p:nvSpPr>
        <p:spPr>
          <a:xfrm>
            <a:off x="8358950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1650" dirty="0"/>
          </a:p>
        </p:txBody>
      </p:sp>
      <p:sp>
        <p:nvSpPr>
          <p:cNvPr id="207" name="Text 203"/>
          <p:cNvSpPr/>
          <p:nvPr/>
        </p:nvSpPr>
        <p:spPr>
          <a:xfrm>
            <a:off x="8358950" y="3206748"/>
            <a:ext cx="3192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14%</a:t>
            </a:r>
            <a:endParaRPr lang="en-US" sz="750" dirty="0"/>
          </a:p>
        </p:txBody>
      </p:sp>
      <p:sp>
        <p:nvSpPr>
          <p:cNvPr id="208" name="Text 204"/>
          <p:cNvSpPr/>
          <p:nvPr/>
        </p:nvSpPr>
        <p:spPr>
          <a:xfrm>
            <a:off x="9346764" y="3211391"/>
            <a:ext cx="403407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20/day avg</a:t>
            </a:r>
            <a:endParaRPr lang="en-US" sz="675" dirty="0"/>
          </a:p>
        </p:txBody>
      </p:sp>
      <p:sp>
        <p:nvSpPr>
          <p:cNvPr id="209" name="Shape 205"/>
          <p:cNvSpPr/>
          <p:nvPr/>
        </p:nvSpPr>
        <p:spPr>
          <a:xfrm>
            <a:off x="9847327" y="2756644"/>
            <a:ext cx="1513141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10" name="Text 206"/>
          <p:cNvSpPr/>
          <p:nvPr/>
        </p:nvSpPr>
        <p:spPr>
          <a:xfrm>
            <a:off x="9946386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AVG. BASKET</a:t>
            </a:r>
            <a:endParaRPr lang="en-US" sz="825" dirty="0"/>
          </a:p>
        </p:txBody>
      </p:sp>
      <p:sp>
        <p:nvSpPr>
          <p:cNvPr id="211" name="Text 207"/>
          <p:cNvSpPr/>
          <p:nvPr/>
        </p:nvSpPr>
        <p:spPr>
          <a:xfrm>
            <a:off x="9946386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19,720</a:t>
            </a:r>
            <a:endParaRPr lang="en-US" sz="1650" dirty="0"/>
          </a:p>
        </p:txBody>
      </p:sp>
      <p:sp>
        <p:nvSpPr>
          <p:cNvPr id="212" name="Text 208"/>
          <p:cNvSpPr/>
          <p:nvPr/>
        </p:nvSpPr>
        <p:spPr>
          <a:xfrm>
            <a:off x="9946386" y="3206748"/>
            <a:ext cx="2778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6%</a:t>
            </a:r>
            <a:endParaRPr lang="en-US" sz="750" dirty="0"/>
          </a:p>
        </p:txBody>
      </p:sp>
      <p:sp>
        <p:nvSpPr>
          <p:cNvPr id="213" name="Text 209"/>
          <p:cNvSpPr/>
          <p:nvPr/>
        </p:nvSpPr>
        <p:spPr>
          <a:xfrm>
            <a:off x="10967710" y="3211391"/>
            <a:ext cx="369898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 trending</a:t>
            </a:r>
            <a:endParaRPr lang="en-US" sz="675" dirty="0"/>
          </a:p>
        </p:txBody>
      </p:sp>
      <p:sp>
        <p:nvSpPr>
          <p:cNvPr id="214" name="Shape 210"/>
          <p:cNvSpPr/>
          <p:nvPr/>
        </p:nvSpPr>
        <p:spPr>
          <a:xfrm>
            <a:off x="11434763" y="2756644"/>
            <a:ext cx="1513141" cy="642033"/>
          </a:xfrm>
          <a:prstGeom prst="roundRect">
            <a:avLst>
              <a:gd name="adj" fmla="val 1186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15" name="Text 211"/>
          <p:cNvSpPr/>
          <p:nvPr/>
        </p:nvSpPr>
        <p:spPr>
          <a:xfrm>
            <a:off x="11533823" y="2855704"/>
            <a:ext cx="139122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825" dirty="0"/>
          </a:p>
        </p:txBody>
      </p:sp>
      <p:sp>
        <p:nvSpPr>
          <p:cNvPr id="216" name="Text 212"/>
          <p:cNvSpPr/>
          <p:nvPr/>
        </p:nvSpPr>
        <p:spPr>
          <a:xfrm>
            <a:off x="11533823" y="2972719"/>
            <a:ext cx="1391221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38%</a:t>
            </a:r>
            <a:endParaRPr lang="en-US" sz="1650" dirty="0"/>
          </a:p>
        </p:txBody>
      </p:sp>
      <p:sp>
        <p:nvSpPr>
          <p:cNvPr id="217" name="Text 213"/>
          <p:cNvSpPr/>
          <p:nvPr/>
        </p:nvSpPr>
        <p:spPr>
          <a:xfrm>
            <a:off x="11533823" y="3206748"/>
            <a:ext cx="2778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3%</a:t>
            </a:r>
            <a:endParaRPr lang="en-US" sz="750" dirty="0"/>
          </a:p>
        </p:txBody>
      </p:sp>
      <p:sp>
        <p:nvSpPr>
          <p:cNvPr id="218" name="Text 214"/>
          <p:cNvSpPr/>
          <p:nvPr/>
        </p:nvSpPr>
        <p:spPr>
          <a:xfrm>
            <a:off x="12384268" y="3211391"/>
            <a:ext cx="54077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loyal customers</a:t>
            </a:r>
            <a:endParaRPr lang="en-US" sz="675" dirty="0"/>
          </a:p>
        </p:txBody>
      </p:sp>
      <p:sp>
        <p:nvSpPr>
          <p:cNvPr id="219" name="Shape 215"/>
          <p:cNvSpPr/>
          <p:nvPr/>
        </p:nvSpPr>
        <p:spPr>
          <a:xfrm>
            <a:off x="6672453" y="3502690"/>
            <a:ext cx="4124146" cy="1448133"/>
          </a:xfrm>
          <a:prstGeom prst="roundRect">
            <a:avLst>
              <a:gd name="adj" fmla="val 5262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20" name="Text 216"/>
          <p:cNvSpPr/>
          <p:nvPr/>
        </p:nvSpPr>
        <p:spPr>
          <a:xfrm>
            <a:off x="6771513" y="3601750"/>
            <a:ext cx="978188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Revenue, last 7 days</a:t>
            </a:r>
            <a:endParaRPr lang="en-US" sz="975" dirty="0"/>
          </a:p>
        </p:txBody>
      </p:sp>
      <p:sp>
        <p:nvSpPr>
          <p:cNvPr id="221" name="Text 217"/>
          <p:cNvSpPr/>
          <p:nvPr/>
        </p:nvSpPr>
        <p:spPr>
          <a:xfrm>
            <a:off x="10536489" y="3626515"/>
            <a:ext cx="2372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</a:t>
            </a:r>
            <a:endParaRPr lang="en-US" sz="750" dirty="0"/>
          </a:p>
        </p:txBody>
      </p:sp>
      <p:sp>
        <p:nvSpPr>
          <p:cNvPr id="222" name="Shape 218"/>
          <p:cNvSpPr/>
          <p:nvPr/>
        </p:nvSpPr>
        <p:spPr>
          <a:xfrm>
            <a:off x="6838070" y="4421471"/>
            <a:ext cx="376659" cy="316992"/>
          </a:xfrm>
          <a:prstGeom prst="roundRect">
            <a:avLst>
              <a:gd name="adj" fmla="val 9014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23" name="Text 219"/>
          <p:cNvSpPr/>
          <p:nvPr/>
        </p:nvSpPr>
        <p:spPr>
          <a:xfrm>
            <a:off x="6979926" y="4768181"/>
            <a:ext cx="16914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</a:t>
            </a:r>
            <a:endParaRPr lang="en-US" sz="675" dirty="0"/>
          </a:p>
        </p:txBody>
      </p:sp>
      <p:sp>
        <p:nvSpPr>
          <p:cNvPr id="224" name="Shape 220"/>
          <p:cNvSpPr/>
          <p:nvPr/>
        </p:nvSpPr>
        <p:spPr>
          <a:xfrm>
            <a:off x="7407354" y="4235734"/>
            <a:ext cx="376738" cy="502729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25" name="Text 221"/>
          <p:cNvSpPr/>
          <p:nvPr/>
        </p:nvSpPr>
        <p:spPr>
          <a:xfrm>
            <a:off x="7557957" y="4768181"/>
            <a:ext cx="151810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</a:t>
            </a:r>
            <a:endParaRPr lang="en-US" sz="675" dirty="0"/>
          </a:p>
        </p:txBody>
      </p:sp>
      <p:sp>
        <p:nvSpPr>
          <p:cNvPr id="226" name="Shape 222"/>
          <p:cNvSpPr/>
          <p:nvPr/>
        </p:nvSpPr>
        <p:spPr>
          <a:xfrm>
            <a:off x="7976717" y="4310028"/>
            <a:ext cx="376737" cy="428435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27" name="Text 223"/>
          <p:cNvSpPr/>
          <p:nvPr/>
        </p:nvSpPr>
        <p:spPr>
          <a:xfrm>
            <a:off x="8115556" y="4768181"/>
            <a:ext cx="175337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endParaRPr lang="en-US" sz="675" dirty="0"/>
          </a:p>
        </p:txBody>
      </p:sp>
      <p:sp>
        <p:nvSpPr>
          <p:cNvPr id="228" name="Shape 224"/>
          <p:cNvSpPr/>
          <p:nvPr/>
        </p:nvSpPr>
        <p:spPr>
          <a:xfrm>
            <a:off x="8546080" y="4124291"/>
            <a:ext cx="376737" cy="614172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29" name="Text 225"/>
          <p:cNvSpPr/>
          <p:nvPr/>
        </p:nvSpPr>
        <p:spPr>
          <a:xfrm>
            <a:off x="8695445" y="4768181"/>
            <a:ext cx="154287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</a:t>
            </a:r>
            <a:endParaRPr lang="en-US" sz="675" dirty="0"/>
          </a:p>
        </p:txBody>
      </p:sp>
      <p:sp>
        <p:nvSpPr>
          <p:cNvPr id="230" name="Shape 226"/>
          <p:cNvSpPr/>
          <p:nvPr/>
        </p:nvSpPr>
        <p:spPr>
          <a:xfrm>
            <a:off x="9115443" y="4198586"/>
            <a:ext cx="376737" cy="539877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31" name="Text 227"/>
          <p:cNvSpPr/>
          <p:nvPr/>
        </p:nvSpPr>
        <p:spPr>
          <a:xfrm>
            <a:off x="9272236" y="4768181"/>
            <a:ext cx="139350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</a:t>
            </a:r>
            <a:endParaRPr lang="en-US" sz="675" dirty="0"/>
          </a:p>
        </p:txBody>
      </p:sp>
      <p:sp>
        <p:nvSpPr>
          <p:cNvPr id="232" name="Shape 228"/>
          <p:cNvSpPr/>
          <p:nvPr/>
        </p:nvSpPr>
        <p:spPr>
          <a:xfrm>
            <a:off x="9684806" y="3901406"/>
            <a:ext cx="376737" cy="837057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33" name="Text 229"/>
          <p:cNvSpPr/>
          <p:nvPr/>
        </p:nvSpPr>
        <p:spPr>
          <a:xfrm>
            <a:off x="9832313" y="4768181"/>
            <a:ext cx="158002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</a:t>
            </a:r>
            <a:endParaRPr lang="en-US" sz="675" dirty="0"/>
          </a:p>
        </p:txBody>
      </p:sp>
      <p:sp>
        <p:nvSpPr>
          <p:cNvPr id="234" name="Shape 230"/>
          <p:cNvSpPr/>
          <p:nvPr/>
        </p:nvSpPr>
        <p:spPr>
          <a:xfrm>
            <a:off x="10254169" y="4012849"/>
            <a:ext cx="376737" cy="725614"/>
          </a:xfrm>
          <a:prstGeom prst="roundRect">
            <a:avLst>
              <a:gd name="adj" fmla="val 7585"/>
            </a:avLst>
          </a:prstGeom>
          <a:solidFill>
            <a:srgbClr val="D97757">
              <a:alpha val="70000"/>
            </a:srgbClr>
          </a:solidFill>
          <a:ln w="12700">
            <a:solidFill>
              <a:srgbClr val="1C1917">
                <a:alpha val="70000"/>
              </a:srgbClr>
            </a:solidFill>
            <a:prstDash val="solid"/>
          </a:ln>
        </p:spPr>
      </p:sp>
      <p:sp>
        <p:nvSpPr>
          <p:cNvPr id="235" name="Text 231"/>
          <p:cNvSpPr/>
          <p:nvPr/>
        </p:nvSpPr>
        <p:spPr>
          <a:xfrm>
            <a:off x="10401676" y="4768181"/>
            <a:ext cx="158002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</a:t>
            </a:r>
            <a:endParaRPr lang="en-US" sz="675" dirty="0"/>
          </a:p>
        </p:txBody>
      </p:sp>
      <p:sp>
        <p:nvSpPr>
          <p:cNvPr id="236" name="Shape 232"/>
          <p:cNvSpPr/>
          <p:nvPr/>
        </p:nvSpPr>
        <p:spPr>
          <a:xfrm>
            <a:off x="10885754" y="3502690"/>
            <a:ext cx="2062150" cy="1448133"/>
          </a:xfrm>
          <a:prstGeom prst="roundRect">
            <a:avLst>
              <a:gd name="adj" fmla="val 5262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37" name="Text 233"/>
          <p:cNvSpPr/>
          <p:nvPr/>
        </p:nvSpPr>
        <p:spPr>
          <a:xfrm>
            <a:off x="10984813" y="3601750"/>
            <a:ext cx="1940230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products</a:t>
            </a:r>
            <a:endParaRPr lang="en-US" sz="975" dirty="0"/>
          </a:p>
        </p:txBody>
      </p:sp>
      <p:sp>
        <p:nvSpPr>
          <p:cNvPr id="238" name="Text 234"/>
          <p:cNvSpPr/>
          <p:nvPr/>
        </p:nvSpPr>
        <p:spPr>
          <a:xfrm>
            <a:off x="10984813" y="3781915"/>
            <a:ext cx="65786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 Loaf</a:t>
            </a:r>
            <a:endParaRPr lang="en-US" sz="825" dirty="0"/>
          </a:p>
        </p:txBody>
      </p:sp>
      <p:sp>
        <p:nvSpPr>
          <p:cNvPr id="239" name="Text 235"/>
          <p:cNvSpPr/>
          <p:nvPr/>
        </p:nvSpPr>
        <p:spPr>
          <a:xfrm>
            <a:off x="12766191" y="3781915"/>
            <a:ext cx="15885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84</a:t>
            </a:r>
            <a:endParaRPr lang="en-US" sz="750" dirty="0"/>
          </a:p>
        </p:txBody>
      </p:sp>
      <p:sp>
        <p:nvSpPr>
          <p:cNvPr id="240" name="Shape 236"/>
          <p:cNvSpPr/>
          <p:nvPr/>
        </p:nvSpPr>
        <p:spPr>
          <a:xfrm>
            <a:off x="10984813" y="3898929"/>
            <a:ext cx="1864030" cy="37148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/>
        </p:spPr>
      </p:sp>
      <p:sp>
        <p:nvSpPr>
          <p:cNvPr id="241" name="Shape 237"/>
          <p:cNvSpPr/>
          <p:nvPr/>
        </p:nvSpPr>
        <p:spPr>
          <a:xfrm>
            <a:off x="10984813" y="3898929"/>
            <a:ext cx="1565767" cy="3714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42" name="Text 238"/>
          <p:cNvSpPr/>
          <p:nvPr/>
        </p:nvSpPr>
        <p:spPr>
          <a:xfrm>
            <a:off x="10984813" y="3995513"/>
            <a:ext cx="61220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Cinnamon Roll</a:t>
            </a:r>
            <a:endParaRPr lang="en-US" sz="825" dirty="0"/>
          </a:p>
        </p:txBody>
      </p:sp>
      <p:sp>
        <p:nvSpPr>
          <p:cNvPr id="243" name="Text 239"/>
          <p:cNvSpPr/>
          <p:nvPr/>
        </p:nvSpPr>
        <p:spPr>
          <a:xfrm>
            <a:off x="12766191" y="3995513"/>
            <a:ext cx="15885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</a:t>
            </a:r>
            <a:endParaRPr lang="en-US" sz="750" dirty="0"/>
          </a:p>
        </p:txBody>
      </p:sp>
      <p:sp>
        <p:nvSpPr>
          <p:cNvPr id="244" name="Shape 240"/>
          <p:cNvSpPr/>
          <p:nvPr/>
        </p:nvSpPr>
        <p:spPr>
          <a:xfrm>
            <a:off x="10984813" y="4112528"/>
            <a:ext cx="1864030" cy="37147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/>
        </p:spPr>
      </p:sp>
      <p:sp>
        <p:nvSpPr>
          <p:cNvPr id="245" name="Shape 241"/>
          <p:cNvSpPr/>
          <p:nvPr/>
        </p:nvSpPr>
        <p:spPr>
          <a:xfrm>
            <a:off x="10984813" y="4112528"/>
            <a:ext cx="1342031" cy="3714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46" name="Text 242"/>
          <p:cNvSpPr/>
          <p:nvPr/>
        </p:nvSpPr>
        <p:spPr>
          <a:xfrm>
            <a:off x="10984813" y="4209111"/>
            <a:ext cx="55772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 Cake S</a:t>
            </a:r>
            <a:endParaRPr lang="en-US" sz="825" dirty="0"/>
          </a:p>
        </p:txBody>
      </p:sp>
      <p:sp>
        <p:nvSpPr>
          <p:cNvPr id="247" name="Text 243"/>
          <p:cNvSpPr/>
          <p:nvPr/>
        </p:nvSpPr>
        <p:spPr>
          <a:xfrm>
            <a:off x="12766191" y="4209111"/>
            <a:ext cx="15885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</a:t>
            </a:r>
            <a:endParaRPr lang="en-US" sz="750" dirty="0"/>
          </a:p>
        </p:txBody>
      </p:sp>
      <p:sp>
        <p:nvSpPr>
          <p:cNvPr id="248" name="Shape 244"/>
          <p:cNvSpPr/>
          <p:nvPr/>
        </p:nvSpPr>
        <p:spPr>
          <a:xfrm>
            <a:off x="10984813" y="4326126"/>
            <a:ext cx="1864030" cy="37147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/>
        </p:spPr>
      </p:sp>
      <p:sp>
        <p:nvSpPr>
          <p:cNvPr id="249" name="Shape 245"/>
          <p:cNvSpPr/>
          <p:nvPr/>
        </p:nvSpPr>
        <p:spPr>
          <a:xfrm>
            <a:off x="10984813" y="4326126"/>
            <a:ext cx="894713" cy="3714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0" name="Text 246"/>
          <p:cNvSpPr/>
          <p:nvPr/>
        </p:nvSpPr>
        <p:spPr>
          <a:xfrm>
            <a:off x="10984813" y="4422710"/>
            <a:ext cx="421439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Croissant</a:t>
            </a:r>
            <a:endParaRPr lang="en-US" sz="825" dirty="0"/>
          </a:p>
        </p:txBody>
      </p:sp>
      <p:sp>
        <p:nvSpPr>
          <p:cNvPr id="251" name="Text 247"/>
          <p:cNvSpPr/>
          <p:nvPr/>
        </p:nvSpPr>
        <p:spPr>
          <a:xfrm>
            <a:off x="12766191" y="4422710"/>
            <a:ext cx="158853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750" dirty="0"/>
          </a:p>
        </p:txBody>
      </p:sp>
      <p:sp>
        <p:nvSpPr>
          <p:cNvPr id="252" name="Shape 248"/>
          <p:cNvSpPr/>
          <p:nvPr/>
        </p:nvSpPr>
        <p:spPr>
          <a:xfrm>
            <a:off x="10984813" y="4539724"/>
            <a:ext cx="1864030" cy="37148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/>
        </p:spPr>
      </p:sp>
      <p:sp>
        <p:nvSpPr>
          <p:cNvPr id="253" name="Shape 249"/>
          <p:cNvSpPr/>
          <p:nvPr/>
        </p:nvSpPr>
        <p:spPr>
          <a:xfrm>
            <a:off x="10984813" y="4539724"/>
            <a:ext cx="670977" cy="37148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4" name="Text 250"/>
          <p:cNvSpPr/>
          <p:nvPr/>
        </p:nvSpPr>
        <p:spPr>
          <a:xfrm>
            <a:off x="10984813" y="4636308"/>
            <a:ext cx="598819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Banana Bread</a:t>
            </a:r>
            <a:endParaRPr lang="en-US" sz="825" dirty="0"/>
          </a:p>
        </p:txBody>
      </p:sp>
      <p:sp>
        <p:nvSpPr>
          <p:cNvPr id="255" name="Text 251"/>
          <p:cNvSpPr/>
          <p:nvPr/>
        </p:nvSpPr>
        <p:spPr>
          <a:xfrm>
            <a:off x="12766191" y="4636308"/>
            <a:ext cx="158853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750" dirty="0"/>
          </a:p>
        </p:txBody>
      </p:sp>
      <p:sp>
        <p:nvSpPr>
          <p:cNvPr id="256" name="Shape 252"/>
          <p:cNvSpPr/>
          <p:nvPr/>
        </p:nvSpPr>
        <p:spPr>
          <a:xfrm>
            <a:off x="10984813" y="4753322"/>
            <a:ext cx="1864030" cy="37147"/>
          </a:xfrm>
          <a:prstGeom prst="roundRect">
            <a:avLst>
              <a:gd name="adj" fmla="val 50000"/>
            </a:avLst>
          </a:prstGeom>
          <a:solidFill>
            <a:srgbClr val="000000">
              <a:alpha val="5000"/>
            </a:srgbClr>
          </a:solidFill>
          <a:ln/>
        </p:spPr>
      </p:sp>
      <p:sp>
        <p:nvSpPr>
          <p:cNvPr id="257" name="Shape 253"/>
          <p:cNvSpPr/>
          <p:nvPr/>
        </p:nvSpPr>
        <p:spPr>
          <a:xfrm>
            <a:off x="10984813" y="4753322"/>
            <a:ext cx="410015" cy="3714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/>
        </p:spPr>
      </p:sp>
      <p:sp>
        <p:nvSpPr>
          <p:cNvPr id="258" name="Shape 254"/>
          <p:cNvSpPr/>
          <p:nvPr/>
        </p:nvSpPr>
        <p:spPr>
          <a:xfrm>
            <a:off x="6672453" y="5039977"/>
            <a:ext cx="3608647" cy="1012270"/>
          </a:xfrm>
          <a:prstGeom prst="roundRect">
            <a:avLst>
              <a:gd name="adj" fmla="val 7528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59" name="Text 255"/>
          <p:cNvSpPr/>
          <p:nvPr/>
        </p:nvSpPr>
        <p:spPr>
          <a:xfrm>
            <a:off x="6771513" y="5139037"/>
            <a:ext cx="682865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Recent orders</a:t>
            </a:r>
            <a:endParaRPr lang="en-US" sz="975" dirty="0"/>
          </a:p>
        </p:txBody>
      </p:sp>
      <p:sp>
        <p:nvSpPr>
          <p:cNvPr id="260" name="Text 256"/>
          <p:cNvSpPr/>
          <p:nvPr/>
        </p:nvSpPr>
        <p:spPr>
          <a:xfrm>
            <a:off x="9843457" y="5139037"/>
            <a:ext cx="414784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all →</a:t>
            </a:r>
            <a:endParaRPr lang="en-US" sz="750" dirty="0"/>
          </a:p>
        </p:txBody>
      </p:sp>
      <p:sp>
        <p:nvSpPr>
          <p:cNvPr id="261" name="Shape 257"/>
          <p:cNvSpPr/>
          <p:nvPr/>
        </p:nvSpPr>
        <p:spPr>
          <a:xfrm>
            <a:off x="6771513" y="5486208"/>
            <a:ext cx="3410528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62" name="Text 258"/>
          <p:cNvSpPr/>
          <p:nvPr/>
        </p:nvSpPr>
        <p:spPr>
          <a:xfrm>
            <a:off x="6771513" y="5296914"/>
            <a:ext cx="1057435" cy="191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#7831 Amina · 36k · MoMo</a:t>
            </a:r>
            <a:endParaRPr lang="en-US" sz="825" dirty="0"/>
          </a:p>
        </p:txBody>
      </p:sp>
      <p:sp>
        <p:nvSpPr>
          <p:cNvPr id="263" name="Shape 259"/>
          <p:cNvSpPr/>
          <p:nvPr/>
        </p:nvSpPr>
        <p:spPr>
          <a:xfrm>
            <a:off x="9830300" y="5296914"/>
            <a:ext cx="351741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64" name="Text 260"/>
          <p:cNvSpPr/>
          <p:nvPr/>
        </p:nvSpPr>
        <p:spPr>
          <a:xfrm>
            <a:off x="9931900" y="5322314"/>
            <a:ext cx="224741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</a:t>
            </a:r>
            <a:endParaRPr lang="en-US" sz="975" dirty="0"/>
          </a:p>
        </p:txBody>
      </p:sp>
      <p:sp>
        <p:nvSpPr>
          <p:cNvPr id="265" name="Shape 261"/>
          <p:cNvSpPr/>
          <p:nvPr/>
        </p:nvSpPr>
        <p:spPr>
          <a:xfrm>
            <a:off x="6771513" y="5718999"/>
            <a:ext cx="3410528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66" name="Text 262"/>
          <p:cNvSpPr/>
          <p:nvPr/>
        </p:nvSpPr>
        <p:spPr>
          <a:xfrm>
            <a:off x="6771513" y="5529705"/>
            <a:ext cx="1070979" cy="191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#7830 James · 48k · MoMo</a:t>
            </a:r>
            <a:endParaRPr lang="en-US" sz="825" dirty="0"/>
          </a:p>
        </p:txBody>
      </p:sp>
      <p:sp>
        <p:nvSpPr>
          <p:cNvPr id="267" name="Shape 263"/>
          <p:cNvSpPr/>
          <p:nvPr/>
        </p:nvSpPr>
        <p:spPr>
          <a:xfrm>
            <a:off x="9604706" y="5529705"/>
            <a:ext cx="577335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68" name="Text 264"/>
          <p:cNvSpPr/>
          <p:nvPr/>
        </p:nvSpPr>
        <p:spPr>
          <a:xfrm>
            <a:off x="9706306" y="5555105"/>
            <a:ext cx="450335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Preparing</a:t>
            </a:r>
            <a:endParaRPr lang="en-US" sz="975" dirty="0"/>
          </a:p>
        </p:txBody>
      </p:sp>
      <p:sp>
        <p:nvSpPr>
          <p:cNvPr id="269" name="Text 265"/>
          <p:cNvSpPr/>
          <p:nvPr/>
        </p:nvSpPr>
        <p:spPr>
          <a:xfrm>
            <a:off x="6771513" y="5762496"/>
            <a:ext cx="1002953" cy="191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#7829 Sarah · 18k · Airtel</a:t>
            </a:r>
            <a:endParaRPr lang="en-US" sz="825" dirty="0"/>
          </a:p>
        </p:txBody>
      </p:sp>
      <p:sp>
        <p:nvSpPr>
          <p:cNvPr id="270" name="Shape 266"/>
          <p:cNvSpPr/>
          <p:nvPr/>
        </p:nvSpPr>
        <p:spPr>
          <a:xfrm>
            <a:off x="9744319" y="5762496"/>
            <a:ext cx="437721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1" name="Text 267"/>
          <p:cNvSpPr/>
          <p:nvPr/>
        </p:nvSpPr>
        <p:spPr>
          <a:xfrm>
            <a:off x="9845919" y="5787896"/>
            <a:ext cx="310721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</a:t>
            </a:r>
            <a:endParaRPr lang="en-US" sz="975" dirty="0"/>
          </a:p>
        </p:txBody>
      </p:sp>
      <p:sp>
        <p:nvSpPr>
          <p:cNvPr id="272" name="Shape 268"/>
          <p:cNvSpPr/>
          <p:nvPr/>
        </p:nvSpPr>
        <p:spPr>
          <a:xfrm>
            <a:off x="10370255" y="5039977"/>
            <a:ext cx="2577572" cy="1012270"/>
          </a:xfrm>
          <a:prstGeom prst="roundRect">
            <a:avLst>
              <a:gd name="adj" fmla="val 7528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73" name="Text 269"/>
          <p:cNvSpPr/>
          <p:nvPr/>
        </p:nvSpPr>
        <p:spPr>
          <a:xfrm>
            <a:off x="10469314" y="5139037"/>
            <a:ext cx="2455652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To-dos</a:t>
            </a:r>
            <a:endParaRPr lang="en-US" sz="975" dirty="0"/>
          </a:p>
        </p:txBody>
      </p:sp>
      <p:sp>
        <p:nvSpPr>
          <p:cNvPr id="274" name="Shape 270"/>
          <p:cNvSpPr/>
          <p:nvPr/>
        </p:nvSpPr>
        <p:spPr>
          <a:xfrm>
            <a:off x="10469314" y="5298462"/>
            <a:ext cx="99060" cy="99060"/>
          </a:xfrm>
          <a:prstGeom prst="roundRect">
            <a:avLst>
              <a:gd name="adj" fmla="val 19231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5" name="Text 271"/>
          <p:cNvSpPr/>
          <p:nvPr/>
        </p:nvSpPr>
        <p:spPr>
          <a:xfrm>
            <a:off x="10612952" y="5296914"/>
            <a:ext cx="96178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Restock croissants (low)</a:t>
            </a:r>
            <a:endParaRPr lang="en-US" sz="825" dirty="0"/>
          </a:p>
        </p:txBody>
      </p:sp>
      <p:sp>
        <p:nvSpPr>
          <p:cNvPr id="276" name="Shape 272"/>
          <p:cNvSpPr/>
          <p:nvPr/>
        </p:nvSpPr>
        <p:spPr>
          <a:xfrm>
            <a:off x="10469314" y="5474912"/>
            <a:ext cx="99060" cy="99060"/>
          </a:xfrm>
          <a:prstGeom prst="roundRect">
            <a:avLst>
              <a:gd name="adj" fmla="val 19231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7" name="Text 273"/>
          <p:cNvSpPr/>
          <p:nvPr/>
        </p:nvSpPr>
        <p:spPr>
          <a:xfrm>
            <a:off x="10612952" y="5473365"/>
            <a:ext cx="95899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 2 staff time-offs</a:t>
            </a:r>
            <a:endParaRPr lang="en-US" sz="825" dirty="0"/>
          </a:p>
        </p:txBody>
      </p:sp>
      <p:sp>
        <p:nvSpPr>
          <p:cNvPr id="278" name="Shape 274"/>
          <p:cNvSpPr/>
          <p:nvPr/>
        </p:nvSpPr>
        <p:spPr>
          <a:xfrm>
            <a:off x="10469314" y="5651363"/>
            <a:ext cx="99060" cy="99060"/>
          </a:xfrm>
          <a:prstGeom prst="roundRect">
            <a:avLst>
              <a:gd name="adj" fmla="val 19231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9" name="Text 275"/>
          <p:cNvSpPr/>
          <p:nvPr/>
        </p:nvSpPr>
        <p:spPr>
          <a:xfrm>
            <a:off x="10612952" y="5649816"/>
            <a:ext cx="1252615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payout · UGX 1.2M ready</a:t>
            </a:r>
            <a:endParaRPr lang="en-US" sz="825" dirty="0"/>
          </a:p>
        </p:txBody>
      </p:sp>
      <p:sp>
        <p:nvSpPr>
          <p:cNvPr id="280" name="Text 276"/>
          <p:cNvSpPr/>
          <p:nvPr/>
        </p:nvSpPr>
        <p:spPr>
          <a:xfrm rot="180000">
            <a:off x="12140374" y="3723714"/>
            <a:ext cx="9334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any KPI → deep dive</a:t>
            </a:r>
            <a:endParaRPr lang="en-US" sz="1200" dirty="0"/>
          </a:p>
        </p:txBody>
      </p:sp>
      <p:sp>
        <p:nvSpPr>
          <p:cNvPr id="281" name="Text 277"/>
          <p:cNvSpPr/>
          <p:nvPr/>
        </p:nvSpPr>
        <p:spPr>
          <a:xfrm>
            <a:off x="8521624" y="7024272"/>
            <a:ext cx="1320874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Analytics-led</a:t>
            </a:r>
            <a:endParaRPr lang="en-US" sz="2100" dirty="0"/>
          </a:p>
        </p:txBody>
      </p:sp>
      <p:sp>
        <p:nvSpPr>
          <p:cNvPr id="282" name="Text 278"/>
          <p:cNvSpPr/>
          <p:nvPr/>
        </p:nvSpPr>
        <p:spPr>
          <a:xfrm>
            <a:off x="13884021" y="1841500"/>
            <a:ext cx="8387013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Live kitchen — kanban for order states</a:t>
            </a:r>
            <a:endParaRPr lang="en-US" sz="1200" dirty="0"/>
          </a:p>
        </p:txBody>
      </p:sp>
      <p:sp>
        <p:nvSpPr>
          <p:cNvPr id="283" name="Shape 279"/>
          <p:cNvSpPr/>
          <p:nvPr/>
        </p:nvSpPr>
        <p:spPr>
          <a:xfrm>
            <a:off x="13884021" y="2046508"/>
            <a:ext cx="8142731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284" name="Shape 280"/>
          <p:cNvSpPr/>
          <p:nvPr/>
        </p:nvSpPr>
        <p:spPr>
          <a:xfrm>
            <a:off x="13898880" y="2222022"/>
            <a:ext cx="8113015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85" name="Shape 281"/>
          <p:cNvSpPr/>
          <p:nvPr/>
        </p:nvSpPr>
        <p:spPr>
          <a:xfrm>
            <a:off x="13958315" y="2108420"/>
            <a:ext cx="69343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86" name="Shape 282"/>
          <p:cNvSpPr/>
          <p:nvPr/>
        </p:nvSpPr>
        <p:spPr>
          <a:xfrm>
            <a:off x="14057377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87" name="Shape 283"/>
          <p:cNvSpPr/>
          <p:nvPr/>
        </p:nvSpPr>
        <p:spPr>
          <a:xfrm>
            <a:off x="14156436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88" name="Text 284"/>
          <p:cNvSpPr/>
          <p:nvPr/>
        </p:nvSpPr>
        <p:spPr>
          <a:xfrm>
            <a:off x="14329790" y="2092013"/>
            <a:ext cx="90993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289" name="Shape 285"/>
          <p:cNvSpPr/>
          <p:nvPr/>
        </p:nvSpPr>
        <p:spPr>
          <a:xfrm>
            <a:off x="13958315" y="2294158"/>
            <a:ext cx="1421512" cy="4487418"/>
          </a:xfrm>
          <a:prstGeom prst="rect">
            <a:avLst/>
          </a:prstGeom>
          <a:solidFill>
            <a:srgbClr val="000000">
              <a:alpha val="2000"/>
            </a:srgbClr>
          </a:solidFill>
          <a:ln/>
        </p:spPr>
      </p:sp>
      <p:sp>
        <p:nvSpPr>
          <p:cNvPr id="290" name="Shape 286"/>
          <p:cNvSpPr/>
          <p:nvPr/>
        </p:nvSpPr>
        <p:spPr>
          <a:xfrm>
            <a:off x="15367127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91" name="Shape 287"/>
          <p:cNvSpPr/>
          <p:nvPr/>
        </p:nvSpPr>
        <p:spPr>
          <a:xfrm>
            <a:off x="14032611" y="2669189"/>
            <a:ext cx="1263016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92" name="Shape 288"/>
          <p:cNvSpPr/>
          <p:nvPr/>
        </p:nvSpPr>
        <p:spPr>
          <a:xfrm>
            <a:off x="14032611" y="2383312"/>
            <a:ext cx="227839" cy="227838"/>
          </a:xfrm>
          <a:prstGeom prst="ellipse">
            <a:avLst/>
          </a:prstGeom>
          <a:solidFill>
            <a:srgbClr val="D97757">
              <a:alpha val="15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293" name="Text 289"/>
          <p:cNvSpPr/>
          <p:nvPr/>
        </p:nvSpPr>
        <p:spPr>
          <a:xfrm>
            <a:off x="14007211" y="2396012"/>
            <a:ext cx="278639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</a:t>
            </a:r>
            <a:endParaRPr lang="en-US" sz="840" dirty="0"/>
          </a:p>
        </p:txBody>
      </p:sp>
      <p:sp>
        <p:nvSpPr>
          <p:cNvPr id="294" name="Text 290"/>
          <p:cNvSpPr/>
          <p:nvPr/>
        </p:nvSpPr>
        <p:spPr>
          <a:xfrm>
            <a:off x="14319886" y="2399719"/>
            <a:ext cx="660885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900" dirty="0"/>
          </a:p>
        </p:txBody>
      </p:sp>
      <p:sp>
        <p:nvSpPr>
          <p:cNvPr id="295" name="Text 291"/>
          <p:cNvSpPr/>
          <p:nvPr/>
        </p:nvSpPr>
        <p:spPr>
          <a:xfrm>
            <a:off x="14319886" y="2511161"/>
            <a:ext cx="660885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admin</a:t>
            </a:r>
            <a:endParaRPr lang="en-US" sz="675" dirty="0"/>
          </a:p>
        </p:txBody>
      </p:sp>
      <p:sp>
        <p:nvSpPr>
          <p:cNvPr id="296" name="Text 292"/>
          <p:cNvSpPr/>
          <p:nvPr/>
        </p:nvSpPr>
        <p:spPr>
          <a:xfrm>
            <a:off x="14111858" y="2824129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</a:t>
            </a:r>
            <a:endParaRPr lang="en-US" sz="900" dirty="0"/>
          </a:p>
        </p:txBody>
      </p:sp>
      <p:sp>
        <p:nvSpPr>
          <p:cNvPr id="297" name="Text 293"/>
          <p:cNvSpPr/>
          <p:nvPr/>
        </p:nvSpPr>
        <p:spPr>
          <a:xfrm>
            <a:off x="14293726" y="2824129"/>
            <a:ext cx="512375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900" dirty="0"/>
          </a:p>
        </p:txBody>
      </p:sp>
      <p:sp>
        <p:nvSpPr>
          <p:cNvPr id="298" name="Shape 294"/>
          <p:cNvSpPr/>
          <p:nvPr/>
        </p:nvSpPr>
        <p:spPr>
          <a:xfrm>
            <a:off x="14032611" y="3009866"/>
            <a:ext cx="1263016" cy="200596"/>
          </a:xfrm>
          <a:prstGeom prst="roundRect">
            <a:avLst>
              <a:gd name="adj" fmla="val 28490"/>
            </a:avLst>
          </a:prstGeom>
          <a:solidFill>
            <a:srgbClr val="D97757">
              <a:alpha val="12000"/>
            </a:srgbClr>
          </a:solidFill>
          <a:ln/>
        </p:spPr>
      </p:sp>
      <p:sp>
        <p:nvSpPr>
          <p:cNvPr id="299" name="Shape 295"/>
          <p:cNvSpPr/>
          <p:nvPr/>
        </p:nvSpPr>
        <p:spPr>
          <a:xfrm>
            <a:off x="14032611" y="3009866"/>
            <a:ext cx="25400" cy="20059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300" name="Text 296"/>
          <p:cNvSpPr/>
          <p:nvPr/>
        </p:nvSpPr>
        <p:spPr>
          <a:xfrm>
            <a:off x="14111858" y="3054443"/>
            <a:ext cx="19863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📦</a:t>
            </a:r>
            <a:endParaRPr lang="en-US" sz="900" dirty="0"/>
          </a:p>
        </p:txBody>
      </p:sp>
      <p:sp>
        <p:nvSpPr>
          <p:cNvPr id="301" name="Text 297"/>
          <p:cNvSpPr/>
          <p:nvPr/>
        </p:nvSpPr>
        <p:spPr>
          <a:xfrm>
            <a:off x="14293726" y="3054443"/>
            <a:ext cx="34869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</a:t>
            </a:r>
            <a:endParaRPr lang="en-US" sz="900" dirty="0"/>
          </a:p>
        </p:txBody>
      </p:sp>
      <p:sp>
        <p:nvSpPr>
          <p:cNvPr id="302" name="Text 298"/>
          <p:cNvSpPr/>
          <p:nvPr/>
        </p:nvSpPr>
        <p:spPr>
          <a:xfrm>
            <a:off x="14111858" y="3284758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🥐</a:t>
            </a:r>
            <a:endParaRPr lang="en-US" sz="900" dirty="0"/>
          </a:p>
        </p:txBody>
      </p:sp>
      <p:sp>
        <p:nvSpPr>
          <p:cNvPr id="303" name="Text 299"/>
          <p:cNvSpPr/>
          <p:nvPr/>
        </p:nvSpPr>
        <p:spPr>
          <a:xfrm>
            <a:off x="14293726" y="3284758"/>
            <a:ext cx="29924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Menu</a:t>
            </a:r>
            <a:endParaRPr lang="en-US" sz="900" dirty="0"/>
          </a:p>
        </p:txBody>
      </p:sp>
      <p:sp>
        <p:nvSpPr>
          <p:cNvPr id="304" name="Text 300"/>
          <p:cNvSpPr/>
          <p:nvPr/>
        </p:nvSpPr>
        <p:spPr>
          <a:xfrm>
            <a:off x="14111858" y="3515072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🏷</a:t>
            </a:r>
            <a:endParaRPr lang="en-US" sz="900" dirty="0"/>
          </a:p>
        </p:txBody>
      </p:sp>
      <p:sp>
        <p:nvSpPr>
          <p:cNvPr id="305" name="Text 301"/>
          <p:cNvSpPr/>
          <p:nvPr/>
        </p:nvSpPr>
        <p:spPr>
          <a:xfrm>
            <a:off x="14260449" y="3515072"/>
            <a:ext cx="5271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Promotions</a:t>
            </a:r>
            <a:endParaRPr lang="en-US" sz="900" dirty="0"/>
          </a:p>
        </p:txBody>
      </p:sp>
      <p:sp>
        <p:nvSpPr>
          <p:cNvPr id="306" name="Text 302"/>
          <p:cNvSpPr/>
          <p:nvPr/>
        </p:nvSpPr>
        <p:spPr>
          <a:xfrm>
            <a:off x="14111858" y="3745387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900" dirty="0"/>
          </a:p>
        </p:txBody>
      </p:sp>
      <p:sp>
        <p:nvSpPr>
          <p:cNvPr id="307" name="Text 303"/>
          <p:cNvSpPr/>
          <p:nvPr/>
        </p:nvSpPr>
        <p:spPr>
          <a:xfrm>
            <a:off x="14293726" y="3745387"/>
            <a:ext cx="4329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900" dirty="0"/>
          </a:p>
        </p:txBody>
      </p:sp>
      <p:sp>
        <p:nvSpPr>
          <p:cNvPr id="308" name="Text 304"/>
          <p:cNvSpPr/>
          <p:nvPr/>
        </p:nvSpPr>
        <p:spPr>
          <a:xfrm>
            <a:off x="14111858" y="3975701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309" name="Text 305"/>
          <p:cNvSpPr/>
          <p:nvPr/>
        </p:nvSpPr>
        <p:spPr>
          <a:xfrm>
            <a:off x="14293726" y="3975701"/>
            <a:ext cx="25799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Staff</a:t>
            </a:r>
            <a:endParaRPr lang="en-US" sz="900" dirty="0"/>
          </a:p>
        </p:txBody>
      </p:sp>
      <p:sp>
        <p:nvSpPr>
          <p:cNvPr id="310" name="Text 306"/>
          <p:cNvSpPr/>
          <p:nvPr/>
        </p:nvSpPr>
        <p:spPr>
          <a:xfrm>
            <a:off x="14111858" y="4206016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💰</a:t>
            </a:r>
            <a:endParaRPr lang="en-US" sz="900" dirty="0"/>
          </a:p>
        </p:txBody>
      </p:sp>
      <p:sp>
        <p:nvSpPr>
          <p:cNvPr id="311" name="Text 307"/>
          <p:cNvSpPr/>
          <p:nvPr/>
        </p:nvSpPr>
        <p:spPr>
          <a:xfrm>
            <a:off x="14293726" y="4206016"/>
            <a:ext cx="398379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Payouts</a:t>
            </a:r>
            <a:endParaRPr lang="en-US" sz="900" dirty="0"/>
          </a:p>
        </p:txBody>
      </p:sp>
      <p:sp>
        <p:nvSpPr>
          <p:cNvPr id="312" name="Text 308"/>
          <p:cNvSpPr/>
          <p:nvPr/>
        </p:nvSpPr>
        <p:spPr>
          <a:xfrm>
            <a:off x="14111858" y="4436330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313" name="Text 309"/>
          <p:cNvSpPr/>
          <p:nvPr/>
        </p:nvSpPr>
        <p:spPr>
          <a:xfrm>
            <a:off x="14246442" y="4436330"/>
            <a:ext cx="398376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314" name="Shape 310"/>
          <p:cNvSpPr/>
          <p:nvPr/>
        </p:nvSpPr>
        <p:spPr>
          <a:xfrm>
            <a:off x="14032611" y="6475728"/>
            <a:ext cx="1263016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15" name="Text 311"/>
          <p:cNvSpPr/>
          <p:nvPr/>
        </p:nvSpPr>
        <p:spPr>
          <a:xfrm>
            <a:off x="14092047" y="6540117"/>
            <a:ext cx="1220343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v1.2 · status: 🟢 online</a:t>
            </a:r>
            <a:endParaRPr lang="en-US" sz="750" dirty="0"/>
          </a:p>
        </p:txBody>
      </p:sp>
      <p:sp>
        <p:nvSpPr>
          <p:cNvPr id="316" name="Text 312"/>
          <p:cNvSpPr/>
          <p:nvPr/>
        </p:nvSpPr>
        <p:spPr>
          <a:xfrm>
            <a:off x="15483840" y="2398171"/>
            <a:ext cx="901495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Kitchen board</a:t>
            </a:r>
            <a:endParaRPr lang="en-US" sz="1350" dirty="0"/>
          </a:p>
        </p:txBody>
      </p:sp>
      <p:pic>
        <p:nvPicPr>
          <p:cNvPr id="3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83840" y="2550476"/>
            <a:ext cx="825295" cy="44577"/>
          </a:xfrm>
          <a:prstGeom prst="rect">
            <a:avLst/>
          </a:prstGeom>
        </p:spPr>
      </p:pic>
      <p:sp>
        <p:nvSpPr>
          <p:cNvPr id="318" name="Text 313"/>
          <p:cNvSpPr/>
          <p:nvPr/>
        </p:nvSpPr>
        <p:spPr>
          <a:xfrm>
            <a:off x="15483840" y="2565335"/>
            <a:ext cx="171022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· auto-refresh · 🔊 sound on new orders</a:t>
            </a:r>
            <a:endParaRPr lang="en-US" sz="825" dirty="0"/>
          </a:p>
        </p:txBody>
      </p:sp>
      <p:sp>
        <p:nvSpPr>
          <p:cNvPr id="319" name="Shape 314"/>
          <p:cNvSpPr/>
          <p:nvPr/>
        </p:nvSpPr>
        <p:spPr>
          <a:xfrm>
            <a:off x="19701165" y="2398171"/>
            <a:ext cx="898351" cy="269319"/>
          </a:xfrm>
          <a:prstGeom prst="roundRect">
            <a:avLst>
              <a:gd name="adj" fmla="val 2122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20" name="Text 315"/>
          <p:cNvSpPr/>
          <p:nvPr/>
        </p:nvSpPr>
        <p:spPr>
          <a:xfrm>
            <a:off x="19815084" y="2463489"/>
            <a:ext cx="746714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🖨 Print tickets</a:t>
            </a:r>
            <a:endParaRPr lang="en-US" sz="1050" dirty="0"/>
          </a:p>
        </p:txBody>
      </p:sp>
      <p:sp>
        <p:nvSpPr>
          <p:cNvPr id="321" name="Shape 316"/>
          <p:cNvSpPr/>
          <p:nvPr/>
        </p:nvSpPr>
        <p:spPr>
          <a:xfrm>
            <a:off x="20644093" y="2398171"/>
            <a:ext cx="1115200" cy="269319"/>
          </a:xfrm>
          <a:prstGeom prst="roundRect">
            <a:avLst>
              <a:gd name="adj" fmla="val 2122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22" name="Text 317"/>
          <p:cNvSpPr/>
          <p:nvPr/>
        </p:nvSpPr>
        <p:spPr>
          <a:xfrm>
            <a:off x="20758012" y="2463489"/>
            <a:ext cx="963560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⛶ Fullscreen mode</a:t>
            </a:r>
            <a:endParaRPr lang="en-US" sz="1050" dirty="0"/>
          </a:p>
        </p:txBody>
      </p:sp>
      <p:sp>
        <p:nvSpPr>
          <p:cNvPr id="323" name="Shape 318"/>
          <p:cNvSpPr/>
          <p:nvPr/>
        </p:nvSpPr>
        <p:spPr>
          <a:xfrm>
            <a:off x="15483840" y="2741785"/>
            <a:ext cx="1513142" cy="3833622"/>
          </a:xfrm>
          <a:prstGeom prst="roundRect">
            <a:avLst>
              <a:gd name="adj" fmla="val 5036"/>
            </a:avLst>
          </a:prstGeom>
          <a:solidFill>
            <a:srgbClr val="D97757">
              <a:alpha val="5000"/>
            </a:srgbClr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324" name="Shape 319"/>
          <p:cNvSpPr/>
          <p:nvPr/>
        </p:nvSpPr>
        <p:spPr>
          <a:xfrm>
            <a:off x="15553181" y="2992991"/>
            <a:ext cx="137445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25" name="Text 320"/>
          <p:cNvSpPr/>
          <p:nvPr/>
        </p:nvSpPr>
        <p:spPr>
          <a:xfrm>
            <a:off x="15553181" y="2836821"/>
            <a:ext cx="40178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NEW</a:t>
            </a:r>
            <a:endParaRPr lang="en-US" sz="825" dirty="0"/>
          </a:p>
        </p:txBody>
      </p:sp>
      <p:sp>
        <p:nvSpPr>
          <p:cNvPr id="326" name="Shape 321"/>
          <p:cNvSpPr/>
          <p:nvPr/>
        </p:nvSpPr>
        <p:spPr>
          <a:xfrm>
            <a:off x="16715359" y="2811127"/>
            <a:ext cx="212282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27" name="Text 322"/>
          <p:cNvSpPr/>
          <p:nvPr/>
        </p:nvSpPr>
        <p:spPr>
          <a:xfrm>
            <a:off x="16816959" y="2836527"/>
            <a:ext cx="11430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328" name="Shape 323"/>
          <p:cNvSpPr/>
          <p:nvPr/>
        </p:nvSpPr>
        <p:spPr>
          <a:xfrm>
            <a:off x="15553181" y="3058777"/>
            <a:ext cx="1374459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29" name="Text 324"/>
          <p:cNvSpPr/>
          <p:nvPr/>
        </p:nvSpPr>
        <p:spPr>
          <a:xfrm>
            <a:off x="15617571" y="3123166"/>
            <a:ext cx="30357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#7831</a:t>
            </a:r>
            <a:endParaRPr lang="en-US" sz="825" dirty="0"/>
          </a:p>
        </p:txBody>
      </p:sp>
      <p:sp>
        <p:nvSpPr>
          <p:cNvPr id="330" name="Text 325"/>
          <p:cNvSpPr/>
          <p:nvPr/>
        </p:nvSpPr>
        <p:spPr>
          <a:xfrm>
            <a:off x="16640210" y="3123166"/>
            <a:ext cx="29924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5m ago</a:t>
            </a:r>
            <a:endParaRPr lang="en-US" sz="675" dirty="0"/>
          </a:p>
        </p:txBody>
      </p:sp>
      <p:sp>
        <p:nvSpPr>
          <p:cNvPr id="331" name="Text 326"/>
          <p:cNvSpPr/>
          <p:nvPr/>
        </p:nvSpPr>
        <p:spPr>
          <a:xfrm>
            <a:off x="15617571" y="3240181"/>
            <a:ext cx="132187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 N.</a:t>
            </a:r>
            <a:endParaRPr lang="en-US" sz="825" dirty="0"/>
          </a:p>
        </p:txBody>
      </p:sp>
      <p:sp>
        <p:nvSpPr>
          <p:cNvPr id="332" name="Text 327"/>
          <p:cNvSpPr/>
          <p:nvPr/>
        </p:nvSpPr>
        <p:spPr>
          <a:xfrm>
            <a:off x="15617571" y="3372054"/>
            <a:ext cx="132187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Sourdough + 2× rolls</a:t>
            </a:r>
            <a:endParaRPr lang="en-US" sz="750" dirty="0"/>
          </a:p>
        </p:txBody>
      </p:sp>
      <p:sp>
        <p:nvSpPr>
          <p:cNvPr id="333" name="Text 328"/>
          <p:cNvSpPr/>
          <p:nvPr/>
        </p:nvSpPr>
        <p:spPr>
          <a:xfrm>
            <a:off x="15617571" y="3550053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UGX36k</a:t>
            </a:r>
            <a:endParaRPr lang="en-US" sz="825" dirty="0"/>
          </a:p>
        </p:txBody>
      </p:sp>
      <p:sp>
        <p:nvSpPr>
          <p:cNvPr id="334" name="Shape 329"/>
          <p:cNvSpPr/>
          <p:nvPr/>
        </p:nvSpPr>
        <p:spPr>
          <a:xfrm>
            <a:off x="16308360" y="3509500"/>
            <a:ext cx="554890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35" name="Text 330"/>
          <p:cNvSpPr/>
          <p:nvPr/>
        </p:nvSpPr>
        <p:spPr>
          <a:xfrm>
            <a:off x="16378210" y="3560300"/>
            <a:ext cx="41519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→</a:t>
            </a:r>
            <a:endParaRPr lang="en-US" sz="900" dirty="0"/>
          </a:p>
        </p:txBody>
      </p:sp>
      <p:sp>
        <p:nvSpPr>
          <p:cNvPr id="336" name="Shape 331"/>
          <p:cNvSpPr/>
          <p:nvPr/>
        </p:nvSpPr>
        <p:spPr>
          <a:xfrm>
            <a:off x="15553181" y="3816586"/>
            <a:ext cx="1374459" cy="896493"/>
          </a:xfrm>
          <a:prstGeom prst="roundRect">
            <a:avLst>
              <a:gd name="adj" fmla="val 6375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37" name="Text 332"/>
          <p:cNvSpPr/>
          <p:nvPr/>
        </p:nvSpPr>
        <p:spPr>
          <a:xfrm>
            <a:off x="15617571" y="3880975"/>
            <a:ext cx="303572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#7832</a:t>
            </a:r>
            <a:endParaRPr lang="en-US" sz="825" dirty="0"/>
          </a:p>
        </p:txBody>
      </p:sp>
      <p:sp>
        <p:nvSpPr>
          <p:cNvPr id="338" name="Text 333"/>
          <p:cNvSpPr/>
          <p:nvPr/>
        </p:nvSpPr>
        <p:spPr>
          <a:xfrm>
            <a:off x="16640210" y="3880975"/>
            <a:ext cx="299241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2m ago</a:t>
            </a:r>
            <a:endParaRPr lang="en-US" sz="675" dirty="0"/>
          </a:p>
        </p:txBody>
      </p:sp>
      <p:sp>
        <p:nvSpPr>
          <p:cNvPr id="339" name="Text 334"/>
          <p:cNvSpPr/>
          <p:nvPr/>
        </p:nvSpPr>
        <p:spPr>
          <a:xfrm>
            <a:off x="15617571" y="3997990"/>
            <a:ext cx="1321879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Peter M.</a:t>
            </a:r>
            <a:endParaRPr lang="en-US" sz="825" dirty="0"/>
          </a:p>
        </p:txBody>
      </p:sp>
      <p:sp>
        <p:nvSpPr>
          <p:cNvPr id="340" name="Text 335"/>
          <p:cNvSpPr/>
          <p:nvPr/>
        </p:nvSpPr>
        <p:spPr>
          <a:xfrm>
            <a:off x="15617571" y="4129864"/>
            <a:ext cx="132187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 cake (lg)</a:t>
            </a:r>
            <a:endParaRPr lang="en-US" sz="750" dirty="0"/>
          </a:p>
        </p:txBody>
      </p:sp>
      <p:sp>
        <p:nvSpPr>
          <p:cNvPr id="341" name="Shape 336"/>
          <p:cNvSpPr/>
          <p:nvPr/>
        </p:nvSpPr>
        <p:spPr>
          <a:xfrm>
            <a:off x="15617571" y="4252450"/>
            <a:ext cx="832182" cy="168402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42" name="Text 337"/>
          <p:cNvSpPr/>
          <p:nvPr/>
        </p:nvSpPr>
        <p:spPr>
          <a:xfrm>
            <a:off x="15696819" y="4272262"/>
            <a:ext cx="749886" cy="166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custom order</a:t>
            </a:r>
            <a:endParaRPr lang="en-US" sz="975" dirty="0"/>
          </a:p>
        </p:txBody>
      </p:sp>
      <p:sp>
        <p:nvSpPr>
          <p:cNvPr id="343" name="Text 338"/>
          <p:cNvSpPr/>
          <p:nvPr/>
        </p:nvSpPr>
        <p:spPr>
          <a:xfrm>
            <a:off x="15617571" y="4505982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UGX75k</a:t>
            </a:r>
            <a:endParaRPr lang="en-US" sz="825" dirty="0"/>
          </a:p>
        </p:txBody>
      </p:sp>
      <p:sp>
        <p:nvSpPr>
          <p:cNvPr id="344" name="Shape 339"/>
          <p:cNvSpPr/>
          <p:nvPr/>
        </p:nvSpPr>
        <p:spPr>
          <a:xfrm>
            <a:off x="16308360" y="4465429"/>
            <a:ext cx="554890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45" name="Text 340"/>
          <p:cNvSpPr/>
          <p:nvPr/>
        </p:nvSpPr>
        <p:spPr>
          <a:xfrm>
            <a:off x="16378210" y="4516229"/>
            <a:ext cx="41519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 →</a:t>
            </a:r>
            <a:endParaRPr lang="en-US" sz="900" dirty="0"/>
          </a:p>
        </p:txBody>
      </p:sp>
      <p:sp>
        <p:nvSpPr>
          <p:cNvPr id="346" name="Shape 341"/>
          <p:cNvSpPr/>
          <p:nvPr/>
        </p:nvSpPr>
        <p:spPr>
          <a:xfrm>
            <a:off x="17071278" y="2741785"/>
            <a:ext cx="1513142" cy="3833622"/>
          </a:xfrm>
          <a:prstGeom prst="roundRect">
            <a:avLst>
              <a:gd name="adj" fmla="val 5036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47" name="Shape 342"/>
          <p:cNvSpPr/>
          <p:nvPr/>
        </p:nvSpPr>
        <p:spPr>
          <a:xfrm>
            <a:off x="17140619" y="2992991"/>
            <a:ext cx="1374456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48" name="Text 343"/>
          <p:cNvSpPr/>
          <p:nvPr/>
        </p:nvSpPr>
        <p:spPr>
          <a:xfrm>
            <a:off x="17140619" y="2836821"/>
            <a:ext cx="68642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👨‍🍳 PREPARING</a:t>
            </a:r>
            <a:endParaRPr lang="en-US" sz="825" dirty="0"/>
          </a:p>
        </p:txBody>
      </p:sp>
      <p:sp>
        <p:nvSpPr>
          <p:cNvPr id="349" name="Shape 344"/>
          <p:cNvSpPr/>
          <p:nvPr/>
        </p:nvSpPr>
        <p:spPr>
          <a:xfrm>
            <a:off x="18302793" y="2811127"/>
            <a:ext cx="212282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50" name="Text 345"/>
          <p:cNvSpPr/>
          <p:nvPr/>
        </p:nvSpPr>
        <p:spPr>
          <a:xfrm>
            <a:off x="18404393" y="2836527"/>
            <a:ext cx="11430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351" name="Shape 346"/>
          <p:cNvSpPr/>
          <p:nvPr/>
        </p:nvSpPr>
        <p:spPr>
          <a:xfrm>
            <a:off x="17140619" y="3058777"/>
            <a:ext cx="1374456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52" name="Text 347"/>
          <p:cNvSpPr/>
          <p:nvPr/>
        </p:nvSpPr>
        <p:spPr>
          <a:xfrm>
            <a:off x="17205006" y="3123166"/>
            <a:ext cx="30357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#7830</a:t>
            </a:r>
            <a:endParaRPr lang="en-US" sz="825" dirty="0"/>
          </a:p>
        </p:txBody>
      </p:sp>
      <p:sp>
        <p:nvSpPr>
          <p:cNvPr id="353" name="Text 348"/>
          <p:cNvSpPr/>
          <p:nvPr/>
        </p:nvSpPr>
        <p:spPr>
          <a:xfrm>
            <a:off x="18320593" y="3123166"/>
            <a:ext cx="206294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</a:t>
            </a:r>
            <a:endParaRPr lang="en-US" sz="675" dirty="0"/>
          </a:p>
        </p:txBody>
      </p:sp>
      <p:sp>
        <p:nvSpPr>
          <p:cNvPr id="354" name="Text 349"/>
          <p:cNvSpPr/>
          <p:nvPr/>
        </p:nvSpPr>
        <p:spPr>
          <a:xfrm>
            <a:off x="17205006" y="3240181"/>
            <a:ext cx="132188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K.</a:t>
            </a:r>
            <a:endParaRPr lang="en-US" sz="825" dirty="0"/>
          </a:p>
        </p:txBody>
      </p:sp>
      <p:sp>
        <p:nvSpPr>
          <p:cNvPr id="355" name="Text 350"/>
          <p:cNvSpPr/>
          <p:nvPr/>
        </p:nvSpPr>
        <p:spPr>
          <a:xfrm>
            <a:off x="17205006" y="3372054"/>
            <a:ext cx="132188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Combo box</a:t>
            </a:r>
            <a:endParaRPr lang="en-US" sz="750" dirty="0"/>
          </a:p>
        </p:txBody>
      </p:sp>
      <p:sp>
        <p:nvSpPr>
          <p:cNvPr id="356" name="Text 351"/>
          <p:cNvSpPr/>
          <p:nvPr/>
        </p:nvSpPr>
        <p:spPr>
          <a:xfrm>
            <a:off x="17205006" y="3550053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UGX48k</a:t>
            </a:r>
            <a:endParaRPr lang="en-US" sz="825" dirty="0"/>
          </a:p>
        </p:txBody>
      </p:sp>
      <p:sp>
        <p:nvSpPr>
          <p:cNvPr id="357" name="Shape 352"/>
          <p:cNvSpPr/>
          <p:nvPr/>
        </p:nvSpPr>
        <p:spPr>
          <a:xfrm>
            <a:off x="17950279" y="3509500"/>
            <a:ext cx="50041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58" name="Text 353"/>
          <p:cNvSpPr/>
          <p:nvPr/>
        </p:nvSpPr>
        <p:spPr>
          <a:xfrm>
            <a:off x="18020129" y="3560300"/>
            <a:ext cx="36071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359" name="Shape 354"/>
          <p:cNvSpPr/>
          <p:nvPr/>
        </p:nvSpPr>
        <p:spPr>
          <a:xfrm>
            <a:off x="17140619" y="3816586"/>
            <a:ext cx="1374456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60" name="Text 355"/>
          <p:cNvSpPr/>
          <p:nvPr/>
        </p:nvSpPr>
        <p:spPr>
          <a:xfrm>
            <a:off x="17205006" y="3880975"/>
            <a:ext cx="303575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#7828</a:t>
            </a:r>
            <a:endParaRPr lang="en-US" sz="825" dirty="0"/>
          </a:p>
        </p:txBody>
      </p:sp>
      <p:sp>
        <p:nvSpPr>
          <p:cNvPr id="361" name="Text 356"/>
          <p:cNvSpPr/>
          <p:nvPr/>
        </p:nvSpPr>
        <p:spPr>
          <a:xfrm>
            <a:off x="18357742" y="3880975"/>
            <a:ext cx="169146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8m</a:t>
            </a:r>
            <a:endParaRPr lang="en-US" sz="675" dirty="0"/>
          </a:p>
        </p:txBody>
      </p:sp>
      <p:sp>
        <p:nvSpPr>
          <p:cNvPr id="362" name="Text 357"/>
          <p:cNvSpPr/>
          <p:nvPr/>
        </p:nvSpPr>
        <p:spPr>
          <a:xfrm>
            <a:off x="17205006" y="3997990"/>
            <a:ext cx="1321882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Sarah M.</a:t>
            </a:r>
            <a:endParaRPr lang="en-US" sz="825" dirty="0"/>
          </a:p>
        </p:txBody>
      </p:sp>
      <p:sp>
        <p:nvSpPr>
          <p:cNvPr id="363" name="Text 358"/>
          <p:cNvSpPr/>
          <p:nvPr/>
        </p:nvSpPr>
        <p:spPr>
          <a:xfrm>
            <a:off x="17205006" y="4129864"/>
            <a:ext cx="132188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6× croissant</a:t>
            </a:r>
            <a:endParaRPr lang="en-US" sz="750" dirty="0"/>
          </a:p>
        </p:txBody>
      </p:sp>
      <p:sp>
        <p:nvSpPr>
          <p:cNvPr id="364" name="Text 359"/>
          <p:cNvSpPr/>
          <p:nvPr/>
        </p:nvSpPr>
        <p:spPr>
          <a:xfrm>
            <a:off x="17205006" y="4307862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UGX18k</a:t>
            </a:r>
            <a:endParaRPr lang="en-US" sz="825" dirty="0"/>
          </a:p>
        </p:txBody>
      </p:sp>
      <p:sp>
        <p:nvSpPr>
          <p:cNvPr id="365" name="Shape 360"/>
          <p:cNvSpPr/>
          <p:nvPr/>
        </p:nvSpPr>
        <p:spPr>
          <a:xfrm>
            <a:off x="17950279" y="4267309"/>
            <a:ext cx="50041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66" name="Text 361"/>
          <p:cNvSpPr/>
          <p:nvPr/>
        </p:nvSpPr>
        <p:spPr>
          <a:xfrm>
            <a:off x="18020129" y="4318109"/>
            <a:ext cx="36071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367" name="Shape 362"/>
          <p:cNvSpPr/>
          <p:nvPr/>
        </p:nvSpPr>
        <p:spPr>
          <a:xfrm>
            <a:off x="18658712" y="2741785"/>
            <a:ext cx="1513142" cy="3833622"/>
          </a:xfrm>
          <a:prstGeom prst="roundRect">
            <a:avLst>
              <a:gd name="adj" fmla="val 5036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68" name="Shape 363"/>
          <p:cNvSpPr/>
          <p:nvPr/>
        </p:nvSpPr>
        <p:spPr>
          <a:xfrm>
            <a:off x="18728055" y="2992991"/>
            <a:ext cx="137445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69" name="Text 364"/>
          <p:cNvSpPr/>
          <p:nvPr/>
        </p:nvSpPr>
        <p:spPr>
          <a:xfrm>
            <a:off x="18728055" y="2836821"/>
            <a:ext cx="462226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🛍 READY</a:t>
            </a:r>
            <a:endParaRPr lang="en-US" sz="825" dirty="0"/>
          </a:p>
        </p:txBody>
      </p:sp>
      <p:sp>
        <p:nvSpPr>
          <p:cNvPr id="370" name="Shape 365"/>
          <p:cNvSpPr/>
          <p:nvPr/>
        </p:nvSpPr>
        <p:spPr>
          <a:xfrm>
            <a:off x="19890232" y="2811127"/>
            <a:ext cx="212282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71" name="Text 366"/>
          <p:cNvSpPr/>
          <p:nvPr/>
        </p:nvSpPr>
        <p:spPr>
          <a:xfrm>
            <a:off x="19991832" y="2836527"/>
            <a:ext cx="11430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372" name="Shape 367"/>
          <p:cNvSpPr/>
          <p:nvPr/>
        </p:nvSpPr>
        <p:spPr>
          <a:xfrm>
            <a:off x="18728055" y="3058777"/>
            <a:ext cx="1374459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73" name="Text 368"/>
          <p:cNvSpPr/>
          <p:nvPr/>
        </p:nvSpPr>
        <p:spPr>
          <a:xfrm>
            <a:off x="18792444" y="3123166"/>
            <a:ext cx="30357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#7826</a:t>
            </a:r>
            <a:endParaRPr lang="en-US" sz="825" dirty="0"/>
          </a:p>
        </p:txBody>
      </p:sp>
      <p:sp>
        <p:nvSpPr>
          <p:cNvPr id="374" name="Text 369"/>
          <p:cNvSpPr/>
          <p:nvPr/>
        </p:nvSpPr>
        <p:spPr>
          <a:xfrm>
            <a:off x="19759361" y="3123166"/>
            <a:ext cx="35496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2m</a:t>
            </a:r>
            <a:endParaRPr lang="en-US" sz="675" dirty="0"/>
          </a:p>
        </p:txBody>
      </p:sp>
      <p:sp>
        <p:nvSpPr>
          <p:cNvPr id="375" name="Text 370"/>
          <p:cNvSpPr/>
          <p:nvPr/>
        </p:nvSpPr>
        <p:spPr>
          <a:xfrm>
            <a:off x="18792444" y="3240181"/>
            <a:ext cx="132187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Mary L.</a:t>
            </a:r>
            <a:endParaRPr lang="en-US" sz="825" dirty="0"/>
          </a:p>
        </p:txBody>
      </p:sp>
      <p:sp>
        <p:nvSpPr>
          <p:cNvPr id="376" name="Text 371"/>
          <p:cNvSpPr/>
          <p:nvPr/>
        </p:nvSpPr>
        <p:spPr>
          <a:xfrm>
            <a:off x="18792444" y="3372054"/>
            <a:ext cx="132187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Bread x3</a:t>
            </a:r>
            <a:endParaRPr lang="en-US" sz="750" dirty="0"/>
          </a:p>
        </p:txBody>
      </p:sp>
      <p:sp>
        <p:nvSpPr>
          <p:cNvPr id="377" name="Text 372"/>
          <p:cNvSpPr/>
          <p:nvPr/>
        </p:nvSpPr>
        <p:spPr>
          <a:xfrm>
            <a:off x="18792444" y="3550053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UGX22k</a:t>
            </a:r>
            <a:endParaRPr lang="en-US" sz="825" dirty="0"/>
          </a:p>
        </p:txBody>
      </p:sp>
      <p:sp>
        <p:nvSpPr>
          <p:cNvPr id="378" name="Shape 373"/>
          <p:cNvSpPr/>
          <p:nvPr/>
        </p:nvSpPr>
        <p:spPr>
          <a:xfrm>
            <a:off x="19537717" y="3509500"/>
            <a:ext cx="500407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79" name="Text 374"/>
          <p:cNvSpPr/>
          <p:nvPr/>
        </p:nvSpPr>
        <p:spPr>
          <a:xfrm>
            <a:off x="19607567" y="3560300"/>
            <a:ext cx="360707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380" name="Shape 375"/>
          <p:cNvSpPr/>
          <p:nvPr/>
        </p:nvSpPr>
        <p:spPr>
          <a:xfrm>
            <a:off x="20246150" y="2741785"/>
            <a:ext cx="1513142" cy="3833622"/>
          </a:xfrm>
          <a:prstGeom prst="roundRect">
            <a:avLst>
              <a:gd name="adj" fmla="val 5036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81" name="Shape 376"/>
          <p:cNvSpPr/>
          <p:nvPr/>
        </p:nvSpPr>
        <p:spPr>
          <a:xfrm>
            <a:off x="20315493" y="2992991"/>
            <a:ext cx="1374456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82" name="Text 377"/>
          <p:cNvSpPr/>
          <p:nvPr/>
        </p:nvSpPr>
        <p:spPr>
          <a:xfrm>
            <a:off x="20315493" y="2836821"/>
            <a:ext cx="100287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🛵 OUT FOR DELIVERY</a:t>
            </a:r>
            <a:endParaRPr lang="en-US" sz="825" dirty="0"/>
          </a:p>
        </p:txBody>
      </p:sp>
      <p:sp>
        <p:nvSpPr>
          <p:cNvPr id="383" name="Shape 378"/>
          <p:cNvSpPr/>
          <p:nvPr/>
        </p:nvSpPr>
        <p:spPr>
          <a:xfrm>
            <a:off x="21477666" y="2811127"/>
            <a:ext cx="212282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84" name="Text 379"/>
          <p:cNvSpPr/>
          <p:nvPr/>
        </p:nvSpPr>
        <p:spPr>
          <a:xfrm>
            <a:off x="21579266" y="2836527"/>
            <a:ext cx="11430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385" name="Shape 380"/>
          <p:cNvSpPr/>
          <p:nvPr/>
        </p:nvSpPr>
        <p:spPr>
          <a:xfrm>
            <a:off x="20315493" y="3058777"/>
            <a:ext cx="1374456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86" name="Text 381"/>
          <p:cNvSpPr/>
          <p:nvPr/>
        </p:nvSpPr>
        <p:spPr>
          <a:xfrm>
            <a:off x="20379879" y="3123166"/>
            <a:ext cx="30357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#7825</a:t>
            </a:r>
            <a:endParaRPr lang="en-US" sz="825" dirty="0"/>
          </a:p>
        </p:txBody>
      </p:sp>
      <p:sp>
        <p:nvSpPr>
          <p:cNvPr id="387" name="Text 382"/>
          <p:cNvSpPr/>
          <p:nvPr/>
        </p:nvSpPr>
        <p:spPr>
          <a:xfrm>
            <a:off x="21272427" y="3123166"/>
            <a:ext cx="42933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boda · 5min</a:t>
            </a:r>
            <a:endParaRPr lang="en-US" sz="675" dirty="0"/>
          </a:p>
        </p:txBody>
      </p:sp>
      <p:sp>
        <p:nvSpPr>
          <p:cNvPr id="388" name="Text 383"/>
          <p:cNvSpPr/>
          <p:nvPr/>
        </p:nvSpPr>
        <p:spPr>
          <a:xfrm>
            <a:off x="20379879" y="3240181"/>
            <a:ext cx="132188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O.</a:t>
            </a:r>
            <a:endParaRPr lang="en-US" sz="825" dirty="0"/>
          </a:p>
        </p:txBody>
      </p:sp>
      <p:sp>
        <p:nvSpPr>
          <p:cNvPr id="389" name="Text 384"/>
          <p:cNvSpPr/>
          <p:nvPr/>
        </p:nvSpPr>
        <p:spPr>
          <a:xfrm>
            <a:off x="20379879" y="3372054"/>
            <a:ext cx="132188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Choc cake</a:t>
            </a:r>
            <a:endParaRPr lang="en-US" sz="750" dirty="0"/>
          </a:p>
        </p:txBody>
      </p:sp>
      <p:sp>
        <p:nvSpPr>
          <p:cNvPr id="390" name="Text 385"/>
          <p:cNvSpPr/>
          <p:nvPr/>
        </p:nvSpPr>
        <p:spPr>
          <a:xfrm>
            <a:off x="20379879" y="3550053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UGX60k</a:t>
            </a:r>
            <a:endParaRPr lang="en-US" sz="825" dirty="0"/>
          </a:p>
        </p:txBody>
      </p:sp>
      <p:sp>
        <p:nvSpPr>
          <p:cNvPr id="391" name="Shape 386"/>
          <p:cNvSpPr/>
          <p:nvPr/>
        </p:nvSpPr>
        <p:spPr>
          <a:xfrm>
            <a:off x="21125152" y="3509500"/>
            <a:ext cx="50041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92" name="Text 387"/>
          <p:cNvSpPr/>
          <p:nvPr/>
        </p:nvSpPr>
        <p:spPr>
          <a:xfrm>
            <a:off x="21195002" y="3560300"/>
            <a:ext cx="36071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393" name="Shape 388"/>
          <p:cNvSpPr/>
          <p:nvPr/>
        </p:nvSpPr>
        <p:spPr>
          <a:xfrm>
            <a:off x="20315493" y="3816586"/>
            <a:ext cx="1374456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394" name="Text 389"/>
          <p:cNvSpPr/>
          <p:nvPr/>
        </p:nvSpPr>
        <p:spPr>
          <a:xfrm>
            <a:off x="20379879" y="3880975"/>
            <a:ext cx="303575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#7824</a:t>
            </a:r>
            <a:endParaRPr lang="en-US" sz="825" dirty="0"/>
          </a:p>
        </p:txBody>
      </p:sp>
      <p:sp>
        <p:nvSpPr>
          <p:cNvPr id="395" name="Text 390"/>
          <p:cNvSpPr/>
          <p:nvPr/>
        </p:nvSpPr>
        <p:spPr>
          <a:xfrm>
            <a:off x="21235202" y="3880975"/>
            <a:ext cx="466561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boda · 12min</a:t>
            </a:r>
            <a:endParaRPr lang="en-US" sz="675" dirty="0"/>
          </a:p>
        </p:txBody>
      </p:sp>
      <p:sp>
        <p:nvSpPr>
          <p:cNvPr id="396" name="Text 391"/>
          <p:cNvSpPr/>
          <p:nvPr/>
        </p:nvSpPr>
        <p:spPr>
          <a:xfrm>
            <a:off x="20379879" y="3997990"/>
            <a:ext cx="1321882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Lillian W.</a:t>
            </a:r>
            <a:endParaRPr lang="en-US" sz="825" dirty="0"/>
          </a:p>
        </p:txBody>
      </p:sp>
      <p:sp>
        <p:nvSpPr>
          <p:cNvPr id="397" name="Text 392"/>
          <p:cNvSpPr/>
          <p:nvPr/>
        </p:nvSpPr>
        <p:spPr>
          <a:xfrm>
            <a:off x="20379879" y="4129864"/>
            <a:ext cx="132188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Pastry box</a:t>
            </a:r>
            <a:endParaRPr lang="en-US" sz="750" dirty="0"/>
          </a:p>
        </p:txBody>
      </p:sp>
      <p:sp>
        <p:nvSpPr>
          <p:cNvPr id="398" name="Text 393"/>
          <p:cNvSpPr/>
          <p:nvPr/>
        </p:nvSpPr>
        <p:spPr>
          <a:xfrm>
            <a:off x="20379879" y="4307862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UGX24k</a:t>
            </a:r>
            <a:endParaRPr lang="en-US" sz="825" dirty="0"/>
          </a:p>
        </p:txBody>
      </p:sp>
      <p:sp>
        <p:nvSpPr>
          <p:cNvPr id="399" name="Shape 394"/>
          <p:cNvSpPr/>
          <p:nvPr/>
        </p:nvSpPr>
        <p:spPr>
          <a:xfrm>
            <a:off x="21125152" y="4267309"/>
            <a:ext cx="50041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00" name="Text 395"/>
          <p:cNvSpPr/>
          <p:nvPr/>
        </p:nvSpPr>
        <p:spPr>
          <a:xfrm>
            <a:off x="21195002" y="4318109"/>
            <a:ext cx="36071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401" name="Shape 396"/>
          <p:cNvSpPr/>
          <p:nvPr/>
        </p:nvSpPr>
        <p:spPr>
          <a:xfrm>
            <a:off x="20315493" y="4574395"/>
            <a:ext cx="1374456" cy="698373"/>
          </a:xfrm>
          <a:prstGeom prst="roundRect">
            <a:avLst>
              <a:gd name="adj" fmla="val 8183"/>
            </a:avLst>
          </a:prstGeom>
          <a:solidFill>
            <a:srgbClr val="FBFAF7"/>
          </a:solidFill>
          <a:ln w="6350">
            <a:solidFill>
              <a:srgbClr val="1C1917"/>
            </a:solidFill>
            <a:prstDash val="solid"/>
          </a:ln>
        </p:spPr>
      </p:sp>
      <p:sp>
        <p:nvSpPr>
          <p:cNvPr id="402" name="Text 397"/>
          <p:cNvSpPr/>
          <p:nvPr/>
        </p:nvSpPr>
        <p:spPr>
          <a:xfrm>
            <a:off x="20379879" y="4638784"/>
            <a:ext cx="303575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#7823</a:t>
            </a:r>
            <a:endParaRPr lang="en-US" sz="825" dirty="0"/>
          </a:p>
        </p:txBody>
      </p:sp>
      <p:sp>
        <p:nvSpPr>
          <p:cNvPr id="403" name="Text 398"/>
          <p:cNvSpPr/>
          <p:nvPr/>
        </p:nvSpPr>
        <p:spPr>
          <a:xfrm>
            <a:off x="21235202" y="4638784"/>
            <a:ext cx="466561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boda · 18min</a:t>
            </a:r>
            <a:endParaRPr lang="en-US" sz="675" dirty="0"/>
          </a:p>
        </p:txBody>
      </p:sp>
      <p:sp>
        <p:nvSpPr>
          <p:cNvPr id="404" name="Text 399"/>
          <p:cNvSpPr/>
          <p:nvPr/>
        </p:nvSpPr>
        <p:spPr>
          <a:xfrm>
            <a:off x="20379879" y="4755799"/>
            <a:ext cx="1321882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Joel B.</a:t>
            </a:r>
            <a:endParaRPr lang="en-US" sz="825" dirty="0"/>
          </a:p>
        </p:txBody>
      </p:sp>
      <p:sp>
        <p:nvSpPr>
          <p:cNvPr id="405" name="Text 400"/>
          <p:cNvSpPr/>
          <p:nvPr/>
        </p:nvSpPr>
        <p:spPr>
          <a:xfrm>
            <a:off x="20379879" y="4887673"/>
            <a:ext cx="1321882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Loaf x2</a:t>
            </a:r>
            <a:endParaRPr lang="en-US" sz="750" dirty="0"/>
          </a:p>
        </p:txBody>
      </p:sp>
      <p:sp>
        <p:nvSpPr>
          <p:cNvPr id="406" name="Text 401"/>
          <p:cNvSpPr/>
          <p:nvPr/>
        </p:nvSpPr>
        <p:spPr>
          <a:xfrm>
            <a:off x="20379879" y="5065671"/>
            <a:ext cx="40782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UGX15k</a:t>
            </a:r>
            <a:endParaRPr lang="en-US" sz="825" dirty="0"/>
          </a:p>
        </p:txBody>
      </p:sp>
      <p:sp>
        <p:nvSpPr>
          <p:cNvPr id="407" name="Shape 402"/>
          <p:cNvSpPr/>
          <p:nvPr/>
        </p:nvSpPr>
        <p:spPr>
          <a:xfrm>
            <a:off x="21125152" y="5025118"/>
            <a:ext cx="50041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408" name="Text 403"/>
          <p:cNvSpPr/>
          <p:nvPr/>
        </p:nvSpPr>
        <p:spPr>
          <a:xfrm>
            <a:off x="21195002" y="5075918"/>
            <a:ext cx="360710" cy="1197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→</a:t>
            </a:r>
            <a:endParaRPr lang="en-US" sz="900" dirty="0"/>
          </a:p>
        </p:txBody>
      </p:sp>
      <p:sp>
        <p:nvSpPr>
          <p:cNvPr id="409" name="Text 404"/>
          <p:cNvSpPr/>
          <p:nvPr/>
        </p:nvSpPr>
        <p:spPr>
          <a:xfrm rot="180000">
            <a:off x="20569810" y="2647610"/>
            <a:ext cx="10287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drag cards between columns to update status</a:t>
            </a:r>
            <a:endParaRPr lang="en-US" sz="1200" dirty="0"/>
          </a:p>
        </p:txBody>
      </p:sp>
      <p:sp>
        <p:nvSpPr>
          <p:cNvPr id="410" name="Text 405"/>
          <p:cNvSpPr/>
          <p:nvPr/>
        </p:nvSpPr>
        <p:spPr>
          <a:xfrm>
            <a:off x="17220100" y="7024272"/>
            <a:ext cx="1546777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Kitchen kanban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1517650"/>
            <a:ext cx="16764000" cy="1905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" name="Text 1"/>
          <p:cNvSpPr/>
          <p:nvPr/>
        </p:nvSpPr>
        <p:spPr>
          <a:xfrm>
            <a:off x="762000" y="533400"/>
            <a:ext cx="42944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</a:t>
            </a:r>
            <a:pPr algn="l" indent="0" marL="0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62000" y="1123950"/>
            <a:ext cx="4294452" cy="279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metrics · bakery approval · audit log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15304394" y="850900"/>
            <a:ext cx="2297807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75" kern="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DESKTOP · 3 DIRECTIONS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-3738753" y="1841500"/>
            <a:ext cx="8387015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Platform overview — KPIs + approval queue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-3738753" y="2046508"/>
            <a:ext cx="8142733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3723894" y="2222022"/>
            <a:ext cx="8113014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9" name="Shape 7"/>
          <p:cNvSpPr/>
          <p:nvPr/>
        </p:nvSpPr>
        <p:spPr>
          <a:xfrm>
            <a:off x="-3664458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-3565397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-3466338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-3292983" y="2092013"/>
            <a:ext cx="90992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13" name="Shape 11"/>
          <p:cNvSpPr/>
          <p:nvPr/>
        </p:nvSpPr>
        <p:spPr>
          <a:xfrm>
            <a:off x="-3664458" y="2294158"/>
            <a:ext cx="1495806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" name="Shape 12"/>
          <p:cNvSpPr/>
          <p:nvPr/>
        </p:nvSpPr>
        <p:spPr>
          <a:xfrm>
            <a:off x="-2181352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" name="Shape 13"/>
          <p:cNvSpPr/>
          <p:nvPr/>
        </p:nvSpPr>
        <p:spPr>
          <a:xfrm>
            <a:off x="-3590163" y="2669189"/>
            <a:ext cx="1337310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-3590163" y="2383312"/>
            <a:ext cx="227838" cy="22783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-3615563" y="2396012"/>
            <a:ext cx="278638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</a:t>
            </a:r>
            <a:endParaRPr lang="en-US" sz="840" dirty="0"/>
          </a:p>
        </p:txBody>
      </p:sp>
      <p:sp>
        <p:nvSpPr>
          <p:cNvPr id="18" name="Text 16"/>
          <p:cNvSpPr/>
          <p:nvPr/>
        </p:nvSpPr>
        <p:spPr>
          <a:xfrm>
            <a:off x="-3302889" y="2399719"/>
            <a:ext cx="61143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Good UG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-3302889" y="2511161"/>
            <a:ext cx="611434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-3590163" y="2779552"/>
            <a:ext cx="1337310" cy="200597"/>
          </a:xfrm>
          <a:prstGeom prst="roundRect">
            <a:avLst>
              <a:gd name="adj" fmla="val 28490"/>
            </a:avLst>
          </a:prstGeom>
          <a:solidFill>
            <a:srgbClr val="D97757">
              <a:alpha val="2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-3590163" y="2779552"/>
            <a:ext cx="25400" cy="200597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2" name="Text 20"/>
          <p:cNvSpPr/>
          <p:nvPr/>
        </p:nvSpPr>
        <p:spPr>
          <a:xfrm>
            <a:off x="-3510915" y="2824129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-3329047" y="2824129"/>
            <a:ext cx="44775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-3510915" y="3054443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-3329047" y="3054443"/>
            <a:ext cx="423065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Bakeries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-3510915" y="3284758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-3329047" y="3284758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-2452675" y="3293425"/>
            <a:ext cx="140386" cy="941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-2403145" y="3298379"/>
            <a:ext cx="117527" cy="12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-3510915" y="3515072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-3329047" y="3515072"/>
            <a:ext cx="507266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-3510915" y="3745387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-3329047" y="3745387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-3510915" y="3975701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-3329047" y="3975701"/>
            <a:ext cx="42322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-3510915" y="4206016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-3362325" y="4206016"/>
            <a:ext cx="38847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-3510915" y="4436330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-3329047" y="4436330"/>
            <a:ext cx="423065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-3510915" y="4666645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-3376332" y="4666645"/>
            <a:ext cx="39837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-2168652" y="2294158"/>
            <a:ext cx="6409182" cy="4487418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43" name="Text 41"/>
          <p:cNvSpPr/>
          <p:nvPr/>
        </p:nvSpPr>
        <p:spPr>
          <a:xfrm>
            <a:off x="-2064639" y="2398171"/>
            <a:ext cx="1139005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overview</a:t>
            </a:r>
            <a:endParaRPr lang="en-US" sz="13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2064639" y="2550476"/>
            <a:ext cx="1062805" cy="44577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-2064639" y="2565335"/>
            <a:ext cx="159499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Tuesday · May 19, 2026 · 47 bakeries live</a:t>
            </a:r>
            <a:endParaRPr lang="en-US" sz="825" dirty="0"/>
          </a:p>
        </p:txBody>
      </p:sp>
      <p:sp>
        <p:nvSpPr>
          <p:cNvPr id="46" name="Shape 43"/>
          <p:cNvSpPr/>
          <p:nvPr/>
        </p:nvSpPr>
        <p:spPr>
          <a:xfrm>
            <a:off x="1991094" y="2398171"/>
            <a:ext cx="416284" cy="269319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070342" y="2475871"/>
            <a:ext cx="333988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975" dirty="0"/>
          </a:p>
        </p:txBody>
      </p:sp>
      <p:sp>
        <p:nvSpPr>
          <p:cNvPr id="48" name="Shape 45"/>
          <p:cNvSpPr/>
          <p:nvPr/>
        </p:nvSpPr>
        <p:spPr>
          <a:xfrm>
            <a:off x="2451956" y="2398171"/>
            <a:ext cx="265992" cy="269319"/>
          </a:xfrm>
          <a:prstGeom prst="ellipse">
            <a:avLst/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2531204" y="2475871"/>
            <a:ext cx="183696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7d</a:t>
            </a:r>
            <a:endParaRPr lang="en-US" sz="975" dirty="0"/>
          </a:p>
        </p:txBody>
      </p:sp>
      <p:sp>
        <p:nvSpPr>
          <p:cNvPr id="50" name="Shape 47"/>
          <p:cNvSpPr/>
          <p:nvPr/>
        </p:nvSpPr>
        <p:spPr>
          <a:xfrm>
            <a:off x="2762524" y="2398171"/>
            <a:ext cx="319701" cy="269319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2841772" y="2475871"/>
            <a:ext cx="237405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</a:t>
            </a:r>
            <a:endParaRPr lang="en-US" sz="975" dirty="0"/>
          </a:p>
        </p:txBody>
      </p:sp>
      <p:sp>
        <p:nvSpPr>
          <p:cNvPr id="52" name="Shape 49"/>
          <p:cNvSpPr/>
          <p:nvPr/>
        </p:nvSpPr>
        <p:spPr>
          <a:xfrm>
            <a:off x="3126802" y="2398171"/>
            <a:ext cx="351663" cy="269319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206050" y="2475871"/>
            <a:ext cx="269367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YTD</a:t>
            </a:r>
            <a:endParaRPr lang="en-US" sz="975" dirty="0"/>
          </a:p>
        </p:txBody>
      </p:sp>
      <p:sp>
        <p:nvSpPr>
          <p:cNvPr id="54" name="Shape 51"/>
          <p:cNvSpPr/>
          <p:nvPr/>
        </p:nvSpPr>
        <p:spPr>
          <a:xfrm>
            <a:off x="3523042" y="2398171"/>
            <a:ext cx="613476" cy="269319"/>
          </a:xfrm>
          <a:prstGeom prst="roundRect">
            <a:avLst>
              <a:gd name="adj" fmla="val 2122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636961" y="2463489"/>
            <a:ext cx="461837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CSV</a:t>
            </a:r>
            <a:endParaRPr lang="en-US" sz="1050" dirty="0"/>
          </a:p>
        </p:txBody>
      </p:sp>
      <p:sp>
        <p:nvSpPr>
          <p:cNvPr id="56" name="Shape 53"/>
          <p:cNvSpPr/>
          <p:nvPr/>
        </p:nvSpPr>
        <p:spPr>
          <a:xfrm>
            <a:off x="-2064639" y="2756644"/>
            <a:ext cx="1180749" cy="617887"/>
          </a:xfrm>
          <a:prstGeom prst="roundRect">
            <a:avLst>
              <a:gd name="adj" fmla="val 12332"/>
            </a:avLst>
          </a:prstGeom>
          <a:solidFill>
            <a:srgbClr val="D97757">
              <a:alpha val="6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-1965579" y="2855704"/>
            <a:ext cx="105882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(7D)</a:t>
            </a:r>
            <a:endParaRPr lang="en-US" sz="750" dirty="0"/>
          </a:p>
        </p:txBody>
      </p:sp>
      <p:sp>
        <p:nvSpPr>
          <p:cNvPr id="58" name="Text 55"/>
          <p:cNvSpPr/>
          <p:nvPr/>
        </p:nvSpPr>
        <p:spPr>
          <a:xfrm>
            <a:off x="-1965579" y="2963432"/>
            <a:ext cx="1058829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84M</a:t>
            </a:r>
            <a:endParaRPr lang="en-US" sz="1650" dirty="0"/>
          </a:p>
        </p:txBody>
      </p:sp>
      <p:sp>
        <p:nvSpPr>
          <p:cNvPr id="59" name="Text 56"/>
          <p:cNvSpPr/>
          <p:nvPr/>
        </p:nvSpPr>
        <p:spPr>
          <a:xfrm>
            <a:off x="-1965579" y="3182602"/>
            <a:ext cx="105882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18% vs prev</a:t>
            </a:r>
            <a:endParaRPr lang="en-US" sz="750" dirty="0"/>
          </a:p>
        </p:txBody>
      </p:sp>
      <p:sp>
        <p:nvSpPr>
          <p:cNvPr id="60" name="Shape 57"/>
          <p:cNvSpPr/>
          <p:nvPr/>
        </p:nvSpPr>
        <p:spPr>
          <a:xfrm>
            <a:off x="-809595" y="2756644"/>
            <a:ext cx="1180826" cy="617887"/>
          </a:xfrm>
          <a:prstGeom prst="roundRect">
            <a:avLst>
              <a:gd name="adj" fmla="val 12332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-710535" y="2855704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FEE</a:t>
            </a:r>
            <a:endParaRPr lang="en-US" sz="750" dirty="0"/>
          </a:p>
        </p:txBody>
      </p:sp>
      <p:sp>
        <p:nvSpPr>
          <p:cNvPr id="62" name="Text 59"/>
          <p:cNvSpPr/>
          <p:nvPr/>
        </p:nvSpPr>
        <p:spPr>
          <a:xfrm>
            <a:off x="-710535" y="2963432"/>
            <a:ext cx="1058906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4.2M</a:t>
            </a:r>
            <a:endParaRPr lang="en-US" sz="1650" dirty="0"/>
          </a:p>
        </p:txBody>
      </p:sp>
      <p:sp>
        <p:nvSpPr>
          <p:cNvPr id="63" name="Text 60"/>
          <p:cNvSpPr/>
          <p:nvPr/>
        </p:nvSpPr>
        <p:spPr>
          <a:xfrm>
            <a:off x="-710535" y="3182602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5% take rate</a:t>
            </a:r>
            <a:endParaRPr lang="en-US" sz="750" dirty="0"/>
          </a:p>
        </p:txBody>
      </p:sp>
      <p:sp>
        <p:nvSpPr>
          <p:cNvPr id="64" name="Shape 61"/>
          <p:cNvSpPr/>
          <p:nvPr/>
        </p:nvSpPr>
        <p:spPr>
          <a:xfrm>
            <a:off x="445526" y="2756644"/>
            <a:ext cx="1180749" cy="617887"/>
          </a:xfrm>
          <a:prstGeom prst="roundRect">
            <a:avLst>
              <a:gd name="adj" fmla="val 12332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544586" y="2855704"/>
            <a:ext cx="105882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 BAKERIES</a:t>
            </a:r>
            <a:endParaRPr lang="en-US" sz="750" dirty="0"/>
          </a:p>
        </p:txBody>
      </p:sp>
      <p:sp>
        <p:nvSpPr>
          <p:cNvPr id="66" name="Text 63"/>
          <p:cNvSpPr/>
          <p:nvPr/>
        </p:nvSpPr>
        <p:spPr>
          <a:xfrm>
            <a:off x="544586" y="2963432"/>
            <a:ext cx="1058829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/ 52</a:t>
            </a:r>
            <a:endParaRPr lang="en-US" sz="1650" dirty="0"/>
          </a:p>
        </p:txBody>
      </p:sp>
      <p:sp>
        <p:nvSpPr>
          <p:cNvPr id="67" name="Text 64"/>
          <p:cNvSpPr/>
          <p:nvPr/>
        </p:nvSpPr>
        <p:spPr>
          <a:xfrm>
            <a:off x="544586" y="3182602"/>
            <a:ext cx="105882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inactive &gt;7d</a:t>
            </a:r>
            <a:endParaRPr lang="en-US" sz="750" dirty="0"/>
          </a:p>
        </p:txBody>
      </p:sp>
      <p:sp>
        <p:nvSpPr>
          <p:cNvPr id="68" name="Shape 65"/>
          <p:cNvSpPr/>
          <p:nvPr/>
        </p:nvSpPr>
        <p:spPr>
          <a:xfrm>
            <a:off x="1700570" y="2756644"/>
            <a:ext cx="1180826" cy="617887"/>
          </a:xfrm>
          <a:prstGeom prst="roundRect">
            <a:avLst>
              <a:gd name="adj" fmla="val 12332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1799630" y="2855704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CUSTOMERS</a:t>
            </a:r>
            <a:endParaRPr lang="en-US" sz="750" dirty="0"/>
          </a:p>
        </p:txBody>
      </p:sp>
      <p:sp>
        <p:nvSpPr>
          <p:cNvPr id="70" name="Text 67"/>
          <p:cNvSpPr/>
          <p:nvPr/>
        </p:nvSpPr>
        <p:spPr>
          <a:xfrm>
            <a:off x="1799630" y="2963432"/>
            <a:ext cx="1058906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612</a:t>
            </a:r>
            <a:endParaRPr lang="en-US" sz="1650" dirty="0"/>
          </a:p>
        </p:txBody>
      </p:sp>
      <p:sp>
        <p:nvSpPr>
          <p:cNvPr id="71" name="Text 68"/>
          <p:cNvSpPr/>
          <p:nvPr/>
        </p:nvSpPr>
        <p:spPr>
          <a:xfrm>
            <a:off x="1799630" y="3182602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22%</a:t>
            </a:r>
            <a:endParaRPr lang="en-US" sz="750" dirty="0"/>
          </a:p>
        </p:txBody>
      </p:sp>
      <p:sp>
        <p:nvSpPr>
          <p:cNvPr id="72" name="Shape 69"/>
          <p:cNvSpPr/>
          <p:nvPr/>
        </p:nvSpPr>
        <p:spPr>
          <a:xfrm>
            <a:off x="2955691" y="2756644"/>
            <a:ext cx="1180826" cy="617887"/>
          </a:xfrm>
          <a:prstGeom prst="roundRect">
            <a:avLst>
              <a:gd name="adj" fmla="val 12332"/>
            </a:avLst>
          </a:prstGeom>
          <a:solidFill>
            <a:srgbClr val="D97757">
              <a:alpha val="6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73" name="Text 70"/>
          <p:cNvSpPr/>
          <p:nvPr/>
        </p:nvSpPr>
        <p:spPr>
          <a:xfrm>
            <a:off x="3054751" y="2855704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APPROVALS</a:t>
            </a:r>
            <a:endParaRPr lang="en-US" sz="750" dirty="0"/>
          </a:p>
        </p:txBody>
      </p:sp>
      <p:sp>
        <p:nvSpPr>
          <p:cNvPr id="74" name="Text 71"/>
          <p:cNvSpPr/>
          <p:nvPr/>
        </p:nvSpPr>
        <p:spPr>
          <a:xfrm>
            <a:off x="3054751" y="2963432"/>
            <a:ext cx="1058906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5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50" dirty="0"/>
          </a:p>
        </p:txBody>
      </p:sp>
      <p:sp>
        <p:nvSpPr>
          <p:cNvPr id="75" name="Text 72"/>
          <p:cNvSpPr/>
          <p:nvPr/>
        </p:nvSpPr>
        <p:spPr>
          <a:xfrm>
            <a:off x="3054751" y="3182602"/>
            <a:ext cx="105890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oldest 2 days</a:t>
            </a:r>
            <a:endParaRPr lang="en-US" sz="750" dirty="0"/>
          </a:p>
        </p:txBody>
      </p:sp>
      <p:sp>
        <p:nvSpPr>
          <p:cNvPr id="76" name="Shape 73"/>
          <p:cNvSpPr/>
          <p:nvPr/>
        </p:nvSpPr>
        <p:spPr>
          <a:xfrm>
            <a:off x="-2064639" y="3463685"/>
            <a:ext cx="3761184" cy="2093881"/>
          </a:xfrm>
          <a:prstGeom prst="roundRect">
            <a:avLst>
              <a:gd name="adj" fmla="val 363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-2054733" y="3740116"/>
            <a:ext cx="3741373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78" name="Text 75"/>
          <p:cNvSpPr/>
          <p:nvPr/>
        </p:nvSpPr>
        <p:spPr>
          <a:xfrm>
            <a:off x="-1965579" y="3547886"/>
            <a:ext cx="1229011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🆕 Bakery approval queue</a:t>
            </a:r>
            <a:endParaRPr lang="en-US" sz="975" dirty="0"/>
          </a:p>
        </p:txBody>
      </p:sp>
      <p:sp>
        <p:nvSpPr>
          <p:cNvPr id="79" name="Text 76"/>
          <p:cNvSpPr/>
          <p:nvPr/>
        </p:nvSpPr>
        <p:spPr>
          <a:xfrm>
            <a:off x="1225778" y="3561816"/>
            <a:ext cx="447907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 all 5 →</a:t>
            </a:r>
            <a:endParaRPr lang="en-US" sz="750" dirty="0"/>
          </a:p>
        </p:txBody>
      </p:sp>
      <p:sp>
        <p:nvSpPr>
          <p:cNvPr id="80" name="Shape 77"/>
          <p:cNvSpPr/>
          <p:nvPr/>
        </p:nvSpPr>
        <p:spPr>
          <a:xfrm>
            <a:off x="-2054733" y="4197189"/>
            <a:ext cx="3741373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81" name="Shape 78"/>
          <p:cNvSpPr/>
          <p:nvPr/>
        </p:nvSpPr>
        <p:spPr>
          <a:xfrm>
            <a:off x="-1965579" y="3846923"/>
            <a:ext cx="257556" cy="257556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-1990979" y="3859623"/>
            <a:ext cx="308356" cy="27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60" dirty="0"/>
          </a:p>
        </p:txBody>
      </p:sp>
      <p:sp>
        <p:nvSpPr>
          <p:cNvPr id="83" name="Text 80"/>
          <p:cNvSpPr/>
          <p:nvPr/>
        </p:nvSpPr>
        <p:spPr>
          <a:xfrm>
            <a:off x="-1633728" y="3827111"/>
            <a:ext cx="923705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Nakulabye Hot Bread</a:t>
            </a:r>
            <a:endParaRPr lang="en-US" sz="900" dirty="0"/>
          </a:p>
        </p:txBody>
      </p:sp>
      <p:sp>
        <p:nvSpPr>
          <p:cNvPr id="84" name="Text 81"/>
          <p:cNvSpPr/>
          <p:nvPr/>
        </p:nvSpPr>
        <p:spPr>
          <a:xfrm>
            <a:off x="-1633728" y="3938554"/>
            <a:ext cx="1802785" cy="2238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Ssemakula J.· 📍Nakulabye, Kampala· submitted 2 days ago</a:t>
            </a:r>
            <a:endParaRPr lang="en-US" sz="750" dirty="0"/>
          </a:p>
        </p:txBody>
      </p:sp>
      <p:sp>
        <p:nvSpPr>
          <p:cNvPr id="85" name="Shape 82"/>
          <p:cNvSpPr/>
          <p:nvPr/>
        </p:nvSpPr>
        <p:spPr>
          <a:xfrm>
            <a:off x="167152" y="3884071"/>
            <a:ext cx="360099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251353" y="3923695"/>
            <a:ext cx="267897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00" dirty="0"/>
          </a:p>
        </p:txBody>
      </p:sp>
      <p:sp>
        <p:nvSpPr>
          <p:cNvPr id="87" name="Shape 84"/>
          <p:cNvSpPr/>
          <p:nvPr/>
        </p:nvSpPr>
        <p:spPr>
          <a:xfrm>
            <a:off x="601546" y="3884071"/>
            <a:ext cx="42116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685747" y="3923695"/>
            <a:ext cx="328958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900" dirty="0"/>
          </a:p>
        </p:txBody>
      </p:sp>
      <p:sp>
        <p:nvSpPr>
          <p:cNvPr id="89" name="Shape 86"/>
          <p:cNvSpPr/>
          <p:nvPr/>
        </p:nvSpPr>
        <p:spPr>
          <a:xfrm>
            <a:off x="1097000" y="3884071"/>
            <a:ext cx="500485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1181201" y="3923695"/>
            <a:ext cx="408283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00" dirty="0"/>
          </a:p>
        </p:txBody>
      </p:sp>
      <p:sp>
        <p:nvSpPr>
          <p:cNvPr id="91" name="Shape 88"/>
          <p:cNvSpPr/>
          <p:nvPr/>
        </p:nvSpPr>
        <p:spPr>
          <a:xfrm>
            <a:off x="-2054733" y="4612003"/>
            <a:ext cx="3741373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92" name="Shape 89"/>
          <p:cNvSpPr/>
          <p:nvPr/>
        </p:nvSpPr>
        <p:spPr>
          <a:xfrm>
            <a:off x="-1965579" y="4279692"/>
            <a:ext cx="257556" cy="257556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93" name="Text 90"/>
          <p:cNvSpPr/>
          <p:nvPr/>
        </p:nvSpPr>
        <p:spPr>
          <a:xfrm>
            <a:off x="-1990979" y="4292392"/>
            <a:ext cx="308356" cy="27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60" dirty="0"/>
          </a:p>
        </p:txBody>
      </p:sp>
      <p:sp>
        <p:nvSpPr>
          <p:cNvPr id="94" name="Text 91"/>
          <p:cNvSpPr/>
          <p:nvPr/>
        </p:nvSpPr>
        <p:spPr>
          <a:xfrm>
            <a:off x="-1633728" y="4306314"/>
            <a:ext cx="92362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Mbarara Cake House</a:t>
            </a:r>
            <a:endParaRPr lang="en-US" sz="900" dirty="0"/>
          </a:p>
        </p:txBody>
      </p:sp>
      <p:sp>
        <p:nvSpPr>
          <p:cNvPr id="95" name="Shape 92"/>
          <p:cNvSpPr/>
          <p:nvPr/>
        </p:nvSpPr>
        <p:spPr>
          <a:xfrm>
            <a:off x="-741723" y="4277834"/>
            <a:ext cx="773055" cy="168402"/>
          </a:xfrm>
          <a:prstGeom prst="roundRect">
            <a:avLst>
              <a:gd name="adj" fmla="val 50000"/>
            </a:avLst>
          </a:prstGeom>
          <a:solidFill>
            <a:srgbClr val="D97757">
              <a:alpha val="15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-662475" y="4297646"/>
            <a:ext cx="690759" cy="166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 KYC review</a:t>
            </a:r>
            <a:endParaRPr lang="en-US" sz="975" dirty="0"/>
          </a:p>
        </p:txBody>
      </p:sp>
      <p:sp>
        <p:nvSpPr>
          <p:cNvPr id="97" name="Text 94"/>
          <p:cNvSpPr/>
          <p:nvPr/>
        </p:nvSpPr>
        <p:spPr>
          <a:xfrm>
            <a:off x="-1633728" y="4446236"/>
            <a:ext cx="1802785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Atuhaire P.· 📍Mbarara· submitted1 day ago</a:t>
            </a:r>
            <a:endParaRPr lang="en-US" sz="750" dirty="0"/>
          </a:p>
        </p:txBody>
      </p:sp>
      <p:sp>
        <p:nvSpPr>
          <p:cNvPr id="98" name="Shape 95"/>
          <p:cNvSpPr/>
          <p:nvPr/>
        </p:nvSpPr>
        <p:spPr>
          <a:xfrm>
            <a:off x="167152" y="4316839"/>
            <a:ext cx="360099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251353" y="4356463"/>
            <a:ext cx="267897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00" dirty="0"/>
          </a:p>
        </p:txBody>
      </p:sp>
      <p:sp>
        <p:nvSpPr>
          <p:cNvPr id="100" name="Shape 97"/>
          <p:cNvSpPr/>
          <p:nvPr/>
        </p:nvSpPr>
        <p:spPr>
          <a:xfrm>
            <a:off x="601546" y="4316839"/>
            <a:ext cx="42116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01" name="Text 98"/>
          <p:cNvSpPr/>
          <p:nvPr/>
        </p:nvSpPr>
        <p:spPr>
          <a:xfrm>
            <a:off x="685747" y="4356463"/>
            <a:ext cx="328958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1097000" y="4316839"/>
            <a:ext cx="500485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03" name="Text 100"/>
          <p:cNvSpPr/>
          <p:nvPr/>
        </p:nvSpPr>
        <p:spPr>
          <a:xfrm>
            <a:off x="1181201" y="4356463"/>
            <a:ext cx="408283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00" dirty="0"/>
          </a:p>
        </p:txBody>
      </p:sp>
      <p:sp>
        <p:nvSpPr>
          <p:cNvPr id="104" name="Shape 101"/>
          <p:cNvSpPr/>
          <p:nvPr/>
        </p:nvSpPr>
        <p:spPr>
          <a:xfrm>
            <a:off x="-1965579" y="4692648"/>
            <a:ext cx="257556" cy="257556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05" name="Text 102"/>
          <p:cNvSpPr/>
          <p:nvPr/>
        </p:nvSpPr>
        <p:spPr>
          <a:xfrm>
            <a:off x="-1990979" y="4705348"/>
            <a:ext cx="308356" cy="27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60" dirty="0"/>
          </a:p>
        </p:txBody>
      </p:sp>
      <p:sp>
        <p:nvSpPr>
          <p:cNvPr id="106" name="Text 103"/>
          <p:cNvSpPr/>
          <p:nvPr/>
        </p:nvSpPr>
        <p:spPr>
          <a:xfrm>
            <a:off x="-1633728" y="4719270"/>
            <a:ext cx="1037701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Entebbe Coastal Bakery</a:t>
            </a:r>
            <a:endParaRPr lang="en-US" sz="900" dirty="0"/>
          </a:p>
        </p:txBody>
      </p:sp>
      <p:sp>
        <p:nvSpPr>
          <p:cNvPr id="107" name="Text 104"/>
          <p:cNvSpPr/>
          <p:nvPr/>
        </p:nvSpPr>
        <p:spPr>
          <a:xfrm>
            <a:off x="-1633728" y="4830713"/>
            <a:ext cx="1802785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Mukasa F.· 📍Entebbe· submitted6h ago</a:t>
            </a:r>
            <a:endParaRPr lang="en-US" sz="750" dirty="0"/>
          </a:p>
        </p:txBody>
      </p:sp>
      <p:sp>
        <p:nvSpPr>
          <p:cNvPr id="108" name="Shape 105"/>
          <p:cNvSpPr/>
          <p:nvPr/>
        </p:nvSpPr>
        <p:spPr>
          <a:xfrm>
            <a:off x="167152" y="4729796"/>
            <a:ext cx="360099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251353" y="4769419"/>
            <a:ext cx="267897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00" dirty="0"/>
          </a:p>
        </p:txBody>
      </p:sp>
      <p:sp>
        <p:nvSpPr>
          <p:cNvPr id="110" name="Shape 107"/>
          <p:cNvSpPr/>
          <p:nvPr/>
        </p:nvSpPr>
        <p:spPr>
          <a:xfrm>
            <a:off x="601546" y="4729796"/>
            <a:ext cx="421160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1" name="Text 108"/>
          <p:cNvSpPr/>
          <p:nvPr/>
        </p:nvSpPr>
        <p:spPr>
          <a:xfrm>
            <a:off x="685747" y="4769419"/>
            <a:ext cx="328958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</a:t>
            </a:r>
            <a:endParaRPr lang="en-US" sz="900" dirty="0"/>
          </a:p>
        </p:txBody>
      </p:sp>
      <p:sp>
        <p:nvSpPr>
          <p:cNvPr id="112" name="Shape 109"/>
          <p:cNvSpPr/>
          <p:nvPr/>
        </p:nvSpPr>
        <p:spPr>
          <a:xfrm>
            <a:off x="1097000" y="4729796"/>
            <a:ext cx="500485" cy="183261"/>
          </a:xfrm>
          <a:prstGeom prst="roundRect">
            <a:avLst>
              <a:gd name="adj" fmla="val 31185"/>
            </a:avLst>
          </a:prstGeom>
          <a:solidFill>
            <a:srgbClr val="D97757"/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113" name="Text 110"/>
          <p:cNvSpPr/>
          <p:nvPr/>
        </p:nvSpPr>
        <p:spPr>
          <a:xfrm>
            <a:off x="1181201" y="4769419"/>
            <a:ext cx="408283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</a:t>
            </a:r>
            <a:endParaRPr lang="en-US" sz="900" dirty="0"/>
          </a:p>
        </p:txBody>
      </p:sp>
      <p:sp>
        <p:nvSpPr>
          <p:cNvPr id="114" name="Shape 111"/>
          <p:cNvSpPr/>
          <p:nvPr/>
        </p:nvSpPr>
        <p:spPr>
          <a:xfrm>
            <a:off x="1785700" y="3463685"/>
            <a:ext cx="2350818" cy="1039511"/>
          </a:xfrm>
          <a:prstGeom prst="roundRect">
            <a:avLst>
              <a:gd name="adj" fmla="val 733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15" name="Text 112"/>
          <p:cNvSpPr/>
          <p:nvPr/>
        </p:nvSpPr>
        <p:spPr>
          <a:xfrm>
            <a:off x="1884760" y="3562745"/>
            <a:ext cx="2228898" cy="1588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bakeries · 7d</a:t>
            </a:r>
            <a:endParaRPr lang="en-US" sz="975" dirty="0"/>
          </a:p>
        </p:txBody>
      </p:sp>
      <p:sp>
        <p:nvSpPr>
          <p:cNvPr id="116" name="Shape 113"/>
          <p:cNvSpPr/>
          <p:nvPr/>
        </p:nvSpPr>
        <p:spPr>
          <a:xfrm>
            <a:off x="1884760" y="3858528"/>
            <a:ext cx="2152698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17" name="Text 114"/>
          <p:cNvSpPr/>
          <p:nvPr/>
        </p:nvSpPr>
        <p:spPr>
          <a:xfrm>
            <a:off x="1884760" y="3720622"/>
            <a:ext cx="703064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1.Sweet Crumbs</a:t>
            </a:r>
            <a:endParaRPr lang="en-US" sz="825" dirty="0"/>
          </a:p>
        </p:txBody>
      </p:sp>
      <p:sp>
        <p:nvSpPr>
          <p:cNvPr id="118" name="Text 115"/>
          <p:cNvSpPr/>
          <p:nvPr/>
        </p:nvSpPr>
        <p:spPr>
          <a:xfrm>
            <a:off x="3655922" y="3720622"/>
            <a:ext cx="457736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2.8M</a:t>
            </a:r>
            <a:endParaRPr lang="en-US" sz="825" dirty="0"/>
          </a:p>
        </p:txBody>
      </p:sp>
      <p:sp>
        <p:nvSpPr>
          <p:cNvPr id="119" name="Shape 116"/>
          <p:cNvSpPr/>
          <p:nvPr/>
        </p:nvSpPr>
        <p:spPr>
          <a:xfrm>
            <a:off x="1884760" y="4039932"/>
            <a:ext cx="2152698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20" name="Text 117"/>
          <p:cNvSpPr/>
          <p:nvPr/>
        </p:nvSpPr>
        <p:spPr>
          <a:xfrm>
            <a:off x="1884760" y="3902025"/>
            <a:ext cx="72597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2.Kololo Hot Loaf</a:t>
            </a:r>
            <a:endParaRPr lang="en-US" sz="825" dirty="0"/>
          </a:p>
        </p:txBody>
      </p:sp>
      <p:sp>
        <p:nvSpPr>
          <p:cNvPr id="121" name="Text 118"/>
          <p:cNvSpPr/>
          <p:nvPr/>
        </p:nvSpPr>
        <p:spPr>
          <a:xfrm>
            <a:off x="3655922" y="3902025"/>
            <a:ext cx="457736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2.1M</a:t>
            </a:r>
            <a:endParaRPr lang="en-US" sz="825" dirty="0"/>
          </a:p>
        </p:txBody>
      </p:sp>
      <p:sp>
        <p:nvSpPr>
          <p:cNvPr id="122" name="Shape 119"/>
          <p:cNvSpPr/>
          <p:nvPr/>
        </p:nvSpPr>
        <p:spPr>
          <a:xfrm>
            <a:off x="1884760" y="4221335"/>
            <a:ext cx="2152698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123" name="Text 120"/>
          <p:cNvSpPr/>
          <p:nvPr/>
        </p:nvSpPr>
        <p:spPr>
          <a:xfrm>
            <a:off x="1884760" y="4083429"/>
            <a:ext cx="60059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3.Mama Joy's</a:t>
            </a:r>
            <a:endParaRPr lang="en-US" sz="825" dirty="0"/>
          </a:p>
        </p:txBody>
      </p:sp>
      <p:sp>
        <p:nvSpPr>
          <p:cNvPr id="124" name="Text 121"/>
          <p:cNvSpPr/>
          <p:nvPr/>
        </p:nvSpPr>
        <p:spPr>
          <a:xfrm>
            <a:off x="3655922" y="4083429"/>
            <a:ext cx="457736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1.7M</a:t>
            </a:r>
            <a:endParaRPr lang="en-US" sz="825" dirty="0"/>
          </a:p>
        </p:txBody>
      </p:sp>
      <p:sp>
        <p:nvSpPr>
          <p:cNvPr id="125" name="Text 122"/>
          <p:cNvSpPr/>
          <p:nvPr/>
        </p:nvSpPr>
        <p:spPr>
          <a:xfrm>
            <a:off x="1884760" y="4264833"/>
            <a:ext cx="916585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4.Nakawa Breadworks</a:t>
            </a:r>
            <a:endParaRPr lang="en-US" sz="825" dirty="0"/>
          </a:p>
        </p:txBody>
      </p:sp>
      <p:sp>
        <p:nvSpPr>
          <p:cNvPr id="126" name="Text 123"/>
          <p:cNvSpPr/>
          <p:nvPr/>
        </p:nvSpPr>
        <p:spPr>
          <a:xfrm>
            <a:off x="3655922" y="4264833"/>
            <a:ext cx="457736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UGX 1.2M</a:t>
            </a:r>
            <a:endParaRPr lang="en-US" sz="825" dirty="0"/>
          </a:p>
        </p:txBody>
      </p:sp>
      <p:sp>
        <p:nvSpPr>
          <p:cNvPr id="127" name="Shape 124"/>
          <p:cNvSpPr/>
          <p:nvPr/>
        </p:nvSpPr>
        <p:spPr>
          <a:xfrm>
            <a:off x="1785700" y="4592350"/>
            <a:ext cx="2350818" cy="965216"/>
          </a:xfrm>
          <a:prstGeom prst="roundRect">
            <a:avLst>
              <a:gd name="adj" fmla="val 789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28" name="Text 125"/>
          <p:cNvSpPr/>
          <p:nvPr/>
        </p:nvSpPr>
        <p:spPr>
          <a:xfrm>
            <a:off x="1884760" y="4691410"/>
            <a:ext cx="2228898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health</a:t>
            </a:r>
            <a:endParaRPr lang="en-US" sz="975" dirty="0"/>
          </a:p>
        </p:txBody>
      </p:sp>
      <p:sp>
        <p:nvSpPr>
          <p:cNvPr id="129" name="Text 126"/>
          <p:cNvSpPr/>
          <p:nvPr/>
        </p:nvSpPr>
        <p:spPr>
          <a:xfrm>
            <a:off x="1884760" y="4841857"/>
            <a:ext cx="852892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MTN MoMo webhook</a:t>
            </a:r>
            <a:endParaRPr lang="en-US" sz="825" dirty="0"/>
          </a:p>
        </p:txBody>
      </p:sp>
      <p:sp>
        <p:nvSpPr>
          <p:cNvPr id="130" name="Text 127"/>
          <p:cNvSpPr/>
          <p:nvPr/>
        </p:nvSpPr>
        <p:spPr>
          <a:xfrm>
            <a:off x="3501914" y="4841857"/>
            <a:ext cx="299239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200ms</a:t>
            </a:r>
            <a:endParaRPr lang="en-US" sz="750" dirty="0"/>
          </a:p>
        </p:txBody>
      </p:sp>
      <p:sp>
        <p:nvSpPr>
          <p:cNvPr id="131" name="Text 128"/>
          <p:cNvSpPr/>
          <p:nvPr/>
        </p:nvSpPr>
        <p:spPr>
          <a:xfrm>
            <a:off x="3784390" y="4841857"/>
            <a:ext cx="329267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OK</a:t>
            </a:r>
            <a:endParaRPr lang="en-US" sz="825" dirty="0"/>
          </a:p>
        </p:txBody>
      </p:sp>
      <p:sp>
        <p:nvSpPr>
          <p:cNvPr id="132" name="Text 129"/>
          <p:cNvSpPr/>
          <p:nvPr/>
        </p:nvSpPr>
        <p:spPr>
          <a:xfrm>
            <a:off x="1884760" y="5003449"/>
            <a:ext cx="530406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Money</a:t>
            </a:r>
            <a:endParaRPr lang="en-US" sz="825" dirty="0"/>
          </a:p>
        </p:txBody>
      </p:sp>
      <p:sp>
        <p:nvSpPr>
          <p:cNvPr id="133" name="Text 130"/>
          <p:cNvSpPr/>
          <p:nvPr/>
        </p:nvSpPr>
        <p:spPr>
          <a:xfrm>
            <a:off x="3539139" y="5003449"/>
            <a:ext cx="216664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1.4s</a:t>
            </a:r>
            <a:endParaRPr lang="en-US" sz="750" dirty="0"/>
          </a:p>
        </p:txBody>
      </p:sp>
      <p:sp>
        <p:nvSpPr>
          <p:cNvPr id="134" name="Text 131"/>
          <p:cNvSpPr/>
          <p:nvPr/>
        </p:nvSpPr>
        <p:spPr>
          <a:xfrm>
            <a:off x="3739039" y="5003449"/>
            <a:ext cx="374618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slow</a:t>
            </a:r>
            <a:endParaRPr lang="en-US" sz="825" dirty="0"/>
          </a:p>
        </p:txBody>
      </p:sp>
      <p:sp>
        <p:nvSpPr>
          <p:cNvPr id="135" name="Text 132"/>
          <p:cNvSpPr/>
          <p:nvPr/>
        </p:nvSpPr>
        <p:spPr>
          <a:xfrm>
            <a:off x="1884760" y="5165041"/>
            <a:ext cx="58960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gateway</a:t>
            </a:r>
            <a:endParaRPr lang="en-US" sz="825" dirty="0"/>
          </a:p>
        </p:txBody>
      </p:sp>
      <p:sp>
        <p:nvSpPr>
          <p:cNvPr id="136" name="Text 133"/>
          <p:cNvSpPr/>
          <p:nvPr/>
        </p:nvSpPr>
        <p:spPr>
          <a:xfrm>
            <a:off x="3501914" y="5165041"/>
            <a:ext cx="29923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300ms</a:t>
            </a:r>
            <a:endParaRPr lang="en-US" sz="750" dirty="0"/>
          </a:p>
        </p:txBody>
      </p:sp>
      <p:sp>
        <p:nvSpPr>
          <p:cNvPr id="137" name="Text 134"/>
          <p:cNvSpPr/>
          <p:nvPr/>
        </p:nvSpPr>
        <p:spPr>
          <a:xfrm>
            <a:off x="3784390" y="5165041"/>
            <a:ext cx="32926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OK</a:t>
            </a:r>
            <a:endParaRPr lang="en-US" sz="825" dirty="0"/>
          </a:p>
        </p:txBody>
      </p:sp>
      <p:sp>
        <p:nvSpPr>
          <p:cNvPr id="138" name="Text 135"/>
          <p:cNvSpPr/>
          <p:nvPr/>
        </p:nvSpPr>
        <p:spPr>
          <a:xfrm>
            <a:off x="1884760" y="5326632"/>
            <a:ext cx="18973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</a:t>
            </a:r>
            <a:endParaRPr lang="en-US" sz="825" dirty="0"/>
          </a:p>
        </p:txBody>
      </p:sp>
      <p:sp>
        <p:nvSpPr>
          <p:cNvPr id="139" name="Text 136"/>
          <p:cNvSpPr/>
          <p:nvPr/>
        </p:nvSpPr>
        <p:spPr>
          <a:xfrm>
            <a:off x="3543241" y="5326632"/>
            <a:ext cx="25791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12ms</a:t>
            </a:r>
            <a:endParaRPr lang="en-US" sz="750" dirty="0"/>
          </a:p>
        </p:txBody>
      </p:sp>
      <p:sp>
        <p:nvSpPr>
          <p:cNvPr id="140" name="Text 137"/>
          <p:cNvSpPr/>
          <p:nvPr/>
        </p:nvSpPr>
        <p:spPr>
          <a:xfrm>
            <a:off x="3784390" y="5326632"/>
            <a:ext cx="32926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OK</a:t>
            </a:r>
            <a:endParaRPr lang="en-US" sz="825" dirty="0"/>
          </a:p>
        </p:txBody>
      </p:sp>
      <p:sp>
        <p:nvSpPr>
          <p:cNvPr id="141" name="Text 138"/>
          <p:cNvSpPr/>
          <p:nvPr/>
        </p:nvSpPr>
        <p:spPr>
          <a:xfrm rot="180000">
            <a:off x="3254693" y="3055059"/>
            <a:ext cx="9334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urgent stat → accent tile</a:t>
            </a:r>
            <a:endParaRPr lang="en-US" sz="1200" dirty="0"/>
          </a:p>
        </p:txBody>
      </p:sp>
      <p:sp>
        <p:nvSpPr>
          <p:cNvPr id="142" name="Text 139"/>
          <p:cNvSpPr/>
          <p:nvPr/>
        </p:nvSpPr>
        <p:spPr>
          <a:xfrm rot="-180000">
            <a:off x="-628459" y="4302468"/>
            <a:ext cx="933450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inline approve / reject — no page jump</a:t>
            </a:r>
            <a:endParaRPr lang="en-US" sz="1200" dirty="0"/>
          </a:p>
        </p:txBody>
      </p:sp>
      <p:sp>
        <p:nvSpPr>
          <p:cNvPr id="143" name="Text 140"/>
          <p:cNvSpPr/>
          <p:nvPr/>
        </p:nvSpPr>
        <p:spPr>
          <a:xfrm>
            <a:off x="-567517" y="7024272"/>
            <a:ext cx="1876461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V1 · Overview + approvals</a:t>
            </a:r>
            <a:endParaRPr lang="en-US" sz="2100" dirty="0"/>
          </a:p>
        </p:txBody>
      </p:sp>
      <p:sp>
        <p:nvSpPr>
          <p:cNvPr id="144" name="Text 141"/>
          <p:cNvSpPr/>
          <p:nvPr/>
        </p:nvSpPr>
        <p:spPr>
          <a:xfrm>
            <a:off x="5072634" y="1841500"/>
            <a:ext cx="8387014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Ops &amp; audit — system health, payments, audit log</a:t>
            </a:r>
            <a:endParaRPr lang="en-US" sz="1200" dirty="0"/>
          </a:p>
        </p:txBody>
      </p:sp>
      <p:sp>
        <p:nvSpPr>
          <p:cNvPr id="145" name="Shape 142"/>
          <p:cNvSpPr/>
          <p:nvPr/>
        </p:nvSpPr>
        <p:spPr>
          <a:xfrm>
            <a:off x="5072634" y="2046508"/>
            <a:ext cx="8142732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5087494" y="2222022"/>
            <a:ext cx="8113013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47" name="Shape 144"/>
          <p:cNvSpPr/>
          <p:nvPr/>
        </p:nvSpPr>
        <p:spPr>
          <a:xfrm>
            <a:off x="514692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524598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5345049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150" name="Text 147"/>
          <p:cNvSpPr/>
          <p:nvPr/>
        </p:nvSpPr>
        <p:spPr>
          <a:xfrm>
            <a:off x="5518404" y="2092013"/>
            <a:ext cx="909929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151" name="Shape 148"/>
          <p:cNvSpPr/>
          <p:nvPr/>
        </p:nvSpPr>
        <p:spPr>
          <a:xfrm>
            <a:off x="5146929" y="2294158"/>
            <a:ext cx="1495806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2" name="Shape 149"/>
          <p:cNvSpPr/>
          <p:nvPr/>
        </p:nvSpPr>
        <p:spPr>
          <a:xfrm>
            <a:off x="6630035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153" name="Shape 150"/>
          <p:cNvSpPr/>
          <p:nvPr/>
        </p:nvSpPr>
        <p:spPr>
          <a:xfrm>
            <a:off x="5221224" y="2669189"/>
            <a:ext cx="1337311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154" name="Shape 151"/>
          <p:cNvSpPr/>
          <p:nvPr/>
        </p:nvSpPr>
        <p:spPr>
          <a:xfrm>
            <a:off x="5221224" y="2383312"/>
            <a:ext cx="227838" cy="22783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155" name="Text 152"/>
          <p:cNvSpPr/>
          <p:nvPr/>
        </p:nvSpPr>
        <p:spPr>
          <a:xfrm>
            <a:off x="5195824" y="2396012"/>
            <a:ext cx="278638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</a:t>
            </a:r>
            <a:endParaRPr lang="en-US" sz="840" dirty="0"/>
          </a:p>
        </p:txBody>
      </p:sp>
      <p:sp>
        <p:nvSpPr>
          <p:cNvPr id="156" name="Text 153"/>
          <p:cNvSpPr/>
          <p:nvPr/>
        </p:nvSpPr>
        <p:spPr>
          <a:xfrm>
            <a:off x="5508498" y="2399719"/>
            <a:ext cx="61143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Good UG</a:t>
            </a:r>
            <a:endParaRPr lang="en-US" sz="900" dirty="0"/>
          </a:p>
        </p:txBody>
      </p:sp>
      <p:sp>
        <p:nvSpPr>
          <p:cNvPr id="157" name="Text 154"/>
          <p:cNvSpPr/>
          <p:nvPr/>
        </p:nvSpPr>
        <p:spPr>
          <a:xfrm>
            <a:off x="5508498" y="2511161"/>
            <a:ext cx="611434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675" dirty="0"/>
          </a:p>
        </p:txBody>
      </p:sp>
      <p:sp>
        <p:nvSpPr>
          <p:cNvPr id="158" name="Text 155"/>
          <p:cNvSpPr/>
          <p:nvPr/>
        </p:nvSpPr>
        <p:spPr>
          <a:xfrm>
            <a:off x="5300472" y="2824129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900" dirty="0"/>
          </a:p>
        </p:txBody>
      </p:sp>
      <p:sp>
        <p:nvSpPr>
          <p:cNvPr id="159" name="Text 156"/>
          <p:cNvSpPr/>
          <p:nvPr/>
        </p:nvSpPr>
        <p:spPr>
          <a:xfrm>
            <a:off x="5482340" y="2824129"/>
            <a:ext cx="44775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160" name="Text 157"/>
          <p:cNvSpPr/>
          <p:nvPr/>
        </p:nvSpPr>
        <p:spPr>
          <a:xfrm>
            <a:off x="5300472" y="3054443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00" dirty="0"/>
          </a:p>
        </p:txBody>
      </p:sp>
      <p:sp>
        <p:nvSpPr>
          <p:cNvPr id="161" name="Text 158"/>
          <p:cNvSpPr/>
          <p:nvPr/>
        </p:nvSpPr>
        <p:spPr>
          <a:xfrm>
            <a:off x="5482340" y="3054443"/>
            <a:ext cx="423065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Bakeries</a:t>
            </a:r>
            <a:endParaRPr lang="en-US" sz="900" dirty="0"/>
          </a:p>
        </p:txBody>
      </p:sp>
      <p:sp>
        <p:nvSpPr>
          <p:cNvPr id="162" name="Text 159"/>
          <p:cNvSpPr/>
          <p:nvPr/>
        </p:nvSpPr>
        <p:spPr>
          <a:xfrm>
            <a:off x="5300472" y="3284758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163" name="Text 160"/>
          <p:cNvSpPr/>
          <p:nvPr/>
        </p:nvSpPr>
        <p:spPr>
          <a:xfrm>
            <a:off x="5482340" y="3284758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900" dirty="0"/>
          </a:p>
        </p:txBody>
      </p:sp>
      <p:sp>
        <p:nvSpPr>
          <p:cNvPr id="164" name="Shape 161"/>
          <p:cNvSpPr/>
          <p:nvPr/>
        </p:nvSpPr>
        <p:spPr>
          <a:xfrm>
            <a:off x="6358712" y="3293425"/>
            <a:ext cx="140386" cy="941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165" name="Text 162"/>
          <p:cNvSpPr/>
          <p:nvPr/>
        </p:nvSpPr>
        <p:spPr>
          <a:xfrm>
            <a:off x="6408241" y="3298379"/>
            <a:ext cx="117527" cy="12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166" name="Text 163"/>
          <p:cNvSpPr/>
          <p:nvPr/>
        </p:nvSpPr>
        <p:spPr>
          <a:xfrm>
            <a:off x="5300472" y="3515072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167" name="Text 164"/>
          <p:cNvSpPr/>
          <p:nvPr/>
        </p:nvSpPr>
        <p:spPr>
          <a:xfrm>
            <a:off x="5482340" y="3515072"/>
            <a:ext cx="507266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168" name="Text 165"/>
          <p:cNvSpPr/>
          <p:nvPr/>
        </p:nvSpPr>
        <p:spPr>
          <a:xfrm>
            <a:off x="5300472" y="3745387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900" dirty="0"/>
          </a:p>
        </p:txBody>
      </p:sp>
      <p:sp>
        <p:nvSpPr>
          <p:cNvPr id="169" name="Text 166"/>
          <p:cNvSpPr/>
          <p:nvPr/>
        </p:nvSpPr>
        <p:spPr>
          <a:xfrm>
            <a:off x="5482340" y="3745387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00" dirty="0"/>
          </a:p>
        </p:txBody>
      </p:sp>
      <p:sp>
        <p:nvSpPr>
          <p:cNvPr id="170" name="Shape 167"/>
          <p:cNvSpPr/>
          <p:nvPr/>
        </p:nvSpPr>
        <p:spPr>
          <a:xfrm>
            <a:off x="5221224" y="3931125"/>
            <a:ext cx="1337311" cy="200596"/>
          </a:xfrm>
          <a:prstGeom prst="roundRect">
            <a:avLst>
              <a:gd name="adj" fmla="val 28490"/>
            </a:avLst>
          </a:prstGeom>
          <a:solidFill>
            <a:srgbClr val="D97757">
              <a:alpha val="25000"/>
            </a:srgbClr>
          </a:solidFill>
          <a:ln/>
        </p:spPr>
      </p:sp>
      <p:sp>
        <p:nvSpPr>
          <p:cNvPr id="171" name="Shape 168"/>
          <p:cNvSpPr/>
          <p:nvPr/>
        </p:nvSpPr>
        <p:spPr>
          <a:xfrm>
            <a:off x="5221224" y="3931125"/>
            <a:ext cx="25400" cy="20059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172" name="Text 169"/>
          <p:cNvSpPr/>
          <p:nvPr/>
        </p:nvSpPr>
        <p:spPr>
          <a:xfrm>
            <a:off x="5300472" y="3975701"/>
            <a:ext cx="1986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900" dirty="0"/>
          </a:p>
        </p:txBody>
      </p:sp>
      <p:sp>
        <p:nvSpPr>
          <p:cNvPr id="173" name="Text 170"/>
          <p:cNvSpPr/>
          <p:nvPr/>
        </p:nvSpPr>
        <p:spPr>
          <a:xfrm>
            <a:off x="5482340" y="3975701"/>
            <a:ext cx="423220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00" dirty="0"/>
          </a:p>
        </p:txBody>
      </p:sp>
      <p:sp>
        <p:nvSpPr>
          <p:cNvPr id="174" name="Text 171"/>
          <p:cNvSpPr/>
          <p:nvPr/>
        </p:nvSpPr>
        <p:spPr>
          <a:xfrm>
            <a:off x="5300472" y="4206016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</a:t>
            </a:r>
            <a:endParaRPr lang="en-US" sz="900" dirty="0"/>
          </a:p>
        </p:txBody>
      </p:sp>
      <p:sp>
        <p:nvSpPr>
          <p:cNvPr id="175" name="Text 172"/>
          <p:cNvSpPr/>
          <p:nvPr/>
        </p:nvSpPr>
        <p:spPr>
          <a:xfrm>
            <a:off x="5449062" y="4206016"/>
            <a:ext cx="38847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176" name="Text 173"/>
          <p:cNvSpPr/>
          <p:nvPr/>
        </p:nvSpPr>
        <p:spPr>
          <a:xfrm>
            <a:off x="5300472" y="4436330"/>
            <a:ext cx="19863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</a:t>
            </a:r>
            <a:endParaRPr lang="en-US" sz="900" dirty="0"/>
          </a:p>
        </p:txBody>
      </p:sp>
      <p:sp>
        <p:nvSpPr>
          <p:cNvPr id="177" name="Text 174"/>
          <p:cNvSpPr/>
          <p:nvPr/>
        </p:nvSpPr>
        <p:spPr>
          <a:xfrm>
            <a:off x="5482340" y="4436330"/>
            <a:ext cx="423065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900" dirty="0"/>
          </a:p>
        </p:txBody>
      </p:sp>
      <p:sp>
        <p:nvSpPr>
          <p:cNvPr id="178" name="Text 175"/>
          <p:cNvSpPr/>
          <p:nvPr/>
        </p:nvSpPr>
        <p:spPr>
          <a:xfrm>
            <a:off x="5300472" y="4666645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179" name="Text 176"/>
          <p:cNvSpPr/>
          <p:nvPr/>
        </p:nvSpPr>
        <p:spPr>
          <a:xfrm>
            <a:off x="5435054" y="4666645"/>
            <a:ext cx="39837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180" name="Shape 177"/>
          <p:cNvSpPr/>
          <p:nvPr/>
        </p:nvSpPr>
        <p:spPr>
          <a:xfrm>
            <a:off x="6642735" y="2294158"/>
            <a:ext cx="6409182" cy="4487418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181" name="Text 178"/>
          <p:cNvSpPr/>
          <p:nvPr/>
        </p:nvSpPr>
        <p:spPr>
          <a:xfrm>
            <a:off x="6746748" y="2398171"/>
            <a:ext cx="77496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Ops &amp; audit</a:t>
            </a:r>
            <a:endParaRPr lang="en-US" sz="1350" dirty="0"/>
          </a:p>
        </p:txBody>
      </p:sp>
      <p:pic>
        <p:nvPicPr>
          <p:cNvPr id="18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6748" y="2550476"/>
            <a:ext cx="698760" cy="44577"/>
          </a:xfrm>
          <a:prstGeom prst="rect">
            <a:avLst/>
          </a:prstGeom>
        </p:spPr>
      </p:pic>
      <p:sp>
        <p:nvSpPr>
          <p:cNvPr id="183" name="Text 179"/>
          <p:cNvSpPr/>
          <p:nvPr/>
        </p:nvSpPr>
        <p:spPr>
          <a:xfrm>
            <a:off x="6746748" y="2565335"/>
            <a:ext cx="1329773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view of platform integrity</a:t>
            </a:r>
            <a:endParaRPr lang="en-US" sz="825" dirty="0"/>
          </a:p>
        </p:txBody>
      </p:sp>
      <p:sp>
        <p:nvSpPr>
          <p:cNvPr id="184" name="Shape 180"/>
          <p:cNvSpPr/>
          <p:nvPr/>
        </p:nvSpPr>
        <p:spPr>
          <a:xfrm>
            <a:off x="10271427" y="2398171"/>
            <a:ext cx="1931670" cy="222885"/>
          </a:xfrm>
          <a:prstGeom prst="roundRect">
            <a:avLst>
              <a:gd name="adj" fmla="val 25641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85" name="Text 181"/>
          <p:cNvSpPr/>
          <p:nvPr/>
        </p:nvSpPr>
        <p:spPr>
          <a:xfrm>
            <a:off x="10355628" y="2444605"/>
            <a:ext cx="219063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186" name="Text 182"/>
          <p:cNvSpPr/>
          <p:nvPr/>
        </p:nvSpPr>
        <p:spPr>
          <a:xfrm>
            <a:off x="10543068" y="2449249"/>
            <a:ext cx="1373499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by user, bakery, action…</a:t>
            </a:r>
            <a:endParaRPr lang="en-US" sz="975" dirty="0"/>
          </a:p>
        </p:txBody>
      </p:sp>
      <p:sp>
        <p:nvSpPr>
          <p:cNvPr id="187" name="Shape 183"/>
          <p:cNvSpPr/>
          <p:nvPr/>
        </p:nvSpPr>
        <p:spPr>
          <a:xfrm>
            <a:off x="12247673" y="2398171"/>
            <a:ext cx="700230" cy="269319"/>
          </a:xfrm>
          <a:prstGeom prst="roundRect">
            <a:avLst>
              <a:gd name="adj" fmla="val 2122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88" name="Text 184"/>
          <p:cNvSpPr/>
          <p:nvPr/>
        </p:nvSpPr>
        <p:spPr>
          <a:xfrm>
            <a:off x="12361593" y="2463489"/>
            <a:ext cx="548592" cy="1767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📥 Export</a:t>
            </a:r>
            <a:endParaRPr lang="en-US" sz="1050" dirty="0"/>
          </a:p>
        </p:txBody>
      </p:sp>
      <p:sp>
        <p:nvSpPr>
          <p:cNvPr id="189" name="Shape 185"/>
          <p:cNvSpPr/>
          <p:nvPr/>
        </p:nvSpPr>
        <p:spPr>
          <a:xfrm>
            <a:off x="6746748" y="2756644"/>
            <a:ext cx="1494568" cy="530590"/>
          </a:xfrm>
          <a:prstGeom prst="roundRect">
            <a:avLst>
              <a:gd name="adj" fmla="val 14361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90" name="Text 186"/>
          <p:cNvSpPr/>
          <p:nvPr/>
        </p:nvSpPr>
        <p:spPr>
          <a:xfrm>
            <a:off x="6830949" y="2840845"/>
            <a:ext cx="14023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UPTIME</a:t>
            </a:r>
            <a:endParaRPr lang="en-US" sz="750" dirty="0"/>
          </a:p>
        </p:txBody>
      </p:sp>
      <p:sp>
        <p:nvSpPr>
          <p:cNvPr id="191" name="Text 187"/>
          <p:cNvSpPr/>
          <p:nvPr/>
        </p:nvSpPr>
        <p:spPr>
          <a:xfrm>
            <a:off x="6830949" y="2933714"/>
            <a:ext cx="14023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99.97%</a:t>
            </a:r>
            <a:endParaRPr lang="en-US" sz="1500" dirty="0"/>
          </a:p>
        </p:txBody>
      </p:sp>
      <p:sp>
        <p:nvSpPr>
          <p:cNvPr id="192" name="Text 188"/>
          <p:cNvSpPr/>
          <p:nvPr/>
        </p:nvSpPr>
        <p:spPr>
          <a:xfrm>
            <a:off x="6830949" y="3119451"/>
            <a:ext cx="140236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30d</a:t>
            </a:r>
            <a:endParaRPr lang="en-US" sz="675" dirty="0"/>
          </a:p>
        </p:txBody>
      </p:sp>
      <p:sp>
        <p:nvSpPr>
          <p:cNvPr id="193" name="Shape 189"/>
          <p:cNvSpPr/>
          <p:nvPr/>
        </p:nvSpPr>
        <p:spPr>
          <a:xfrm>
            <a:off x="8315610" y="2756644"/>
            <a:ext cx="1494569" cy="530590"/>
          </a:xfrm>
          <a:prstGeom prst="roundRect">
            <a:avLst>
              <a:gd name="adj" fmla="val 14361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194" name="Text 190"/>
          <p:cNvSpPr/>
          <p:nvPr/>
        </p:nvSpPr>
        <p:spPr>
          <a:xfrm>
            <a:off x="8399812" y="2840845"/>
            <a:ext cx="14023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MOMO SUCCESS RATE</a:t>
            </a:r>
            <a:endParaRPr lang="en-US" sz="750" dirty="0"/>
          </a:p>
        </p:txBody>
      </p:sp>
      <p:sp>
        <p:nvSpPr>
          <p:cNvPr id="195" name="Text 191"/>
          <p:cNvSpPr/>
          <p:nvPr/>
        </p:nvSpPr>
        <p:spPr>
          <a:xfrm>
            <a:off x="8399812" y="2933714"/>
            <a:ext cx="14023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</a:t>
            </a:r>
            <a:endParaRPr lang="en-US" sz="1500" dirty="0"/>
          </a:p>
        </p:txBody>
      </p:sp>
      <p:sp>
        <p:nvSpPr>
          <p:cNvPr id="196" name="Text 192"/>
          <p:cNvSpPr/>
          <p:nvPr/>
        </p:nvSpPr>
        <p:spPr>
          <a:xfrm>
            <a:off x="8399812" y="3119451"/>
            <a:ext cx="140236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last 1k tx</a:t>
            </a:r>
            <a:endParaRPr lang="en-US" sz="675" dirty="0"/>
          </a:p>
        </p:txBody>
      </p:sp>
      <p:sp>
        <p:nvSpPr>
          <p:cNvPr id="197" name="Shape 193"/>
          <p:cNvSpPr/>
          <p:nvPr/>
        </p:nvSpPr>
        <p:spPr>
          <a:xfrm>
            <a:off x="9884473" y="2756644"/>
            <a:ext cx="1494568" cy="530590"/>
          </a:xfrm>
          <a:prstGeom prst="roundRect">
            <a:avLst>
              <a:gd name="adj" fmla="val 14361"/>
            </a:avLst>
          </a:prstGeom>
          <a:ln w="12700">
            <a:solidFill>
              <a:srgbClr val="D97757"/>
            </a:solidFill>
            <a:prstDash val="solid"/>
          </a:ln>
        </p:spPr>
      </p:sp>
      <p:sp>
        <p:nvSpPr>
          <p:cNvPr id="198" name="Text 194"/>
          <p:cNvSpPr/>
          <p:nvPr/>
        </p:nvSpPr>
        <p:spPr>
          <a:xfrm>
            <a:off x="9968675" y="2840845"/>
            <a:ext cx="14023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AIRTEL SUCCESS RATE</a:t>
            </a:r>
            <a:endParaRPr lang="en-US" sz="750" dirty="0"/>
          </a:p>
        </p:txBody>
      </p:sp>
      <p:sp>
        <p:nvSpPr>
          <p:cNvPr id="199" name="Text 195"/>
          <p:cNvSpPr/>
          <p:nvPr/>
        </p:nvSpPr>
        <p:spPr>
          <a:xfrm>
            <a:off x="9968675" y="2933714"/>
            <a:ext cx="14023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91.2%</a:t>
            </a:r>
            <a:endParaRPr lang="en-US" sz="1500" dirty="0"/>
          </a:p>
        </p:txBody>
      </p:sp>
      <p:sp>
        <p:nvSpPr>
          <p:cNvPr id="200" name="Text 196"/>
          <p:cNvSpPr/>
          <p:nvPr/>
        </p:nvSpPr>
        <p:spPr>
          <a:xfrm>
            <a:off x="9968675" y="3119451"/>
            <a:ext cx="140236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 investigate</a:t>
            </a:r>
            <a:endParaRPr lang="en-US" sz="675" dirty="0"/>
          </a:p>
        </p:txBody>
      </p:sp>
      <p:sp>
        <p:nvSpPr>
          <p:cNvPr id="201" name="Shape 197"/>
          <p:cNvSpPr/>
          <p:nvPr/>
        </p:nvSpPr>
        <p:spPr>
          <a:xfrm>
            <a:off x="11453336" y="2756644"/>
            <a:ext cx="1494568" cy="530590"/>
          </a:xfrm>
          <a:prstGeom prst="roundRect">
            <a:avLst>
              <a:gd name="adj" fmla="val 14361"/>
            </a:avLst>
          </a:prstGeom>
          <a:ln w="12700">
            <a:solidFill>
              <a:srgbClr val="D97757"/>
            </a:solidFill>
            <a:prstDash val="solid"/>
          </a:ln>
        </p:spPr>
      </p:sp>
      <p:sp>
        <p:nvSpPr>
          <p:cNvPr id="202" name="Text 198"/>
          <p:cNvSpPr/>
          <p:nvPr/>
        </p:nvSpPr>
        <p:spPr>
          <a:xfrm>
            <a:off x="11537538" y="2840845"/>
            <a:ext cx="140236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DISPUTES</a:t>
            </a:r>
            <a:endParaRPr lang="en-US" sz="750" dirty="0"/>
          </a:p>
        </p:txBody>
      </p:sp>
      <p:sp>
        <p:nvSpPr>
          <p:cNvPr id="203" name="Text 199"/>
          <p:cNvSpPr/>
          <p:nvPr/>
        </p:nvSpPr>
        <p:spPr>
          <a:xfrm>
            <a:off x="11537538" y="2933714"/>
            <a:ext cx="140236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4" name="Text 200"/>
          <p:cNvSpPr/>
          <p:nvPr/>
        </p:nvSpPr>
        <p:spPr>
          <a:xfrm>
            <a:off x="11537538" y="3119451"/>
            <a:ext cx="1402366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high priority</a:t>
            </a:r>
            <a:endParaRPr lang="en-US" sz="675" dirty="0"/>
          </a:p>
        </p:txBody>
      </p:sp>
      <p:sp>
        <p:nvSpPr>
          <p:cNvPr id="205" name="Shape 201"/>
          <p:cNvSpPr/>
          <p:nvPr/>
        </p:nvSpPr>
        <p:spPr>
          <a:xfrm>
            <a:off x="6746748" y="3376388"/>
            <a:ext cx="3056001" cy="1891427"/>
          </a:xfrm>
          <a:prstGeom prst="roundRect">
            <a:avLst>
              <a:gd name="adj" fmla="val 402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06" name="Shape 202"/>
          <p:cNvSpPr/>
          <p:nvPr/>
        </p:nvSpPr>
        <p:spPr>
          <a:xfrm>
            <a:off x="6756654" y="3655915"/>
            <a:ext cx="3036189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07" name="Text 203"/>
          <p:cNvSpPr/>
          <p:nvPr/>
        </p:nvSpPr>
        <p:spPr>
          <a:xfrm>
            <a:off x="6845809" y="3445730"/>
            <a:ext cx="778442" cy="191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 Audit log · live</a:t>
            </a:r>
            <a:endParaRPr lang="en-US" sz="900" dirty="0"/>
          </a:p>
        </p:txBody>
      </p:sp>
      <p:sp>
        <p:nvSpPr>
          <p:cNvPr id="208" name="Shape 204"/>
          <p:cNvSpPr/>
          <p:nvPr/>
        </p:nvSpPr>
        <p:spPr>
          <a:xfrm>
            <a:off x="9057323" y="3445730"/>
            <a:ext cx="646367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09" name="Text 205"/>
          <p:cNvSpPr/>
          <p:nvPr/>
        </p:nvSpPr>
        <p:spPr>
          <a:xfrm>
            <a:off x="9136570" y="3465543"/>
            <a:ext cx="564071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recording</a:t>
            </a:r>
            <a:endParaRPr lang="en-US" sz="975" dirty="0"/>
          </a:p>
        </p:txBody>
      </p:sp>
      <p:sp>
        <p:nvSpPr>
          <p:cNvPr id="210" name="Shape 206"/>
          <p:cNvSpPr/>
          <p:nvPr/>
        </p:nvSpPr>
        <p:spPr>
          <a:xfrm>
            <a:off x="6756654" y="3864100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11" name="Text 207"/>
          <p:cNvSpPr/>
          <p:nvPr/>
        </p:nvSpPr>
        <p:spPr>
          <a:xfrm>
            <a:off x="6845809" y="3735481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09:41:22</a:t>
            </a:r>
            <a:endParaRPr lang="en-US" sz="750" dirty="0"/>
          </a:p>
        </p:txBody>
      </p:sp>
      <p:sp>
        <p:nvSpPr>
          <p:cNvPr id="212" name="Text 208"/>
          <p:cNvSpPr/>
          <p:nvPr/>
        </p:nvSpPr>
        <p:spPr>
          <a:xfrm>
            <a:off x="7425310" y="3735481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diana@sweetcrumbs </a:t>
            </a:r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order #7831</a:t>
            </a:r>
            <a:endParaRPr lang="en-US" sz="750" dirty="0"/>
          </a:p>
        </p:txBody>
      </p:sp>
      <p:sp>
        <p:nvSpPr>
          <p:cNvPr id="213" name="Shape 209"/>
          <p:cNvSpPr/>
          <p:nvPr/>
        </p:nvSpPr>
        <p:spPr>
          <a:xfrm>
            <a:off x="6756654" y="4036216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14" name="Text 210"/>
          <p:cNvSpPr/>
          <p:nvPr/>
        </p:nvSpPr>
        <p:spPr>
          <a:xfrm>
            <a:off x="6845809" y="3907598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09:40:11</a:t>
            </a:r>
            <a:endParaRPr lang="en-US" sz="750" dirty="0"/>
          </a:p>
        </p:txBody>
      </p:sp>
      <p:sp>
        <p:nvSpPr>
          <p:cNvPr id="215" name="Text 211"/>
          <p:cNvSpPr/>
          <p:nvPr/>
        </p:nvSpPr>
        <p:spPr>
          <a:xfrm>
            <a:off x="7425310" y="3907598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MoMo webhook ✓ pay_8xK4… UGX 36k</a:t>
            </a:r>
            <a:endParaRPr lang="en-US" sz="750" dirty="0"/>
          </a:p>
        </p:txBody>
      </p:sp>
      <p:sp>
        <p:nvSpPr>
          <p:cNvPr id="216" name="Shape 212"/>
          <p:cNvSpPr/>
          <p:nvPr/>
        </p:nvSpPr>
        <p:spPr>
          <a:xfrm>
            <a:off x="6756654" y="4208334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17" name="Text 213"/>
          <p:cNvSpPr/>
          <p:nvPr/>
        </p:nvSpPr>
        <p:spPr>
          <a:xfrm>
            <a:off x="6845809" y="4079714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09:38:55</a:t>
            </a:r>
            <a:endParaRPr lang="en-US" sz="750" dirty="0"/>
          </a:p>
        </p:txBody>
      </p:sp>
      <p:sp>
        <p:nvSpPr>
          <p:cNvPr id="218" name="Text 214"/>
          <p:cNvSpPr/>
          <p:nvPr/>
        </p:nvSpPr>
        <p:spPr>
          <a:xfrm>
            <a:off x="7425310" y="4079714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admin@egu </a:t>
            </a:r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approved bakery 'Entebbe Coastal'</a:t>
            </a:r>
            <a:endParaRPr lang="en-US" sz="750" dirty="0"/>
          </a:p>
        </p:txBody>
      </p:sp>
      <p:sp>
        <p:nvSpPr>
          <p:cNvPr id="219" name="Shape 215"/>
          <p:cNvSpPr/>
          <p:nvPr/>
        </p:nvSpPr>
        <p:spPr>
          <a:xfrm>
            <a:off x="6756654" y="4380450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20" name="Text 216"/>
          <p:cNvSpPr/>
          <p:nvPr/>
        </p:nvSpPr>
        <p:spPr>
          <a:xfrm>
            <a:off x="6845809" y="4251831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09:35:02</a:t>
            </a:r>
            <a:endParaRPr lang="en-US" sz="750" dirty="0"/>
          </a:p>
        </p:txBody>
      </p:sp>
      <p:sp>
        <p:nvSpPr>
          <p:cNvPr id="221" name="Text 217"/>
          <p:cNvSpPr/>
          <p:nvPr/>
        </p:nvSpPr>
        <p:spPr>
          <a:xfrm>
            <a:off x="7425310" y="4251831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</a:t>
            </a:r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⚠ Airtel webhook retry 2/3 pay_3nL1…</a:t>
            </a:r>
            <a:endParaRPr lang="en-US" sz="750" dirty="0"/>
          </a:p>
        </p:txBody>
      </p:sp>
      <p:sp>
        <p:nvSpPr>
          <p:cNvPr id="222" name="Shape 218"/>
          <p:cNvSpPr/>
          <p:nvPr/>
        </p:nvSpPr>
        <p:spPr>
          <a:xfrm>
            <a:off x="6756654" y="4552567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23" name="Text 219"/>
          <p:cNvSpPr/>
          <p:nvPr/>
        </p:nvSpPr>
        <p:spPr>
          <a:xfrm>
            <a:off x="6845809" y="4423948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09:32:48</a:t>
            </a:r>
            <a:endParaRPr lang="en-US" sz="750" dirty="0"/>
          </a:p>
        </p:txBody>
      </p:sp>
      <p:sp>
        <p:nvSpPr>
          <p:cNvPr id="224" name="Text 220"/>
          <p:cNvSpPr/>
          <p:nvPr/>
        </p:nvSpPr>
        <p:spPr>
          <a:xfrm>
            <a:off x="7425310" y="4423948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james@kolololoaf </a:t>
            </a:r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edited menu item 'Rye Loaf'</a:t>
            </a:r>
            <a:endParaRPr lang="en-US" sz="750" dirty="0"/>
          </a:p>
        </p:txBody>
      </p:sp>
      <p:sp>
        <p:nvSpPr>
          <p:cNvPr id="225" name="Shape 221"/>
          <p:cNvSpPr/>
          <p:nvPr/>
        </p:nvSpPr>
        <p:spPr>
          <a:xfrm>
            <a:off x="6756654" y="4724684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26" name="Text 222"/>
          <p:cNvSpPr/>
          <p:nvPr/>
        </p:nvSpPr>
        <p:spPr>
          <a:xfrm>
            <a:off x="6845809" y="4596065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09:30:00</a:t>
            </a:r>
            <a:endParaRPr lang="en-US" sz="750" dirty="0"/>
          </a:p>
        </p:txBody>
      </p:sp>
      <p:sp>
        <p:nvSpPr>
          <p:cNvPr id="227" name="Text 223"/>
          <p:cNvSpPr/>
          <p:nvPr/>
        </p:nvSpPr>
        <p:spPr>
          <a:xfrm>
            <a:off x="7425310" y="4596065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payout batch #B-118 generated (UGX 12.4M)</a:t>
            </a:r>
            <a:endParaRPr lang="en-US" sz="750" dirty="0"/>
          </a:p>
        </p:txBody>
      </p:sp>
      <p:sp>
        <p:nvSpPr>
          <p:cNvPr id="228" name="Text 224"/>
          <p:cNvSpPr/>
          <p:nvPr/>
        </p:nvSpPr>
        <p:spPr>
          <a:xfrm>
            <a:off x="6845809" y="4768181"/>
            <a:ext cx="596264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09:28:14</a:t>
            </a:r>
            <a:endParaRPr lang="en-US" sz="750" dirty="0"/>
          </a:p>
        </p:txBody>
      </p:sp>
      <p:sp>
        <p:nvSpPr>
          <p:cNvPr id="229" name="Text 225"/>
          <p:cNvSpPr/>
          <p:nvPr/>
        </p:nvSpPr>
        <p:spPr>
          <a:xfrm>
            <a:off x="7425310" y="4768181"/>
            <a:ext cx="235458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sarah@mamajoy </a:t>
            </a:r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1C19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added staff member +256 7xx…</a:t>
            </a:r>
            <a:endParaRPr lang="en-US" sz="750" dirty="0"/>
          </a:p>
        </p:txBody>
      </p:sp>
      <p:sp>
        <p:nvSpPr>
          <p:cNvPr id="230" name="Shape 226"/>
          <p:cNvSpPr/>
          <p:nvPr/>
        </p:nvSpPr>
        <p:spPr>
          <a:xfrm>
            <a:off x="9891903" y="3376388"/>
            <a:ext cx="3056000" cy="1891427"/>
          </a:xfrm>
          <a:prstGeom prst="roundRect">
            <a:avLst>
              <a:gd name="adj" fmla="val 4029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31" name="Shape 227"/>
          <p:cNvSpPr/>
          <p:nvPr/>
        </p:nvSpPr>
        <p:spPr>
          <a:xfrm>
            <a:off x="9901810" y="3655915"/>
            <a:ext cx="3036189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32" name="Text 228"/>
          <p:cNvSpPr/>
          <p:nvPr/>
        </p:nvSpPr>
        <p:spPr>
          <a:xfrm>
            <a:off x="9990963" y="3445730"/>
            <a:ext cx="779835" cy="1916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 Support tickets</a:t>
            </a:r>
            <a:endParaRPr lang="en-US" sz="900" dirty="0"/>
          </a:p>
        </p:txBody>
      </p:sp>
      <p:sp>
        <p:nvSpPr>
          <p:cNvPr id="233" name="Shape 229"/>
          <p:cNvSpPr/>
          <p:nvPr/>
        </p:nvSpPr>
        <p:spPr>
          <a:xfrm>
            <a:off x="12077956" y="3445730"/>
            <a:ext cx="475333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34" name="Text 230"/>
          <p:cNvSpPr/>
          <p:nvPr/>
        </p:nvSpPr>
        <p:spPr>
          <a:xfrm>
            <a:off x="12157204" y="3465543"/>
            <a:ext cx="393037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8</a:t>
            </a:r>
            <a:endParaRPr lang="en-US" sz="975" dirty="0"/>
          </a:p>
        </p:txBody>
      </p:sp>
      <p:sp>
        <p:nvSpPr>
          <p:cNvPr id="235" name="Shape 231"/>
          <p:cNvSpPr/>
          <p:nvPr/>
        </p:nvSpPr>
        <p:spPr>
          <a:xfrm>
            <a:off x="12583008" y="3445730"/>
            <a:ext cx="26583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36" name="Text 232"/>
          <p:cNvSpPr/>
          <p:nvPr/>
        </p:nvSpPr>
        <p:spPr>
          <a:xfrm>
            <a:off x="12662255" y="3465543"/>
            <a:ext cx="183541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</a:t>
            </a:r>
            <a:endParaRPr lang="en-US" sz="975" dirty="0"/>
          </a:p>
        </p:txBody>
      </p:sp>
      <p:sp>
        <p:nvSpPr>
          <p:cNvPr id="237" name="Shape 233"/>
          <p:cNvSpPr/>
          <p:nvPr/>
        </p:nvSpPr>
        <p:spPr>
          <a:xfrm>
            <a:off x="9901810" y="3981114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38" name="Shape 234"/>
          <p:cNvSpPr/>
          <p:nvPr/>
        </p:nvSpPr>
        <p:spPr>
          <a:xfrm>
            <a:off x="9990963" y="3748792"/>
            <a:ext cx="396240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39" name="Text 235"/>
          <p:cNvSpPr/>
          <p:nvPr/>
        </p:nvSpPr>
        <p:spPr>
          <a:xfrm>
            <a:off x="10054463" y="3774192"/>
            <a:ext cx="2692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975" dirty="0"/>
          </a:p>
        </p:txBody>
      </p:sp>
      <p:sp>
        <p:nvSpPr>
          <p:cNvPr id="240" name="Text 236"/>
          <p:cNvSpPr/>
          <p:nvPr/>
        </p:nvSpPr>
        <p:spPr>
          <a:xfrm>
            <a:off x="10446639" y="3728051"/>
            <a:ext cx="198295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 pending 3hr · #7820</a:t>
            </a:r>
            <a:endParaRPr lang="en-US" sz="825" dirty="0"/>
          </a:p>
        </p:txBody>
      </p:sp>
      <p:sp>
        <p:nvSpPr>
          <p:cNvPr id="241" name="Text 237"/>
          <p:cNvSpPr/>
          <p:nvPr/>
        </p:nvSpPr>
        <p:spPr>
          <a:xfrm>
            <a:off x="10446639" y="3830207"/>
            <a:ext cx="19829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James K.·12mago</a:t>
            </a:r>
            <a:endParaRPr lang="en-US" sz="750" dirty="0"/>
          </a:p>
        </p:txBody>
      </p:sp>
      <p:sp>
        <p:nvSpPr>
          <p:cNvPr id="242" name="Shape 238"/>
          <p:cNvSpPr/>
          <p:nvPr/>
        </p:nvSpPr>
        <p:spPr>
          <a:xfrm>
            <a:off x="12412826" y="3733933"/>
            <a:ext cx="436018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43" name="Text 239"/>
          <p:cNvSpPr/>
          <p:nvPr/>
        </p:nvSpPr>
        <p:spPr>
          <a:xfrm>
            <a:off x="12497027" y="3773557"/>
            <a:ext cx="343816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900" dirty="0"/>
          </a:p>
        </p:txBody>
      </p:sp>
      <p:sp>
        <p:nvSpPr>
          <p:cNvPr id="244" name="Shape 240"/>
          <p:cNvSpPr/>
          <p:nvPr/>
        </p:nvSpPr>
        <p:spPr>
          <a:xfrm>
            <a:off x="9901810" y="4299964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45" name="Shape 241"/>
          <p:cNvSpPr/>
          <p:nvPr/>
        </p:nvSpPr>
        <p:spPr>
          <a:xfrm>
            <a:off x="9990963" y="4067641"/>
            <a:ext cx="396240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46" name="Text 242"/>
          <p:cNvSpPr/>
          <p:nvPr/>
        </p:nvSpPr>
        <p:spPr>
          <a:xfrm>
            <a:off x="10054463" y="4093041"/>
            <a:ext cx="2692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75" dirty="0"/>
          </a:p>
        </p:txBody>
      </p:sp>
      <p:sp>
        <p:nvSpPr>
          <p:cNvPr id="247" name="Text 243"/>
          <p:cNvSpPr/>
          <p:nvPr/>
        </p:nvSpPr>
        <p:spPr>
          <a:xfrm>
            <a:off x="10446639" y="4046901"/>
            <a:ext cx="1982950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not delivered, MoMo charged</a:t>
            </a:r>
            <a:endParaRPr lang="en-US" sz="825" dirty="0"/>
          </a:p>
        </p:txBody>
      </p:sp>
      <p:sp>
        <p:nvSpPr>
          <p:cNvPr id="248" name="Text 244"/>
          <p:cNvSpPr/>
          <p:nvPr/>
        </p:nvSpPr>
        <p:spPr>
          <a:xfrm>
            <a:off x="10446639" y="4149056"/>
            <a:ext cx="19829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Amina N.·1hago</a:t>
            </a:r>
            <a:endParaRPr lang="en-US" sz="750" dirty="0"/>
          </a:p>
        </p:txBody>
      </p:sp>
      <p:sp>
        <p:nvSpPr>
          <p:cNvPr id="249" name="Shape 245"/>
          <p:cNvSpPr/>
          <p:nvPr/>
        </p:nvSpPr>
        <p:spPr>
          <a:xfrm>
            <a:off x="12412826" y="4052782"/>
            <a:ext cx="436018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50" name="Text 246"/>
          <p:cNvSpPr/>
          <p:nvPr/>
        </p:nvSpPr>
        <p:spPr>
          <a:xfrm>
            <a:off x="12497027" y="4092406"/>
            <a:ext cx="343816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900" dirty="0"/>
          </a:p>
        </p:txBody>
      </p:sp>
      <p:sp>
        <p:nvSpPr>
          <p:cNvPr id="251" name="Shape 247"/>
          <p:cNvSpPr/>
          <p:nvPr/>
        </p:nvSpPr>
        <p:spPr>
          <a:xfrm>
            <a:off x="9901810" y="4618813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52" name="Shape 248"/>
          <p:cNvSpPr/>
          <p:nvPr/>
        </p:nvSpPr>
        <p:spPr>
          <a:xfrm>
            <a:off x="9990963" y="4386490"/>
            <a:ext cx="396240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53" name="Text 249"/>
          <p:cNvSpPr/>
          <p:nvPr/>
        </p:nvSpPr>
        <p:spPr>
          <a:xfrm>
            <a:off x="10054463" y="4411890"/>
            <a:ext cx="2692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P2</a:t>
            </a:r>
            <a:endParaRPr lang="en-US" sz="975" dirty="0"/>
          </a:p>
        </p:txBody>
      </p:sp>
      <p:sp>
        <p:nvSpPr>
          <p:cNvPr id="254" name="Text 250"/>
          <p:cNvSpPr/>
          <p:nvPr/>
        </p:nvSpPr>
        <p:spPr>
          <a:xfrm>
            <a:off x="10446639" y="4365750"/>
            <a:ext cx="198295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 dashboard not loading</a:t>
            </a:r>
            <a:endParaRPr lang="en-US" sz="825" dirty="0"/>
          </a:p>
        </p:txBody>
      </p:sp>
      <p:sp>
        <p:nvSpPr>
          <p:cNvPr id="255" name="Text 251"/>
          <p:cNvSpPr/>
          <p:nvPr/>
        </p:nvSpPr>
        <p:spPr>
          <a:xfrm>
            <a:off x="10446639" y="4467906"/>
            <a:ext cx="19829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Crumbs·2hago</a:t>
            </a:r>
            <a:endParaRPr lang="en-US" sz="750" dirty="0"/>
          </a:p>
        </p:txBody>
      </p:sp>
      <p:sp>
        <p:nvSpPr>
          <p:cNvPr id="256" name="Shape 252"/>
          <p:cNvSpPr/>
          <p:nvPr/>
        </p:nvSpPr>
        <p:spPr>
          <a:xfrm>
            <a:off x="12412826" y="4371632"/>
            <a:ext cx="436018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57" name="Text 253"/>
          <p:cNvSpPr/>
          <p:nvPr/>
        </p:nvSpPr>
        <p:spPr>
          <a:xfrm>
            <a:off x="12497027" y="4411256"/>
            <a:ext cx="343816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900" dirty="0"/>
          </a:p>
        </p:txBody>
      </p:sp>
      <p:sp>
        <p:nvSpPr>
          <p:cNvPr id="258" name="Shape 254"/>
          <p:cNvSpPr/>
          <p:nvPr/>
        </p:nvSpPr>
        <p:spPr>
          <a:xfrm>
            <a:off x="9901810" y="4937663"/>
            <a:ext cx="303618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259" name="Shape 255"/>
          <p:cNvSpPr/>
          <p:nvPr/>
        </p:nvSpPr>
        <p:spPr>
          <a:xfrm>
            <a:off x="9990963" y="4705340"/>
            <a:ext cx="396240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60" name="Text 256"/>
          <p:cNvSpPr/>
          <p:nvPr/>
        </p:nvSpPr>
        <p:spPr>
          <a:xfrm>
            <a:off x="10054463" y="4730740"/>
            <a:ext cx="2692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75" dirty="0"/>
          </a:p>
        </p:txBody>
      </p:sp>
      <p:sp>
        <p:nvSpPr>
          <p:cNvPr id="261" name="Text 257"/>
          <p:cNvSpPr/>
          <p:nvPr/>
        </p:nvSpPr>
        <p:spPr>
          <a:xfrm>
            <a:off x="10446639" y="4684600"/>
            <a:ext cx="1982950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add Airtel payout?</a:t>
            </a:r>
            <a:endParaRPr lang="en-US" sz="825" dirty="0"/>
          </a:p>
        </p:txBody>
      </p:sp>
      <p:sp>
        <p:nvSpPr>
          <p:cNvPr id="262" name="Text 258"/>
          <p:cNvSpPr/>
          <p:nvPr/>
        </p:nvSpPr>
        <p:spPr>
          <a:xfrm>
            <a:off x="10446639" y="4786755"/>
            <a:ext cx="19829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Joy's·3hago</a:t>
            </a:r>
            <a:endParaRPr lang="en-US" sz="750" dirty="0"/>
          </a:p>
        </p:txBody>
      </p:sp>
      <p:sp>
        <p:nvSpPr>
          <p:cNvPr id="263" name="Shape 259"/>
          <p:cNvSpPr/>
          <p:nvPr/>
        </p:nvSpPr>
        <p:spPr>
          <a:xfrm>
            <a:off x="12412826" y="4690481"/>
            <a:ext cx="436018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64" name="Text 260"/>
          <p:cNvSpPr/>
          <p:nvPr/>
        </p:nvSpPr>
        <p:spPr>
          <a:xfrm>
            <a:off x="12497027" y="4730105"/>
            <a:ext cx="343816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900" dirty="0"/>
          </a:p>
        </p:txBody>
      </p:sp>
      <p:sp>
        <p:nvSpPr>
          <p:cNvPr id="265" name="Shape 261"/>
          <p:cNvSpPr/>
          <p:nvPr/>
        </p:nvSpPr>
        <p:spPr>
          <a:xfrm>
            <a:off x="9990963" y="5024190"/>
            <a:ext cx="396240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66" name="Text 262"/>
          <p:cNvSpPr/>
          <p:nvPr/>
        </p:nvSpPr>
        <p:spPr>
          <a:xfrm>
            <a:off x="10054463" y="5049590"/>
            <a:ext cx="269240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P3</a:t>
            </a:r>
            <a:endParaRPr lang="en-US" sz="975" dirty="0"/>
          </a:p>
        </p:txBody>
      </p:sp>
      <p:sp>
        <p:nvSpPr>
          <p:cNvPr id="267" name="Text 263"/>
          <p:cNvSpPr/>
          <p:nvPr/>
        </p:nvSpPr>
        <p:spPr>
          <a:xfrm>
            <a:off x="10446639" y="5003449"/>
            <a:ext cx="1982950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order received</a:t>
            </a:r>
            <a:endParaRPr lang="en-US" sz="825" dirty="0"/>
          </a:p>
        </p:txBody>
      </p:sp>
      <p:sp>
        <p:nvSpPr>
          <p:cNvPr id="268" name="Text 264"/>
          <p:cNvSpPr/>
          <p:nvPr/>
        </p:nvSpPr>
        <p:spPr>
          <a:xfrm>
            <a:off x="10446639" y="5105605"/>
            <a:ext cx="1982950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Daniel O.·5hago</a:t>
            </a:r>
            <a:endParaRPr lang="en-US" sz="750" dirty="0"/>
          </a:p>
        </p:txBody>
      </p:sp>
      <p:sp>
        <p:nvSpPr>
          <p:cNvPr id="269" name="Shape 265"/>
          <p:cNvSpPr/>
          <p:nvPr/>
        </p:nvSpPr>
        <p:spPr>
          <a:xfrm>
            <a:off x="12412826" y="5009330"/>
            <a:ext cx="436018" cy="183261"/>
          </a:xfrm>
          <a:prstGeom prst="roundRect">
            <a:avLst>
              <a:gd name="adj" fmla="val 31185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270" name="Text 266"/>
          <p:cNvSpPr/>
          <p:nvPr/>
        </p:nvSpPr>
        <p:spPr>
          <a:xfrm>
            <a:off x="12497027" y="5048955"/>
            <a:ext cx="343816" cy="142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</a:t>
            </a:r>
            <a:endParaRPr lang="en-US" sz="900" dirty="0"/>
          </a:p>
        </p:txBody>
      </p:sp>
      <p:sp>
        <p:nvSpPr>
          <p:cNvPr id="271" name="Text 267"/>
          <p:cNvSpPr/>
          <p:nvPr/>
        </p:nvSpPr>
        <p:spPr>
          <a:xfrm rot="180000">
            <a:off x="11981308" y="2832175"/>
            <a:ext cx="102870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 tile uses accent border — scannable</a:t>
            </a:r>
            <a:endParaRPr lang="en-US" sz="1200" dirty="0"/>
          </a:p>
        </p:txBody>
      </p:sp>
      <p:sp>
        <p:nvSpPr>
          <p:cNvPr id="272" name="Text 268"/>
          <p:cNvSpPr/>
          <p:nvPr/>
        </p:nvSpPr>
        <p:spPr>
          <a:xfrm>
            <a:off x="8439901" y="7024272"/>
            <a:ext cx="1484399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 · Ops &amp; audit log</a:t>
            </a:r>
            <a:endParaRPr lang="en-US" sz="2100" dirty="0"/>
          </a:p>
        </p:txBody>
      </p:sp>
      <p:sp>
        <p:nvSpPr>
          <p:cNvPr id="273" name="Text 269"/>
          <p:cNvSpPr/>
          <p:nvPr/>
        </p:nvSpPr>
        <p:spPr>
          <a:xfrm>
            <a:off x="13884021" y="1841500"/>
            <a:ext cx="8387013" cy="1688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Bakeries directory + regional map</a:t>
            </a:r>
            <a:endParaRPr lang="en-US" sz="1200" dirty="0"/>
          </a:p>
        </p:txBody>
      </p:sp>
      <p:sp>
        <p:nvSpPr>
          <p:cNvPr id="274" name="Shape 270"/>
          <p:cNvSpPr/>
          <p:nvPr/>
        </p:nvSpPr>
        <p:spPr>
          <a:xfrm>
            <a:off x="13884021" y="2046508"/>
            <a:ext cx="8142731" cy="4844034"/>
          </a:xfrm>
          <a:prstGeom prst="roundRect">
            <a:avLst>
              <a:gd name="adj" fmla="val 1573"/>
            </a:avLst>
          </a:prstGeom>
          <a:solidFill>
            <a:srgbClr val="FBFAF7"/>
          </a:solidFill>
          <a:ln w="19050">
            <a:solidFill>
              <a:srgbClr val="1C1917"/>
            </a:solidFill>
            <a:prstDash val="solid"/>
          </a:ln>
        </p:spPr>
      </p:sp>
      <p:sp>
        <p:nvSpPr>
          <p:cNvPr id="275" name="Shape 271"/>
          <p:cNvSpPr/>
          <p:nvPr/>
        </p:nvSpPr>
        <p:spPr>
          <a:xfrm>
            <a:off x="13898880" y="2222022"/>
            <a:ext cx="8113015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76" name="Shape 272"/>
          <p:cNvSpPr/>
          <p:nvPr/>
        </p:nvSpPr>
        <p:spPr>
          <a:xfrm>
            <a:off x="13958315" y="2108420"/>
            <a:ext cx="69343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7" name="Shape 273"/>
          <p:cNvSpPr/>
          <p:nvPr/>
        </p:nvSpPr>
        <p:spPr>
          <a:xfrm>
            <a:off x="14057377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8" name="Shape 274"/>
          <p:cNvSpPr/>
          <p:nvPr/>
        </p:nvSpPr>
        <p:spPr>
          <a:xfrm>
            <a:off x="14156436" y="2108420"/>
            <a:ext cx="69342" cy="69342"/>
          </a:xfrm>
          <a:prstGeom prst="ellipse">
            <a:avLst/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279" name="Text 275"/>
          <p:cNvSpPr/>
          <p:nvPr/>
        </p:nvSpPr>
        <p:spPr>
          <a:xfrm>
            <a:off x="14329790" y="2092013"/>
            <a:ext cx="90993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eatgooduganda.com</a:t>
            </a:r>
            <a:endParaRPr lang="en-US" sz="825" dirty="0"/>
          </a:p>
        </p:txBody>
      </p:sp>
      <p:sp>
        <p:nvSpPr>
          <p:cNvPr id="280" name="Shape 276"/>
          <p:cNvSpPr/>
          <p:nvPr/>
        </p:nvSpPr>
        <p:spPr>
          <a:xfrm>
            <a:off x="13958315" y="2294158"/>
            <a:ext cx="1495806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81" name="Shape 277"/>
          <p:cNvSpPr/>
          <p:nvPr/>
        </p:nvSpPr>
        <p:spPr>
          <a:xfrm>
            <a:off x="15441422" y="2294158"/>
            <a:ext cx="12700" cy="4487418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282" name="Shape 278"/>
          <p:cNvSpPr/>
          <p:nvPr/>
        </p:nvSpPr>
        <p:spPr>
          <a:xfrm>
            <a:off x="14032611" y="2669189"/>
            <a:ext cx="1337311" cy="9525"/>
          </a:xfrm>
          <a:prstGeom prst="rect">
            <a:avLst/>
          </a:prstGeom>
          <a:solidFill>
            <a:srgbClr val="FFFFFF">
              <a:alpha val="20000"/>
            </a:srgbClr>
          </a:solidFill>
          <a:ln/>
        </p:spPr>
      </p:sp>
      <p:sp>
        <p:nvSpPr>
          <p:cNvPr id="283" name="Shape 279"/>
          <p:cNvSpPr/>
          <p:nvPr/>
        </p:nvSpPr>
        <p:spPr>
          <a:xfrm>
            <a:off x="14032611" y="2383312"/>
            <a:ext cx="227839" cy="227838"/>
          </a:xfrm>
          <a:prstGeom prst="ellipse">
            <a:avLst/>
          </a:prstGeom>
          <a:solidFill>
            <a:srgbClr val="D97757"/>
          </a:solidFill>
          <a:ln w="12700">
            <a:solidFill>
              <a:srgbClr val="D97757"/>
            </a:solidFill>
            <a:prstDash val="solid"/>
          </a:ln>
        </p:spPr>
      </p:sp>
      <p:sp>
        <p:nvSpPr>
          <p:cNvPr id="284" name="Text 280"/>
          <p:cNvSpPr/>
          <p:nvPr/>
        </p:nvSpPr>
        <p:spPr>
          <a:xfrm>
            <a:off x="14007211" y="2396012"/>
            <a:ext cx="278639" cy="24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84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EG</a:t>
            </a:r>
            <a:endParaRPr lang="en-US" sz="840" dirty="0"/>
          </a:p>
        </p:txBody>
      </p:sp>
      <p:sp>
        <p:nvSpPr>
          <p:cNvPr id="285" name="Text 281"/>
          <p:cNvSpPr/>
          <p:nvPr/>
        </p:nvSpPr>
        <p:spPr>
          <a:xfrm>
            <a:off x="14319886" y="2399719"/>
            <a:ext cx="61143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 Good UG</a:t>
            </a:r>
            <a:endParaRPr lang="en-US" sz="900" dirty="0"/>
          </a:p>
        </p:txBody>
      </p:sp>
      <p:sp>
        <p:nvSpPr>
          <p:cNvPr id="286" name="Text 282"/>
          <p:cNvSpPr/>
          <p:nvPr/>
        </p:nvSpPr>
        <p:spPr>
          <a:xfrm>
            <a:off x="14319886" y="2511161"/>
            <a:ext cx="611432" cy="1216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675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Super admin</a:t>
            </a:r>
            <a:endParaRPr lang="en-US" sz="675" dirty="0"/>
          </a:p>
        </p:txBody>
      </p:sp>
      <p:sp>
        <p:nvSpPr>
          <p:cNvPr id="287" name="Text 283"/>
          <p:cNvSpPr/>
          <p:nvPr/>
        </p:nvSpPr>
        <p:spPr>
          <a:xfrm>
            <a:off x="14111858" y="2824129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</a:t>
            </a:r>
            <a:endParaRPr lang="en-US" sz="900" dirty="0"/>
          </a:p>
        </p:txBody>
      </p:sp>
      <p:sp>
        <p:nvSpPr>
          <p:cNvPr id="288" name="Text 284"/>
          <p:cNvSpPr/>
          <p:nvPr/>
        </p:nvSpPr>
        <p:spPr>
          <a:xfrm>
            <a:off x="14293726" y="2824129"/>
            <a:ext cx="44775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</a:t>
            </a:r>
            <a:endParaRPr lang="en-US" sz="900" dirty="0"/>
          </a:p>
        </p:txBody>
      </p:sp>
      <p:sp>
        <p:nvSpPr>
          <p:cNvPr id="289" name="Shape 285"/>
          <p:cNvSpPr/>
          <p:nvPr/>
        </p:nvSpPr>
        <p:spPr>
          <a:xfrm>
            <a:off x="14032611" y="3009866"/>
            <a:ext cx="1337311" cy="200596"/>
          </a:xfrm>
          <a:prstGeom prst="roundRect">
            <a:avLst>
              <a:gd name="adj" fmla="val 28490"/>
            </a:avLst>
          </a:prstGeom>
          <a:solidFill>
            <a:srgbClr val="D97757">
              <a:alpha val="25000"/>
            </a:srgbClr>
          </a:solidFill>
          <a:ln/>
        </p:spPr>
      </p:sp>
      <p:sp>
        <p:nvSpPr>
          <p:cNvPr id="290" name="Shape 286"/>
          <p:cNvSpPr/>
          <p:nvPr/>
        </p:nvSpPr>
        <p:spPr>
          <a:xfrm>
            <a:off x="14032611" y="3009866"/>
            <a:ext cx="25400" cy="200596"/>
          </a:xfrm>
          <a:prstGeom prst="rect">
            <a:avLst/>
          </a:prstGeom>
          <a:solidFill>
            <a:srgbClr val="D97757"/>
          </a:solidFill>
          <a:ln/>
        </p:spPr>
      </p:sp>
      <p:sp>
        <p:nvSpPr>
          <p:cNvPr id="291" name="Text 287"/>
          <p:cNvSpPr/>
          <p:nvPr/>
        </p:nvSpPr>
        <p:spPr>
          <a:xfrm>
            <a:off x="14111858" y="3054443"/>
            <a:ext cx="19863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900" dirty="0"/>
          </a:p>
        </p:txBody>
      </p:sp>
      <p:sp>
        <p:nvSpPr>
          <p:cNvPr id="292" name="Text 288"/>
          <p:cNvSpPr/>
          <p:nvPr/>
        </p:nvSpPr>
        <p:spPr>
          <a:xfrm>
            <a:off x="14293726" y="3054443"/>
            <a:ext cx="423066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Bakeries</a:t>
            </a:r>
            <a:endParaRPr lang="en-US" sz="900" dirty="0"/>
          </a:p>
        </p:txBody>
      </p:sp>
      <p:sp>
        <p:nvSpPr>
          <p:cNvPr id="293" name="Text 289"/>
          <p:cNvSpPr/>
          <p:nvPr/>
        </p:nvSpPr>
        <p:spPr>
          <a:xfrm>
            <a:off x="14111858" y="3284758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</a:t>
            </a:r>
            <a:endParaRPr lang="en-US" sz="900" dirty="0"/>
          </a:p>
        </p:txBody>
      </p:sp>
      <p:sp>
        <p:nvSpPr>
          <p:cNvPr id="294" name="Text 290"/>
          <p:cNvSpPr/>
          <p:nvPr/>
        </p:nvSpPr>
        <p:spPr>
          <a:xfrm>
            <a:off x="14293726" y="3284758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Approvals</a:t>
            </a:r>
            <a:endParaRPr lang="en-US" sz="900" dirty="0"/>
          </a:p>
        </p:txBody>
      </p:sp>
      <p:sp>
        <p:nvSpPr>
          <p:cNvPr id="295" name="Shape 291"/>
          <p:cNvSpPr/>
          <p:nvPr/>
        </p:nvSpPr>
        <p:spPr>
          <a:xfrm>
            <a:off x="15170097" y="3293425"/>
            <a:ext cx="140388" cy="94107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296" name="Text 292"/>
          <p:cNvSpPr/>
          <p:nvPr/>
        </p:nvSpPr>
        <p:spPr>
          <a:xfrm>
            <a:off x="15219629" y="3298379"/>
            <a:ext cx="117525" cy="122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750" dirty="0"/>
          </a:p>
        </p:txBody>
      </p:sp>
      <p:sp>
        <p:nvSpPr>
          <p:cNvPr id="297" name="Text 293"/>
          <p:cNvSpPr/>
          <p:nvPr/>
        </p:nvSpPr>
        <p:spPr>
          <a:xfrm>
            <a:off x="14111858" y="3515072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900" dirty="0"/>
          </a:p>
        </p:txBody>
      </p:sp>
      <p:sp>
        <p:nvSpPr>
          <p:cNvPr id="298" name="Text 294"/>
          <p:cNvSpPr/>
          <p:nvPr/>
        </p:nvSpPr>
        <p:spPr>
          <a:xfrm>
            <a:off x="14293726" y="3515072"/>
            <a:ext cx="507267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</a:t>
            </a:r>
            <a:endParaRPr lang="en-US" sz="900" dirty="0"/>
          </a:p>
        </p:txBody>
      </p:sp>
      <p:sp>
        <p:nvSpPr>
          <p:cNvPr id="299" name="Text 295"/>
          <p:cNvSpPr/>
          <p:nvPr/>
        </p:nvSpPr>
        <p:spPr>
          <a:xfrm>
            <a:off x="14111858" y="3745387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💳</a:t>
            </a:r>
            <a:endParaRPr lang="en-US" sz="900" dirty="0"/>
          </a:p>
        </p:txBody>
      </p:sp>
      <p:sp>
        <p:nvSpPr>
          <p:cNvPr id="300" name="Text 296"/>
          <p:cNvSpPr/>
          <p:nvPr/>
        </p:nvSpPr>
        <p:spPr>
          <a:xfrm>
            <a:off x="14293726" y="3745387"/>
            <a:ext cx="472672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900" dirty="0"/>
          </a:p>
        </p:txBody>
      </p:sp>
      <p:sp>
        <p:nvSpPr>
          <p:cNvPr id="301" name="Text 297"/>
          <p:cNvSpPr/>
          <p:nvPr/>
        </p:nvSpPr>
        <p:spPr>
          <a:xfrm>
            <a:off x="14111858" y="3975701"/>
            <a:ext cx="198633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📜</a:t>
            </a:r>
            <a:endParaRPr lang="en-US" sz="900" dirty="0"/>
          </a:p>
        </p:txBody>
      </p:sp>
      <p:sp>
        <p:nvSpPr>
          <p:cNvPr id="302" name="Text 298"/>
          <p:cNvSpPr/>
          <p:nvPr/>
        </p:nvSpPr>
        <p:spPr>
          <a:xfrm>
            <a:off x="14293726" y="3975701"/>
            <a:ext cx="42322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log</a:t>
            </a:r>
            <a:endParaRPr lang="en-US" sz="900" dirty="0"/>
          </a:p>
        </p:txBody>
      </p:sp>
      <p:sp>
        <p:nvSpPr>
          <p:cNvPr id="303" name="Text 299"/>
          <p:cNvSpPr/>
          <p:nvPr/>
        </p:nvSpPr>
        <p:spPr>
          <a:xfrm>
            <a:off x="14111858" y="4206016"/>
            <a:ext cx="165354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🎟</a:t>
            </a:r>
            <a:endParaRPr lang="en-US" sz="900" dirty="0"/>
          </a:p>
        </p:txBody>
      </p:sp>
      <p:sp>
        <p:nvSpPr>
          <p:cNvPr id="304" name="Text 300"/>
          <p:cNvSpPr/>
          <p:nvPr/>
        </p:nvSpPr>
        <p:spPr>
          <a:xfrm>
            <a:off x="14260449" y="4206016"/>
            <a:ext cx="388471" cy="14954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900" dirty="0"/>
          </a:p>
        </p:txBody>
      </p:sp>
      <p:sp>
        <p:nvSpPr>
          <p:cNvPr id="305" name="Text 301"/>
          <p:cNvSpPr/>
          <p:nvPr/>
        </p:nvSpPr>
        <p:spPr>
          <a:xfrm>
            <a:off x="14111858" y="4436330"/>
            <a:ext cx="198633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🚩</a:t>
            </a:r>
            <a:endParaRPr lang="en-US" sz="900" dirty="0"/>
          </a:p>
        </p:txBody>
      </p:sp>
      <p:sp>
        <p:nvSpPr>
          <p:cNvPr id="306" name="Text 302"/>
          <p:cNvSpPr/>
          <p:nvPr/>
        </p:nvSpPr>
        <p:spPr>
          <a:xfrm>
            <a:off x="14293726" y="4436330"/>
            <a:ext cx="423066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Disputes</a:t>
            </a:r>
            <a:endParaRPr lang="en-US" sz="900" dirty="0"/>
          </a:p>
        </p:txBody>
      </p:sp>
      <p:sp>
        <p:nvSpPr>
          <p:cNvPr id="307" name="Text 303"/>
          <p:cNvSpPr/>
          <p:nvPr/>
        </p:nvSpPr>
        <p:spPr>
          <a:xfrm>
            <a:off x="14111858" y="4666645"/>
            <a:ext cx="151347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</a:t>
            </a:r>
            <a:endParaRPr lang="en-US" sz="900" dirty="0"/>
          </a:p>
        </p:txBody>
      </p:sp>
      <p:sp>
        <p:nvSpPr>
          <p:cNvPr id="308" name="Text 304"/>
          <p:cNvSpPr/>
          <p:nvPr/>
        </p:nvSpPr>
        <p:spPr>
          <a:xfrm>
            <a:off x="14246442" y="4666645"/>
            <a:ext cx="398376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</a:t>
            </a:r>
            <a:endParaRPr lang="en-US" sz="900" dirty="0"/>
          </a:p>
        </p:txBody>
      </p:sp>
      <p:sp>
        <p:nvSpPr>
          <p:cNvPr id="309" name="Shape 305"/>
          <p:cNvSpPr/>
          <p:nvPr/>
        </p:nvSpPr>
        <p:spPr>
          <a:xfrm>
            <a:off x="15454122" y="2294158"/>
            <a:ext cx="6409183" cy="4487418"/>
          </a:xfrm>
          <a:prstGeom prst="rect">
            <a:avLst/>
          </a:prstGeom>
          <a:solidFill>
            <a:srgbClr val="FBFAF7"/>
          </a:solidFill>
          <a:ln/>
        </p:spPr>
      </p:sp>
      <p:sp>
        <p:nvSpPr>
          <p:cNvPr id="310" name="Text 306"/>
          <p:cNvSpPr/>
          <p:nvPr/>
        </p:nvSpPr>
        <p:spPr>
          <a:xfrm>
            <a:off x="15558136" y="2398171"/>
            <a:ext cx="1154020" cy="205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Bakeries · 52 total</a:t>
            </a:r>
            <a:endParaRPr lang="en-US" sz="1350" dirty="0"/>
          </a:p>
        </p:txBody>
      </p:sp>
      <p:pic>
        <p:nvPicPr>
          <p:cNvPr id="3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58136" y="2550476"/>
            <a:ext cx="1077820" cy="44577"/>
          </a:xfrm>
          <a:prstGeom prst="rect">
            <a:avLst/>
          </a:prstGeom>
        </p:spPr>
      </p:pic>
      <p:sp>
        <p:nvSpPr>
          <p:cNvPr id="312" name="Text 307"/>
          <p:cNvSpPr/>
          <p:nvPr/>
        </p:nvSpPr>
        <p:spPr>
          <a:xfrm>
            <a:off x="15558136" y="2565335"/>
            <a:ext cx="168894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live · 5 pending · spread across 6 regions</a:t>
            </a:r>
            <a:endParaRPr lang="en-US" sz="825" dirty="0"/>
          </a:p>
        </p:txBody>
      </p:sp>
      <p:sp>
        <p:nvSpPr>
          <p:cNvPr id="313" name="Shape 308"/>
          <p:cNvSpPr/>
          <p:nvPr/>
        </p:nvSpPr>
        <p:spPr>
          <a:xfrm>
            <a:off x="18764198" y="2398171"/>
            <a:ext cx="1783079" cy="222885"/>
          </a:xfrm>
          <a:prstGeom prst="roundRect">
            <a:avLst>
              <a:gd name="adj" fmla="val 25641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14" name="Text 309"/>
          <p:cNvSpPr/>
          <p:nvPr/>
        </p:nvSpPr>
        <p:spPr>
          <a:xfrm>
            <a:off x="18848397" y="2444605"/>
            <a:ext cx="219063" cy="16811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🔍</a:t>
            </a:r>
            <a:endParaRPr lang="en-US" sz="1050" dirty="0"/>
          </a:p>
        </p:txBody>
      </p:sp>
      <p:sp>
        <p:nvSpPr>
          <p:cNvPr id="315" name="Text 310"/>
          <p:cNvSpPr/>
          <p:nvPr/>
        </p:nvSpPr>
        <p:spPr>
          <a:xfrm>
            <a:off x="19035837" y="2449249"/>
            <a:ext cx="1422025" cy="1588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75" i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bakery, owner, phone…</a:t>
            </a:r>
            <a:endParaRPr lang="en-US" sz="975" dirty="0"/>
          </a:p>
        </p:txBody>
      </p:sp>
      <p:sp>
        <p:nvSpPr>
          <p:cNvPr id="316" name="Shape 311"/>
          <p:cNvSpPr/>
          <p:nvPr/>
        </p:nvSpPr>
        <p:spPr>
          <a:xfrm>
            <a:off x="20591855" y="2398171"/>
            <a:ext cx="1167439" cy="269319"/>
          </a:xfrm>
          <a:prstGeom prst="roundRect">
            <a:avLst>
              <a:gd name="adj" fmla="val 21220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17" name="Text 312"/>
          <p:cNvSpPr/>
          <p:nvPr/>
        </p:nvSpPr>
        <p:spPr>
          <a:xfrm>
            <a:off x="20705773" y="2473394"/>
            <a:ext cx="1015798" cy="1569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Onboard manually</a:t>
            </a:r>
            <a:endParaRPr lang="en-US" sz="1050" dirty="0"/>
          </a:p>
        </p:txBody>
      </p:sp>
      <p:sp>
        <p:nvSpPr>
          <p:cNvPr id="318" name="Shape 313"/>
          <p:cNvSpPr/>
          <p:nvPr/>
        </p:nvSpPr>
        <p:spPr>
          <a:xfrm>
            <a:off x="15558136" y="2756644"/>
            <a:ext cx="3333756" cy="3833622"/>
          </a:xfrm>
          <a:prstGeom prst="roundRect">
            <a:avLst>
              <a:gd name="adj" fmla="val 2286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19" name="Shape 314"/>
          <p:cNvSpPr/>
          <p:nvPr/>
        </p:nvSpPr>
        <p:spPr>
          <a:xfrm>
            <a:off x="15568040" y="3036171"/>
            <a:ext cx="3313945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20" name="Shape 315"/>
          <p:cNvSpPr/>
          <p:nvPr/>
        </p:nvSpPr>
        <p:spPr>
          <a:xfrm>
            <a:off x="15657193" y="2825986"/>
            <a:ext cx="400112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21" name="Text 316"/>
          <p:cNvSpPr/>
          <p:nvPr/>
        </p:nvSpPr>
        <p:spPr>
          <a:xfrm>
            <a:off x="15736444" y="2845798"/>
            <a:ext cx="317813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52</a:t>
            </a:r>
            <a:endParaRPr lang="en-US" sz="975" dirty="0"/>
          </a:p>
        </p:txBody>
      </p:sp>
      <p:sp>
        <p:nvSpPr>
          <p:cNvPr id="322" name="Shape 317"/>
          <p:cNvSpPr/>
          <p:nvPr/>
        </p:nvSpPr>
        <p:spPr>
          <a:xfrm>
            <a:off x="16101882" y="2825986"/>
            <a:ext cx="469993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23" name="Text 318"/>
          <p:cNvSpPr/>
          <p:nvPr/>
        </p:nvSpPr>
        <p:spPr>
          <a:xfrm>
            <a:off x="16181131" y="2845798"/>
            <a:ext cx="387697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47</a:t>
            </a:r>
            <a:endParaRPr lang="en-US" sz="975" dirty="0"/>
          </a:p>
        </p:txBody>
      </p:sp>
      <p:sp>
        <p:nvSpPr>
          <p:cNvPr id="324" name="Shape 319"/>
          <p:cNvSpPr/>
          <p:nvPr/>
        </p:nvSpPr>
        <p:spPr>
          <a:xfrm>
            <a:off x="16616453" y="2825986"/>
            <a:ext cx="593508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25" name="Text 320"/>
          <p:cNvSpPr/>
          <p:nvPr/>
        </p:nvSpPr>
        <p:spPr>
          <a:xfrm>
            <a:off x="16695701" y="2845798"/>
            <a:ext cx="511212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 5</a:t>
            </a:r>
            <a:endParaRPr lang="en-US" sz="975" dirty="0"/>
          </a:p>
        </p:txBody>
      </p:sp>
      <p:sp>
        <p:nvSpPr>
          <p:cNvPr id="326" name="Shape 321"/>
          <p:cNvSpPr/>
          <p:nvPr/>
        </p:nvSpPr>
        <p:spPr>
          <a:xfrm>
            <a:off x="17254538" y="2825986"/>
            <a:ext cx="727782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27" name="Text 322"/>
          <p:cNvSpPr/>
          <p:nvPr/>
        </p:nvSpPr>
        <p:spPr>
          <a:xfrm>
            <a:off x="17333786" y="2845798"/>
            <a:ext cx="645486" cy="15201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Suspended 0</a:t>
            </a:r>
            <a:endParaRPr lang="en-US" sz="975" dirty="0"/>
          </a:p>
        </p:txBody>
      </p:sp>
      <p:sp>
        <p:nvSpPr>
          <p:cNvPr id="328" name="Shape 323"/>
          <p:cNvSpPr/>
          <p:nvPr/>
        </p:nvSpPr>
        <p:spPr>
          <a:xfrm>
            <a:off x="15568040" y="3048871"/>
            <a:ext cx="3313945" cy="216694"/>
          </a:xfrm>
          <a:prstGeom prst="rect">
            <a:avLst/>
          </a:prstGeom>
          <a:solidFill>
            <a:srgbClr val="000000">
              <a:alpha val="3000"/>
            </a:srgbClr>
          </a:solidFill>
          <a:ln/>
        </p:spPr>
      </p:sp>
      <p:sp>
        <p:nvSpPr>
          <p:cNvPr id="329" name="Shape 324"/>
          <p:cNvSpPr/>
          <p:nvPr/>
        </p:nvSpPr>
        <p:spPr>
          <a:xfrm>
            <a:off x="15568040" y="3259215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30" name="Text 325"/>
          <p:cNvSpPr/>
          <p:nvPr/>
        </p:nvSpPr>
        <p:spPr>
          <a:xfrm>
            <a:off x="15657193" y="3108307"/>
            <a:ext cx="1022765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BAKERY</a:t>
            </a:r>
            <a:endParaRPr lang="en-US" sz="750" dirty="0"/>
          </a:p>
        </p:txBody>
      </p:sp>
      <p:sp>
        <p:nvSpPr>
          <p:cNvPr id="331" name="Text 326"/>
          <p:cNvSpPr/>
          <p:nvPr/>
        </p:nvSpPr>
        <p:spPr>
          <a:xfrm>
            <a:off x="16603759" y="3108307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</a:t>
            </a:r>
            <a:endParaRPr lang="en-US" sz="750" dirty="0"/>
          </a:p>
        </p:txBody>
      </p:sp>
      <p:sp>
        <p:nvSpPr>
          <p:cNvPr id="332" name="Text 327"/>
          <p:cNvSpPr/>
          <p:nvPr/>
        </p:nvSpPr>
        <p:spPr>
          <a:xfrm>
            <a:off x="17195410" y="3108307"/>
            <a:ext cx="608648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ORDERS 7D</a:t>
            </a:r>
            <a:endParaRPr lang="en-US" sz="750" dirty="0"/>
          </a:p>
        </p:txBody>
      </p:sp>
      <p:sp>
        <p:nvSpPr>
          <p:cNvPr id="333" name="Text 328"/>
          <p:cNvSpPr/>
          <p:nvPr/>
        </p:nvSpPr>
        <p:spPr>
          <a:xfrm>
            <a:off x="17727857" y="3108307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GMV 7D</a:t>
            </a:r>
            <a:endParaRPr lang="en-US" sz="750" dirty="0"/>
          </a:p>
        </p:txBody>
      </p:sp>
      <p:sp>
        <p:nvSpPr>
          <p:cNvPr id="334" name="Text 329"/>
          <p:cNvSpPr/>
          <p:nvPr/>
        </p:nvSpPr>
        <p:spPr>
          <a:xfrm>
            <a:off x="18319509" y="3108307"/>
            <a:ext cx="54944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b="1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750" dirty="0"/>
          </a:p>
        </p:txBody>
      </p:sp>
      <p:sp>
        <p:nvSpPr>
          <p:cNvPr id="335" name="Shape 330"/>
          <p:cNvSpPr/>
          <p:nvPr/>
        </p:nvSpPr>
        <p:spPr>
          <a:xfrm>
            <a:off x="15568040" y="3551442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36" name="Shape 331"/>
          <p:cNvSpPr/>
          <p:nvPr/>
        </p:nvSpPr>
        <p:spPr>
          <a:xfrm>
            <a:off x="15657193" y="3317571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37" name="Text 332"/>
          <p:cNvSpPr/>
          <p:nvPr/>
        </p:nvSpPr>
        <p:spPr>
          <a:xfrm>
            <a:off x="15631793" y="3330271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38" name="Text 333"/>
          <p:cNvSpPr/>
          <p:nvPr/>
        </p:nvSpPr>
        <p:spPr>
          <a:xfrm>
            <a:off x="15885034" y="3358124"/>
            <a:ext cx="612130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Sweet Crumbs</a:t>
            </a:r>
            <a:endParaRPr lang="en-US" sz="825" dirty="0"/>
          </a:p>
        </p:txBody>
      </p:sp>
      <p:sp>
        <p:nvSpPr>
          <p:cNvPr id="339" name="Text 334"/>
          <p:cNvSpPr/>
          <p:nvPr/>
        </p:nvSpPr>
        <p:spPr>
          <a:xfrm>
            <a:off x="16603759" y="3362768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Kampala·Kololo</a:t>
            </a:r>
            <a:endParaRPr lang="en-US" sz="750" dirty="0"/>
          </a:p>
        </p:txBody>
      </p:sp>
      <p:sp>
        <p:nvSpPr>
          <p:cNvPr id="340" name="Text 335"/>
          <p:cNvSpPr/>
          <p:nvPr/>
        </p:nvSpPr>
        <p:spPr>
          <a:xfrm>
            <a:off x="17195410" y="3358124"/>
            <a:ext cx="608648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142</a:t>
            </a:r>
            <a:endParaRPr lang="en-US" sz="825" dirty="0"/>
          </a:p>
        </p:txBody>
      </p:sp>
      <p:sp>
        <p:nvSpPr>
          <p:cNvPr id="341" name="Text 336"/>
          <p:cNvSpPr/>
          <p:nvPr/>
        </p:nvSpPr>
        <p:spPr>
          <a:xfrm>
            <a:off x="17727857" y="3358124"/>
            <a:ext cx="667851" cy="1402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2.8M</a:t>
            </a:r>
            <a:endParaRPr lang="en-US" sz="825" dirty="0"/>
          </a:p>
        </p:txBody>
      </p:sp>
      <p:sp>
        <p:nvSpPr>
          <p:cNvPr id="342" name="Shape 337"/>
          <p:cNvSpPr/>
          <p:nvPr/>
        </p:nvSpPr>
        <p:spPr>
          <a:xfrm>
            <a:off x="18319509" y="3332430"/>
            <a:ext cx="47324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43" name="Text 338"/>
          <p:cNvSpPr/>
          <p:nvPr/>
        </p:nvSpPr>
        <p:spPr>
          <a:xfrm>
            <a:off x="18421109" y="3357830"/>
            <a:ext cx="346246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75" dirty="0"/>
          </a:p>
        </p:txBody>
      </p:sp>
      <p:sp>
        <p:nvSpPr>
          <p:cNvPr id="344" name="Shape 339"/>
          <p:cNvSpPr/>
          <p:nvPr/>
        </p:nvSpPr>
        <p:spPr>
          <a:xfrm>
            <a:off x="15568040" y="3843669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45" name="Shape 340"/>
          <p:cNvSpPr/>
          <p:nvPr/>
        </p:nvSpPr>
        <p:spPr>
          <a:xfrm>
            <a:off x="15657193" y="3609798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46" name="Text 341"/>
          <p:cNvSpPr/>
          <p:nvPr/>
        </p:nvSpPr>
        <p:spPr>
          <a:xfrm>
            <a:off x="15631793" y="3622498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47" name="Text 342"/>
          <p:cNvSpPr/>
          <p:nvPr/>
        </p:nvSpPr>
        <p:spPr>
          <a:xfrm>
            <a:off x="15885034" y="3650351"/>
            <a:ext cx="635037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Kololo Hot Loaf</a:t>
            </a:r>
            <a:endParaRPr lang="en-US" sz="825" dirty="0"/>
          </a:p>
        </p:txBody>
      </p:sp>
      <p:sp>
        <p:nvSpPr>
          <p:cNvPr id="348" name="Text 343"/>
          <p:cNvSpPr/>
          <p:nvPr/>
        </p:nvSpPr>
        <p:spPr>
          <a:xfrm>
            <a:off x="16603759" y="3654995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Kampala·Kololo</a:t>
            </a:r>
            <a:endParaRPr lang="en-US" sz="750" dirty="0"/>
          </a:p>
        </p:txBody>
      </p:sp>
      <p:sp>
        <p:nvSpPr>
          <p:cNvPr id="349" name="Text 344"/>
          <p:cNvSpPr/>
          <p:nvPr/>
        </p:nvSpPr>
        <p:spPr>
          <a:xfrm>
            <a:off x="17195410" y="3650351"/>
            <a:ext cx="60864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</a:t>
            </a:r>
            <a:endParaRPr lang="en-US" sz="825" dirty="0"/>
          </a:p>
        </p:txBody>
      </p:sp>
      <p:sp>
        <p:nvSpPr>
          <p:cNvPr id="350" name="Text 345"/>
          <p:cNvSpPr/>
          <p:nvPr/>
        </p:nvSpPr>
        <p:spPr>
          <a:xfrm>
            <a:off x="17727857" y="3650351"/>
            <a:ext cx="66785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2.1M</a:t>
            </a:r>
            <a:endParaRPr lang="en-US" sz="825" dirty="0"/>
          </a:p>
        </p:txBody>
      </p:sp>
      <p:sp>
        <p:nvSpPr>
          <p:cNvPr id="351" name="Shape 346"/>
          <p:cNvSpPr/>
          <p:nvPr/>
        </p:nvSpPr>
        <p:spPr>
          <a:xfrm>
            <a:off x="18319509" y="3624657"/>
            <a:ext cx="47324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52" name="Text 347"/>
          <p:cNvSpPr/>
          <p:nvPr/>
        </p:nvSpPr>
        <p:spPr>
          <a:xfrm>
            <a:off x="18421109" y="3650057"/>
            <a:ext cx="346246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75" dirty="0"/>
          </a:p>
        </p:txBody>
      </p:sp>
      <p:sp>
        <p:nvSpPr>
          <p:cNvPr id="353" name="Shape 348"/>
          <p:cNvSpPr/>
          <p:nvPr/>
        </p:nvSpPr>
        <p:spPr>
          <a:xfrm>
            <a:off x="15568040" y="4135896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54" name="Shape 349"/>
          <p:cNvSpPr/>
          <p:nvPr/>
        </p:nvSpPr>
        <p:spPr>
          <a:xfrm>
            <a:off x="15657193" y="3902025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55" name="Text 350"/>
          <p:cNvSpPr/>
          <p:nvPr/>
        </p:nvSpPr>
        <p:spPr>
          <a:xfrm>
            <a:off x="15631793" y="3914725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56" name="Text 351"/>
          <p:cNvSpPr/>
          <p:nvPr/>
        </p:nvSpPr>
        <p:spPr>
          <a:xfrm>
            <a:off x="15885034" y="3942578"/>
            <a:ext cx="50966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Mama Joy's</a:t>
            </a:r>
            <a:endParaRPr lang="en-US" sz="825" dirty="0"/>
          </a:p>
        </p:txBody>
      </p:sp>
      <p:sp>
        <p:nvSpPr>
          <p:cNvPr id="357" name="Text 352"/>
          <p:cNvSpPr/>
          <p:nvPr/>
        </p:nvSpPr>
        <p:spPr>
          <a:xfrm>
            <a:off x="16603759" y="3947222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Kampala·Ntinda</a:t>
            </a:r>
            <a:endParaRPr lang="en-US" sz="750" dirty="0"/>
          </a:p>
        </p:txBody>
      </p:sp>
      <p:sp>
        <p:nvSpPr>
          <p:cNvPr id="358" name="Text 353"/>
          <p:cNvSpPr/>
          <p:nvPr/>
        </p:nvSpPr>
        <p:spPr>
          <a:xfrm>
            <a:off x="17195410" y="3942578"/>
            <a:ext cx="60864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825" dirty="0"/>
          </a:p>
        </p:txBody>
      </p:sp>
      <p:sp>
        <p:nvSpPr>
          <p:cNvPr id="359" name="Text 354"/>
          <p:cNvSpPr/>
          <p:nvPr/>
        </p:nvSpPr>
        <p:spPr>
          <a:xfrm>
            <a:off x="17727857" y="3942578"/>
            <a:ext cx="66785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1.7M</a:t>
            </a:r>
            <a:endParaRPr lang="en-US" sz="825" dirty="0"/>
          </a:p>
        </p:txBody>
      </p:sp>
      <p:sp>
        <p:nvSpPr>
          <p:cNvPr id="360" name="Shape 355"/>
          <p:cNvSpPr/>
          <p:nvPr/>
        </p:nvSpPr>
        <p:spPr>
          <a:xfrm>
            <a:off x="18319509" y="3916884"/>
            <a:ext cx="47324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61" name="Text 356"/>
          <p:cNvSpPr/>
          <p:nvPr/>
        </p:nvSpPr>
        <p:spPr>
          <a:xfrm>
            <a:off x="18421109" y="3942284"/>
            <a:ext cx="346246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75" dirty="0"/>
          </a:p>
        </p:txBody>
      </p:sp>
      <p:sp>
        <p:nvSpPr>
          <p:cNvPr id="362" name="Shape 357"/>
          <p:cNvSpPr/>
          <p:nvPr/>
        </p:nvSpPr>
        <p:spPr>
          <a:xfrm>
            <a:off x="15568040" y="4449173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63" name="Shape 358"/>
          <p:cNvSpPr/>
          <p:nvPr/>
        </p:nvSpPr>
        <p:spPr>
          <a:xfrm>
            <a:off x="15657193" y="4204778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64" name="Text 359"/>
          <p:cNvSpPr/>
          <p:nvPr/>
        </p:nvSpPr>
        <p:spPr>
          <a:xfrm>
            <a:off x="15631793" y="4217478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65" name="Text 360"/>
          <p:cNvSpPr/>
          <p:nvPr/>
        </p:nvSpPr>
        <p:spPr>
          <a:xfrm>
            <a:off x="15885034" y="4194253"/>
            <a:ext cx="780842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Mbarara Cake House</a:t>
            </a:r>
            <a:endParaRPr lang="en-US" sz="825" dirty="0"/>
          </a:p>
        </p:txBody>
      </p:sp>
      <p:sp>
        <p:nvSpPr>
          <p:cNvPr id="366" name="Text 361"/>
          <p:cNvSpPr/>
          <p:nvPr/>
        </p:nvSpPr>
        <p:spPr>
          <a:xfrm>
            <a:off x="16589676" y="4249974"/>
            <a:ext cx="65894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Mbarara</a:t>
            </a:r>
            <a:endParaRPr lang="en-US" sz="750" dirty="0"/>
          </a:p>
        </p:txBody>
      </p:sp>
      <p:sp>
        <p:nvSpPr>
          <p:cNvPr id="367" name="Text 362"/>
          <p:cNvSpPr/>
          <p:nvPr/>
        </p:nvSpPr>
        <p:spPr>
          <a:xfrm>
            <a:off x="17172425" y="4245330"/>
            <a:ext cx="600754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368" name="Text 363"/>
          <p:cNvSpPr/>
          <p:nvPr/>
        </p:nvSpPr>
        <p:spPr>
          <a:xfrm>
            <a:off x="17696979" y="4245330"/>
            <a:ext cx="65895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369" name="Shape 364"/>
          <p:cNvSpPr/>
          <p:nvPr/>
        </p:nvSpPr>
        <p:spPr>
          <a:xfrm>
            <a:off x="18279731" y="4219636"/>
            <a:ext cx="513023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70" name="Text 365"/>
          <p:cNvSpPr/>
          <p:nvPr/>
        </p:nvSpPr>
        <p:spPr>
          <a:xfrm>
            <a:off x="18381331" y="4245036"/>
            <a:ext cx="386023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75" dirty="0"/>
          </a:p>
        </p:txBody>
      </p:sp>
      <p:sp>
        <p:nvSpPr>
          <p:cNvPr id="371" name="Shape 366"/>
          <p:cNvSpPr/>
          <p:nvPr/>
        </p:nvSpPr>
        <p:spPr>
          <a:xfrm>
            <a:off x="15568040" y="4741400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72" name="Shape 367"/>
          <p:cNvSpPr/>
          <p:nvPr/>
        </p:nvSpPr>
        <p:spPr>
          <a:xfrm>
            <a:off x="15657193" y="4507530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73" name="Text 368"/>
          <p:cNvSpPr/>
          <p:nvPr/>
        </p:nvSpPr>
        <p:spPr>
          <a:xfrm>
            <a:off x="15631793" y="4520229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74" name="Text 369"/>
          <p:cNvSpPr/>
          <p:nvPr/>
        </p:nvSpPr>
        <p:spPr>
          <a:xfrm>
            <a:off x="15885034" y="4548082"/>
            <a:ext cx="68054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Entebbe Coastal</a:t>
            </a:r>
            <a:endParaRPr lang="en-US" sz="825" dirty="0"/>
          </a:p>
        </p:txBody>
      </p:sp>
      <p:sp>
        <p:nvSpPr>
          <p:cNvPr id="375" name="Text 370"/>
          <p:cNvSpPr/>
          <p:nvPr/>
        </p:nvSpPr>
        <p:spPr>
          <a:xfrm>
            <a:off x="16589676" y="4552726"/>
            <a:ext cx="65894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Wakiso·Entebbe</a:t>
            </a:r>
            <a:endParaRPr lang="en-US" sz="750" dirty="0"/>
          </a:p>
        </p:txBody>
      </p:sp>
      <p:sp>
        <p:nvSpPr>
          <p:cNvPr id="376" name="Text 371"/>
          <p:cNvSpPr/>
          <p:nvPr/>
        </p:nvSpPr>
        <p:spPr>
          <a:xfrm>
            <a:off x="17172425" y="4548082"/>
            <a:ext cx="600754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825" dirty="0"/>
          </a:p>
        </p:txBody>
      </p:sp>
      <p:sp>
        <p:nvSpPr>
          <p:cNvPr id="377" name="Text 372"/>
          <p:cNvSpPr/>
          <p:nvPr/>
        </p:nvSpPr>
        <p:spPr>
          <a:xfrm>
            <a:off x="17696979" y="4548082"/>
            <a:ext cx="658952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825" dirty="0"/>
          </a:p>
        </p:txBody>
      </p:sp>
      <p:sp>
        <p:nvSpPr>
          <p:cNvPr id="378" name="Shape 373"/>
          <p:cNvSpPr/>
          <p:nvPr/>
        </p:nvSpPr>
        <p:spPr>
          <a:xfrm>
            <a:off x="18279731" y="4522388"/>
            <a:ext cx="513023" cy="153543"/>
          </a:xfrm>
          <a:prstGeom prst="roundRect">
            <a:avLst>
              <a:gd name="adj" fmla="val 50000"/>
            </a:avLst>
          </a:prstGeom>
          <a:solidFill>
            <a:srgbClr val="D97757">
              <a:alpha val="12000"/>
            </a:srgbClr>
          </a:solidFill>
          <a:ln w="6350">
            <a:solidFill>
              <a:srgbClr val="D97757"/>
            </a:solidFill>
            <a:prstDash val="solid"/>
          </a:ln>
        </p:spPr>
      </p:sp>
      <p:sp>
        <p:nvSpPr>
          <p:cNvPr id="379" name="Text 374"/>
          <p:cNvSpPr/>
          <p:nvPr/>
        </p:nvSpPr>
        <p:spPr>
          <a:xfrm>
            <a:off x="18381331" y="4547788"/>
            <a:ext cx="386023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75" dirty="0"/>
          </a:p>
        </p:txBody>
      </p:sp>
      <p:sp>
        <p:nvSpPr>
          <p:cNvPr id="380" name="Shape 375"/>
          <p:cNvSpPr/>
          <p:nvPr/>
        </p:nvSpPr>
        <p:spPr>
          <a:xfrm>
            <a:off x="15568040" y="5033627"/>
            <a:ext cx="3313945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381" name="Shape 376"/>
          <p:cNvSpPr/>
          <p:nvPr/>
        </p:nvSpPr>
        <p:spPr>
          <a:xfrm>
            <a:off x="15657193" y="4799757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82" name="Text 377"/>
          <p:cNvSpPr/>
          <p:nvPr/>
        </p:nvSpPr>
        <p:spPr>
          <a:xfrm>
            <a:off x="15631793" y="4812457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83" name="Text 378"/>
          <p:cNvSpPr/>
          <p:nvPr/>
        </p:nvSpPr>
        <p:spPr>
          <a:xfrm>
            <a:off x="15885034" y="4840309"/>
            <a:ext cx="612285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 Bread Co</a:t>
            </a:r>
            <a:endParaRPr lang="en-US" sz="825" dirty="0"/>
          </a:p>
        </p:txBody>
      </p:sp>
      <p:sp>
        <p:nvSpPr>
          <p:cNvPr id="384" name="Text 379"/>
          <p:cNvSpPr/>
          <p:nvPr/>
        </p:nvSpPr>
        <p:spPr>
          <a:xfrm>
            <a:off x="16603759" y="4844953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Jinja</a:t>
            </a:r>
            <a:endParaRPr lang="en-US" sz="750" dirty="0"/>
          </a:p>
        </p:txBody>
      </p:sp>
      <p:sp>
        <p:nvSpPr>
          <p:cNvPr id="385" name="Text 380"/>
          <p:cNvSpPr/>
          <p:nvPr/>
        </p:nvSpPr>
        <p:spPr>
          <a:xfrm>
            <a:off x="17195410" y="4840309"/>
            <a:ext cx="60864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825" dirty="0"/>
          </a:p>
        </p:txBody>
      </p:sp>
      <p:sp>
        <p:nvSpPr>
          <p:cNvPr id="386" name="Text 381"/>
          <p:cNvSpPr/>
          <p:nvPr/>
        </p:nvSpPr>
        <p:spPr>
          <a:xfrm>
            <a:off x="17727857" y="4840309"/>
            <a:ext cx="66785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780k</a:t>
            </a:r>
            <a:endParaRPr lang="en-US" sz="825" dirty="0"/>
          </a:p>
        </p:txBody>
      </p:sp>
      <p:sp>
        <p:nvSpPr>
          <p:cNvPr id="387" name="Shape 382"/>
          <p:cNvSpPr/>
          <p:nvPr/>
        </p:nvSpPr>
        <p:spPr>
          <a:xfrm>
            <a:off x="18319509" y="4814615"/>
            <a:ext cx="47324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88" name="Text 383"/>
          <p:cNvSpPr/>
          <p:nvPr/>
        </p:nvSpPr>
        <p:spPr>
          <a:xfrm>
            <a:off x="18421109" y="4840015"/>
            <a:ext cx="346246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75" dirty="0"/>
          </a:p>
        </p:txBody>
      </p:sp>
      <p:sp>
        <p:nvSpPr>
          <p:cNvPr id="389" name="Shape 384"/>
          <p:cNvSpPr/>
          <p:nvPr/>
        </p:nvSpPr>
        <p:spPr>
          <a:xfrm>
            <a:off x="15657193" y="5102509"/>
            <a:ext cx="183263" cy="183261"/>
          </a:xfrm>
          <a:prstGeom prst="ellipse">
            <a:avLst/>
          </a:prstGeom>
          <a:solidFill>
            <a:srgbClr val="000000">
              <a:alpha val="3000"/>
            </a:srgbClr>
          </a:solidFill>
          <a:ln w="12700">
            <a:solidFill>
              <a:srgbClr val="1C1917"/>
            </a:solidFill>
            <a:prstDash val="solid"/>
          </a:ln>
        </p:spPr>
      </p:sp>
      <p:sp>
        <p:nvSpPr>
          <p:cNvPr id="390" name="Text 385"/>
          <p:cNvSpPr/>
          <p:nvPr/>
        </p:nvSpPr>
        <p:spPr>
          <a:xfrm>
            <a:off x="15631793" y="5115209"/>
            <a:ext cx="234063" cy="1959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66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🥖</a:t>
            </a:r>
            <a:endParaRPr lang="en-US" sz="660" dirty="0"/>
          </a:p>
        </p:txBody>
      </p:sp>
      <p:sp>
        <p:nvSpPr>
          <p:cNvPr id="391" name="Text 386"/>
          <p:cNvSpPr/>
          <p:nvPr/>
        </p:nvSpPr>
        <p:spPr>
          <a:xfrm>
            <a:off x="15885034" y="5091984"/>
            <a:ext cx="794925" cy="242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Mukono Sweet Treats</a:t>
            </a:r>
            <a:endParaRPr lang="en-US" sz="825" dirty="0"/>
          </a:p>
        </p:txBody>
      </p:sp>
      <p:sp>
        <p:nvSpPr>
          <p:cNvPr id="392" name="Text 387"/>
          <p:cNvSpPr/>
          <p:nvPr/>
        </p:nvSpPr>
        <p:spPr>
          <a:xfrm>
            <a:off x="16603759" y="5147705"/>
            <a:ext cx="667851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Mukono</a:t>
            </a:r>
            <a:endParaRPr lang="en-US" sz="750" dirty="0"/>
          </a:p>
        </p:txBody>
      </p:sp>
      <p:sp>
        <p:nvSpPr>
          <p:cNvPr id="393" name="Text 388"/>
          <p:cNvSpPr/>
          <p:nvPr/>
        </p:nvSpPr>
        <p:spPr>
          <a:xfrm>
            <a:off x="17195410" y="5143062"/>
            <a:ext cx="608648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825" dirty="0"/>
          </a:p>
        </p:txBody>
      </p:sp>
      <p:sp>
        <p:nvSpPr>
          <p:cNvPr id="394" name="Text 389"/>
          <p:cNvSpPr/>
          <p:nvPr/>
        </p:nvSpPr>
        <p:spPr>
          <a:xfrm>
            <a:off x="17727857" y="5143062"/>
            <a:ext cx="667851" cy="1402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825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440k</a:t>
            </a:r>
            <a:endParaRPr lang="en-US" sz="825" dirty="0"/>
          </a:p>
        </p:txBody>
      </p:sp>
      <p:sp>
        <p:nvSpPr>
          <p:cNvPr id="395" name="Shape 390"/>
          <p:cNvSpPr/>
          <p:nvPr/>
        </p:nvSpPr>
        <p:spPr>
          <a:xfrm>
            <a:off x="18319509" y="5117368"/>
            <a:ext cx="473246" cy="153543"/>
          </a:xfrm>
          <a:prstGeom prst="roundRect">
            <a:avLst>
              <a:gd name="adj" fmla="val 50000"/>
            </a:avLst>
          </a:prstGeom>
          <a:ln w="6350">
            <a:solidFill>
              <a:srgbClr val="1C1917"/>
            </a:solidFill>
            <a:prstDash val="solid"/>
          </a:ln>
        </p:spPr>
      </p:sp>
      <p:sp>
        <p:nvSpPr>
          <p:cNvPr id="396" name="Text 391"/>
          <p:cNvSpPr/>
          <p:nvPr/>
        </p:nvSpPr>
        <p:spPr>
          <a:xfrm>
            <a:off x="18421109" y="5142768"/>
            <a:ext cx="346246" cy="1408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</a:t>
            </a:r>
            <a:endParaRPr lang="en-US" sz="975" dirty="0"/>
          </a:p>
        </p:txBody>
      </p:sp>
      <p:sp>
        <p:nvSpPr>
          <p:cNvPr id="397" name="Shape 392"/>
          <p:cNvSpPr/>
          <p:nvPr/>
        </p:nvSpPr>
        <p:spPr>
          <a:xfrm>
            <a:off x="18981044" y="2756644"/>
            <a:ext cx="2778172" cy="3833622"/>
          </a:xfrm>
          <a:prstGeom prst="roundRect">
            <a:avLst>
              <a:gd name="adj" fmla="val 2743"/>
            </a:avLst>
          </a:prstGeom>
          <a:ln w="12700">
            <a:solidFill>
              <a:srgbClr val="1C1917"/>
            </a:solidFill>
            <a:prstDash val="solid"/>
          </a:ln>
        </p:spPr>
      </p:sp>
      <p:sp>
        <p:nvSpPr>
          <p:cNvPr id="398" name="Shape 393"/>
          <p:cNvSpPr/>
          <p:nvPr/>
        </p:nvSpPr>
        <p:spPr>
          <a:xfrm>
            <a:off x="18990950" y="2994071"/>
            <a:ext cx="2758359" cy="12700"/>
          </a:xfrm>
          <a:prstGeom prst="rect">
            <a:avLst/>
          </a:prstGeom>
          <a:solidFill>
            <a:srgbClr val="1C1917"/>
          </a:solidFill>
          <a:ln/>
        </p:spPr>
      </p:sp>
      <p:sp>
        <p:nvSpPr>
          <p:cNvPr id="399" name="Text 394"/>
          <p:cNvSpPr/>
          <p:nvPr/>
        </p:nvSpPr>
        <p:spPr>
          <a:xfrm>
            <a:off x="19080104" y="2825986"/>
            <a:ext cx="2657452" cy="14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00" b="1" dirty="0">
                <a:solidFill>
                  <a:srgbClr val="1C19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📍 Uganda — bakery footprint</a:t>
            </a:r>
            <a:endParaRPr lang="en-US" sz="900" dirty="0"/>
          </a:p>
        </p:txBody>
      </p:sp>
      <p:sp>
        <p:nvSpPr>
          <p:cNvPr id="400" name="Shape 395"/>
          <p:cNvSpPr/>
          <p:nvPr/>
        </p:nvSpPr>
        <p:spPr>
          <a:xfrm>
            <a:off x="19065246" y="3081066"/>
            <a:ext cx="2609766" cy="3208306"/>
          </a:xfrm>
          <a:prstGeom prst="roundRect">
            <a:avLst>
              <a:gd name="adj" fmla="val 2190"/>
            </a:avLst>
          </a:prstGeom>
          <a:solidFill>
            <a:srgbClr val="000000">
              <a:alpha val="2000"/>
            </a:srgbClr>
          </a:solidFill>
          <a:ln w="6350">
            <a:solidFill>
              <a:srgbClr val="A8A39C"/>
            </a:solidFill>
            <a:prstDash val="dash"/>
          </a:ln>
        </p:spPr>
      </p:sp>
      <p:pic>
        <p:nvPicPr>
          <p:cNvPr id="40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70198" y="3086019"/>
            <a:ext cx="2599863" cy="3198400"/>
          </a:xfrm>
          <a:prstGeom prst="rect">
            <a:avLst/>
          </a:prstGeom>
        </p:spPr>
      </p:pic>
      <p:sp>
        <p:nvSpPr>
          <p:cNvPr id="402" name="Shape 396"/>
          <p:cNvSpPr/>
          <p:nvPr/>
        </p:nvSpPr>
        <p:spPr>
          <a:xfrm>
            <a:off x="18990950" y="6363666"/>
            <a:ext cx="2758359" cy="9525"/>
          </a:xfrm>
          <a:prstGeom prst="rect">
            <a:avLst/>
          </a:prstGeom>
          <a:solidFill>
            <a:srgbClr val="A8A39C"/>
          </a:solidFill>
          <a:ln/>
        </p:spPr>
      </p:sp>
      <p:sp>
        <p:nvSpPr>
          <p:cNvPr id="403" name="Text 397"/>
          <p:cNvSpPr/>
          <p:nvPr/>
        </p:nvSpPr>
        <p:spPr>
          <a:xfrm>
            <a:off x="19080104" y="6428055"/>
            <a:ext cx="977956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8B86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circle size = bakery count</a:t>
            </a:r>
            <a:endParaRPr lang="en-US" sz="750" dirty="0"/>
          </a:p>
        </p:txBody>
      </p:sp>
      <p:sp>
        <p:nvSpPr>
          <p:cNvPr id="404" name="Text 398"/>
          <p:cNvSpPr/>
          <p:nvPr/>
        </p:nvSpPr>
        <p:spPr>
          <a:xfrm>
            <a:off x="21135756" y="6428055"/>
            <a:ext cx="600599" cy="13096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75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 in maps →</a:t>
            </a:r>
            <a:endParaRPr lang="en-US" sz="750" dirty="0"/>
          </a:p>
        </p:txBody>
      </p:sp>
      <p:sp>
        <p:nvSpPr>
          <p:cNvPr id="405" name="Text 399"/>
          <p:cNvSpPr/>
          <p:nvPr/>
        </p:nvSpPr>
        <p:spPr>
          <a:xfrm rot="180000">
            <a:off x="20877468" y="2980764"/>
            <a:ext cx="93345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pin → filter table to that region</a:t>
            </a:r>
            <a:endParaRPr lang="en-US" sz="1200" dirty="0"/>
          </a:p>
        </p:txBody>
      </p:sp>
      <p:sp>
        <p:nvSpPr>
          <p:cNvPr id="406" name="Text 400"/>
          <p:cNvSpPr/>
          <p:nvPr/>
        </p:nvSpPr>
        <p:spPr>
          <a:xfrm>
            <a:off x="17210736" y="7024272"/>
            <a:ext cx="1565504" cy="3006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D97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V3 · Directory + map</a:t>
            </a:r>
            <a:endParaRPr lang="en-US" sz="2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2026-05-20T11:37:00Z</dcterms:created>
  <dcterms:modified xsi:type="dcterms:W3CDTF">2026-05-20T11:37:00Z</dcterms:modified>
</cp:coreProperties>
</file>